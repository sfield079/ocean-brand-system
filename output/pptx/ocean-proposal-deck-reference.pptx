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</c:v>
                </c:pt>
              </c:strCache>
            </c:strRef>
          </c:tx>
          <c:spPr>
            <a:solidFill>
              <a:srgbClr val="618C7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</c:v>
                </c:pt>
                <c:pt idx="1">
                  <c:v>66</c:v>
                </c:pt>
                <c:pt idx="2">
                  <c:v>70</c:v>
                </c:pt>
                <c:pt idx="3">
                  <c:v>75</c:v>
                </c:pt>
                <c:pt idx="4">
                  <c:v>79</c:v>
                </c:pt>
                <c:pt idx="5">
                  <c:v>84</c:v>
                </c:pt>
                <c:pt idx="6">
                  <c:v>88</c:v>
                </c:pt>
                <c:pt idx="7">
                  <c:v>93</c:v>
                </c:pt>
                <c:pt idx="8">
                  <c:v>98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savings (focus)</c:v>
                </c:pt>
              </c:strCache>
            </c:strRef>
          </c:tx>
          <c:spPr>
            <a:solidFill>
              <a:srgbClr val="6E734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104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100" u="none">
                  <a:solidFill>
                    <a:srgbClr val="F3FBF8"/>
                  </a:solidFill>
                  <a:latin typeface="Stack Sans Headline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B403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layout placeholder. Release mode blocks unresolved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sag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4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6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100" dirty="0"/>
          </a:p>
        </p:txBody>
      </p:sp>
      <p:sp>
        <p:nvSpPr>
          <p:cNvPr id="7" name="ocean:label"/>
          <p:cNvSpPr/>
          <p:nvPr/>
        </p:nvSpPr>
        <p:spPr>
          <a:xfrm>
            <a:off x="711200" y="2761488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COMMERCIAL ENERGY</a:t>
            </a:r>
            <a:endParaRPr lang="en-US" sz="1200" dirty="0"/>
          </a:p>
        </p:txBody>
      </p:sp>
      <p:sp>
        <p:nvSpPr>
          <p:cNvPr id="8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Rooftop Solar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+ Storage</a:t>
            </a:r>
            <a:endParaRPr lang="en-US" sz="8400" dirty="0"/>
          </a:p>
        </p:txBody>
      </p:sp>
      <p:sp>
        <p:nvSpPr>
          <p:cNvPr id="9" name="ocean:notice"/>
          <p:cNvSpPr/>
          <p:nvPr/>
        </p:nvSpPr>
        <p:spPr>
          <a:xfrm>
            <a:off x="711200" y="5537200"/>
            <a:ext cx="10769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Confidential proposal for Client name. Pricing valid for 30 days. Not binding until a contract is signed by both parties. Design specimen with illustrative figures and representative images. Do not use for any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commercial purpose.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1" name="ocean:meta"/>
          <p:cNvSpPr/>
          <p:nvPr/>
        </p:nvSpPr>
        <p:spPr>
          <a:xfrm>
            <a:off x="711200" y="6235700"/>
            <a:ext cx="135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2176907" y="6235700"/>
            <a:ext cx="12340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CLIENT NAME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3849878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4462653" y="6235700"/>
            <a:ext cx="1169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26 SEP 2026</a:t>
            </a:r>
            <a:endParaRPr lang="en-US" sz="1000" dirty="0"/>
          </a:p>
        </p:txBody>
      </p:sp>
      <p:sp>
        <p:nvSpPr>
          <p:cNvPr id="15" name="ocean:meta"/>
          <p:cNvSpPr/>
          <p:nvPr/>
        </p:nvSpPr>
        <p:spPr>
          <a:xfrm>
            <a:off x="6071235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ocean:meta"/>
          <p:cNvSpPr/>
          <p:nvPr/>
        </p:nvSpPr>
        <p:spPr>
          <a:xfrm>
            <a:off x="6898386" y="6235700"/>
            <a:ext cx="956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SPECIMEN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400"/>
            <a:ext cx="1000657" cy="2794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8442655" y="3937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PROPOSAL</a:t>
            </a:r>
            <a:endParaRPr lang="en-US" sz="1000" dirty="0"/>
          </a:p>
        </p:txBody>
      </p:sp>
      <p:sp>
        <p:nvSpPr>
          <p:cNvPr id="4" name="ocean:label"/>
          <p:cNvSpPr/>
          <p:nvPr/>
        </p:nvSpPr>
        <p:spPr>
          <a:xfrm>
            <a:off x="8442655" y="6096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1000" dirty="0"/>
          </a:p>
        </p:txBody>
      </p:sp>
      <p:sp>
        <p:nvSpPr>
          <p:cNvPr id="5" name="ocean:cover"/>
          <p:cNvSpPr/>
          <p:nvPr/>
        </p:nvSpPr>
        <p:spPr>
          <a:xfrm>
            <a:off x="512064" y="10972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2500" b="1" spc="-7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Agenda</a:t>
            </a:r>
            <a:endParaRPr lang="en-US" sz="12500" dirty="0"/>
          </a:p>
        </p:txBody>
      </p:sp>
      <p:sp>
        <p:nvSpPr>
          <p:cNvPr id="6" name="Shape 3"/>
          <p:cNvSpPr/>
          <p:nvPr/>
        </p:nvSpPr>
        <p:spPr>
          <a:xfrm>
            <a:off x="548640" y="298094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7" name="ocean:metric"/>
          <p:cNvSpPr/>
          <p:nvPr/>
        </p:nvSpPr>
        <p:spPr>
          <a:xfrm>
            <a:off x="512064" y="3026664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5266" dirty="0"/>
          </a:p>
        </p:txBody>
      </p:sp>
      <p:sp>
        <p:nvSpPr>
          <p:cNvPr id="8" name="ocean:label"/>
          <p:cNvSpPr/>
          <p:nvPr/>
        </p:nvSpPr>
        <p:spPr>
          <a:xfrm>
            <a:off x="4443984" y="316382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1100" dirty="0"/>
          </a:p>
        </p:txBody>
      </p:sp>
      <p:sp>
        <p:nvSpPr>
          <p:cNvPr id="9" name="ocean:section"/>
          <p:cNvSpPr/>
          <p:nvPr/>
        </p:nvSpPr>
        <p:spPr>
          <a:xfrm>
            <a:off x="4425696" y="3364992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What the roof and service can carry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3783521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1" name="ocean:metric"/>
          <p:cNvSpPr/>
          <p:nvPr/>
        </p:nvSpPr>
        <p:spPr>
          <a:xfrm>
            <a:off x="512064" y="3829241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5266" dirty="0"/>
          </a:p>
        </p:txBody>
      </p:sp>
      <p:sp>
        <p:nvSpPr>
          <p:cNvPr id="12" name="ocean:label"/>
          <p:cNvSpPr/>
          <p:nvPr/>
        </p:nvSpPr>
        <p:spPr>
          <a:xfrm>
            <a:off x="4443984" y="3966401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1100" dirty="0"/>
          </a:p>
        </p:txBody>
      </p:sp>
      <p:sp>
        <p:nvSpPr>
          <p:cNvPr id="13" name="ocean:section"/>
          <p:cNvSpPr/>
          <p:nvPr/>
        </p:nvSpPr>
        <p:spPr>
          <a:xfrm>
            <a:off x="4425696" y="4167569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Solar, storage and interconnection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4586097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metric"/>
          <p:cNvSpPr/>
          <p:nvPr/>
        </p:nvSpPr>
        <p:spPr>
          <a:xfrm>
            <a:off x="512064" y="4631817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5266" dirty="0"/>
          </a:p>
        </p:txBody>
      </p:sp>
      <p:sp>
        <p:nvSpPr>
          <p:cNvPr id="16" name="ocean:label"/>
          <p:cNvSpPr/>
          <p:nvPr/>
        </p:nvSpPr>
        <p:spPr>
          <a:xfrm>
            <a:off x="4443984" y="4768977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17" name="ocean:section"/>
          <p:cNvSpPr/>
          <p:nvPr/>
        </p:nvSpPr>
        <p:spPr>
          <a:xfrm>
            <a:off x="4425696" y="4970145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Savings, incentives and payback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538867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9" name="ocean:metric"/>
          <p:cNvSpPr/>
          <p:nvPr/>
        </p:nvSpPr>
        <p:spPr>
          <a:xfrm>
            <a:off x="512064" y="5434393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04</a:t>
            </a:r>
            <a:endParaRPr lang="en-US" sz="5266" dirty="0"/>
          </a:p>
        </p:txBody>
      </p:sp>
      <p:sp>
        <p:nvSpPr>
          <p:cNvPr id="20" name="ocean:label"/>
          <p:cNvSpPr/>
          <p:nvPr/>
        </p:nvSpPr>
        <p:spPr>
          <a:xfrm>
            <a:off x="4443984" y="557155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ocean:section"/>
          <p:cNvSpPr/>
          <p:nvPr/>
        </p:nvSpPr>
        <p:spPr>
          <a:xfrm>
            <a:off x="4425696" y="5772721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Decisions and schedule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6191250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6242050"/>
            <a:ext cx="11094415" cy="381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4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PROPOSAL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roof can carry about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412 kW of solar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NEW TPO ROOF, CLEAR ARRAY ZONES AND AN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EXISTING 2,000 A SERVICE.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pic>
        <p:nvPicPr>
          <p:cNvPr id="29" name="ocean:photo" descr="/home/user/workspace/audit/repo/output/.cache/fit/rooftop-9961c474ed952c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1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3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950" dirty="0"/>
          </a:p>
        </p:txBody>
      </p:sp>
      <p:sp>
        <p:nvSpPr>
          <p:cNvPr id="34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</a:t>
            </a:r>
            <a:endParaRPr lang="en-US" sz="1400" dirty="0"/>
          </a:p>
        </p:txBody>
      </p:sp>
      <p:sp>
        <p:nvSpPr>
          <p:cNvPr id="35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USABLE ROOF</a:t>
            </a:r>
            <a:endParaRPr lang="en-US" sz="950" dirty="0"/>
          </a:p>
        </p:txBody>
      </p:sp>
      <p:sp>
        <p:nvSpPr>
          <p:cNvPr id="39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68,400 FT²</a:t>
            </a:r>
            <a:endParaRPr lang="en-US" sz="1400" dirty="0"/>
          </a:p>
        </p:txBody>
      </p:sp>
      <p:sp>
        <p:nvSpPr>
          <p:cNvPr id="40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950" dirty="0"/>
          </a:p>
        </p:txBody>
      </p:sp>
      <p:sp>
        <p:nvSpPr>
          <p:cNvPr id="45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2,000 A · 480 V</a:t>
            </a:r>
            <a:endParaRPr lang="en-US" sz="1400" dirty="0"/>
          </a:p>
        </p:txBody>
      </p:sp>
      <p:sp>
        <p:nvSpPr>
          <p:cNvPr id="46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Representative image of a comparable rooftop array.</a:t>
            </a:r>
            <a:endParaRPr lang="en-US" sz="12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PROPOSAL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Four figures define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opportunity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 FIGURES FOR THE SPECIMEN.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9" name="ocean:frame"/>
          <p:cNvSpPr/>
          <p:nvPr/>
        </p:nvSpPr>
        <p:spPr>
          <a:xfrm>
            <a:off x="548640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76474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749808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1050" dirty="0"/>
          </a:p>
        </p:txBody>
      </p:sp>
      <p:sp>
        <p:nvSpPr>
          <p:cNvPr id="32" name="ocean:metric"/>
          <p:cNvSpPr/>
          <p:nvPr/>
        </p:nvSpPr>
        <p:spPr>
          <a:xfrm>
            <a:off x="749808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412 kW</a:t>
            </a:r>
            <a:endParaRPr lang="en-US" sz="3400" dirty="0"/>
          </a:p>
        </p:txBody>
      </p:sp>
      <p:sp>
        <p:nvSpPr>
          <p:cNvPr id="33" name="ocean:label"/>
          <p:cNvSpPr/>
          <p:nvPr/>
        </p:nvSpPr>
        <p:spPr>
          <a:xfrm>
            <a:off x="749808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keep-outs</a:t>
            </a:r>
            <a:endParaRPr lang="en-US" sz="1200" dirty="0"/>
          </a:p>
        </p:txBody>
      </p:sp>
      <p:sp>
        <p:nvSpPr>
          <p:cNvPr id="34" name="ocean:frame"/>
          <p:cNvSpPr/>
          <p:nvPr/>
        </p:nvSpPr>
        <p:spPr>
          <a:xfrm>
            <a:off x="3379394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072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675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ocean:label"/>
          <p:cNvSpPr/>
          <p:nvPr/>
        </p:nvSpPr>
        <p:spPr>
          <a:xfrm>
            <a:off x="3580562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STORAGE</a:t>
            </a:r>
            <a:endParaRPr lang="en-US" sz="1050" dirty="0"/>
          </a:p>
        </p:txBody>
      </p:sp>
      <p:sp>
        <p:nvSpPr>
          <p:cNvPr id="38" name="ocean:metric"/>
          <p:cNvSpPr/>
          <p:nvPr/>
        </p:nvSpPr>
        <p:spPr>
          <a:xfrm>
            <a:off x="3580562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1.2 MWh</a:t>
            </a:r>
            <a:endParaRPr lang="en-US" sz="3400" dirty="0"/>
          </a:p>
        </p:txBody>
      </p:sp>
      <p:sp>
        <p:nvSpPr>
          <p:cNvPr id="39" name="ocean:label"/>
          <p:cNvSpPr/>
          <p:nvPr/>
        </p:nvSpPr>
        <p:spPr>
          <a:xfrm>
            <a:off x="3580562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cabinets</a:t>
            </a:r>
            <a:endParaRPr lang="en-US" sz="1200" dirty="0"/>
          </a:p>
        </p:txBody>
      </p:sp>
      <p:sp>
        <p:nvSpPr>
          <p:cNvPr id="40" name="ocean:frame"/>
          <p:cNvSpPr/>
          <p:nvPr/>
        </p:nvSpPr>
        <p:spPr>
          <a:xfrm>
            <a:off x="6210148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379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982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585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6411316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1050" dirty="0"/>
          </a:p>
        </p:txBody>
      </p:sp>
      <p:sp>
        <p:nvSpPr>
          <p:cNvPr id="45" name="ocean:metric"/>
          <p:cNvSpPr/>
          <p:nvPr/>
        </p:nvSpPr>
        <p:spPr>
          <a:xfrm>
            <a:off x="6411316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2,000 A</a:t>
            </a:r>
            <a:endParaRPr lang="en-US" sz="3400" dirty="0"/>
          </a:p>
        </p:txBody>
      </p:sp>
      <p:sp>
        <p:nvSpPr>
          <p:cNvPr id="46" name="ocean:label"/>
          <p:cNvSpPr/>
          <p:nvPr/>
        </p:nvSpPr>
        <p:spPr>
          <a:xfrm>
            <a:off x="6411316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To be confirmed</a:t>
            </a:r>
            <a:endParaRPr lang="en-US" sz="1200" dirty="0"/>
          </a:p>
        </p:txBody>
      </p:sp>
      <p:sp>
        <p:nvSpPr>
          <p:cNvPr id="47" name="ocean:frame"/>
          <p:cNvSpPr/>
          <p:nvPr/>
        </p:nvSpPr>
        <p:spPr>
          <a:xfrm>
            <a:off x="9040901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102426"/>
          </a:solidFill>
          <a:ln w="9525">
            <a:solidFill>
              <a:srgbClr val="1024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13687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2290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10893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9496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2" name="ocean:label"/>
          <p:cNvSpPr/>
          <p:nvPr/>
        </p:nvSpPr>
        <p:spPr>
          <a:xfrm>
            <a:off x="9242069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263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</a:t>
            </a:r>
            <a:endParaRPr lang="en-US" sz="1050" dirty="0"/>
          </a:p>
        </p:txBody>
      </p:sp>
      <p:sp>
        <p:nvSpPr>
          <p:cNvPr id="53" name="ocean:metric"/>
          <p:cNvSpPr/>
          <p:nvPr/>
        </p:nvSpPr>
        <p:spPr>
          <a:xfrm>
            <a:off x="9242069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spc="-6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6.4 yrs</a:t>
            </a:r>
            <a:endParaRPr lang="en-US" sz="3400" dirty="0"/>
          </a:p>
        </p:txBody>
      </p:sp>
      <p:sp>
        <p:nvSpPr>
          <p:cNvPr id="54" name="ocean:label"/>
          <p:cNvSpPr/>
          <p:nvPr/>
        </p:nvSpPr>
        <p:spPr>
          <a:xfrm>
            <a:off x="9242069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incentives</a:t>
            </a:r>
            <a:endParaRPr lang="en-US" sz="1200" dirty="0"/>
          </a:p>
        </p:txBody>
      </p:sp>
      <p:sp>
        <p:nvSpPr>
          <p:cNvPr id="55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EB3819"/>
          </a:solidFill>
          <a:ln w="12700">
            <a:solidFill>
              <a:srgbClr val="EB3819"/>
            </a:solidFill>
            <a:prstDash val="solid"/>
          </a:ln>
        </p:spPr>
      </p:sp>
      <p:sp>
        <p:nvSpPr>
          <p:cNvPr id="57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58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 in 6.4 years with the existing service.</a:t>
            </a:r>
            <a:endParaRPr lang="en-US" sz="1500" dirty="0"/>
          </a:p>
        </p:txBody>
      </p:sp>
      <p:sp>
        <p:nvSpPr>
          <p:cNvPr id="59" name="ocean:footnote"/>
          <p:cNvSpPr/>
          <p:nvPr/>
        </p:nvSpPr>
        <p:spPr>
          <a:xfrm>
            <a:off x="548640" y="5239512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ILLUSTRATIVE FIGURES · SPECIMEN</a:t>
            </a:r>
            <a:endParaRPr lang="en-US" sz="900" dirty="0"/>
          </a:p>
        </p:txBody>
      </p:sp>
      <p:sp>
        <p:nvSpPr>
          <p:cNvPr id="60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PROPOSAL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Built and verified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by our own crews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8" name="ocean:statement"/>
          <p:cNvSpPr/>
          <p:nvPr/>
        </p:nvSpPr>
        <p:spPr>
          <a:xfrm>
            <a:off x="548640" y="3044952"/>
            <a:ext cx="51206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Every cabinet is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tested, torqued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logged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before handover.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D5CCA0"/>
                </a:solidFill>
                <a:highlight>
                  <a:srgbClr val="1B4039"/>
                </a:highlight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 One team 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owns the work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from design to commissioning.</a:t>
            </a:r>
            <a:endParaRPr lang="en-US" sz="2600" dirty="0"/>
          </a:p>
        </p:txBody>
      </p:sp>
      <p:pic>
        <p:nvPicPr>
          <p:cNvPr id="29" name="ocean:photo" descr="/home/user/workspace/audit/repo/output/.cache/fit/worker-bde126986fe58e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44952"/>
            <a:ext cx="5010912" cy="321868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6624828" y="3040380"/>
            <a:ext cx="279400" cy="279400"/>
          </a:xfrm>
          <a:prstGeom prst="rtTriangle">
            <a:avLst/>
          </a:prstGeom>
          <a:solidFill>
            <a:srgbClr val="D5CCA0"/>
          </a:solidFill>
          <a:ln w="12700">
            <a:solidFill>
              <a:srgbClr val="D5CCA0"/>
            </a:solidFill>
            <a:prstDash val="solid"/>
          </a:ln>
        </p:spPr>
      </p:sp>
      <p:sp>
        <p:nvSpPr>
          <p:cNvPr id="3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PROPOSAL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Three parts, one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integrated system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EACH PART IS ENGINEERED TO THE SITE.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9" name="ocean:frame"/>
          <p:cNvSpPr/>
          <p:nvPr/>
        </p:nvSpPr>
        <p:spPr>
          <a:xfrm>
            <a:off x="548640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43858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7772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32" name="ocean:section"/>
          <p:cNvSpPr/>
          <p:nvPr/>
        </p:nvSpPr>
        <p:spPr>
          <a:xfrm>
            <a:off x="777240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Solar array</a:t>
            </a:r>
            <a:endParaRPr lang="en-US" sz="2200" dirty="0"/>
          </a:p>
        </p:txBody>
      </p:sp>
      <p:sp>
        <p:nvSpPr>
          <p:cNvPr id="33" name="ocean:body"/>
          <p:cNvSpPr/>
          <p:nvPr/>
        </p:nvSpPr>
        <p:spPr>
          <a:xfrm>
            <a:off x="777240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 on the new TPO roof, laid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out around keep-outs and access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paths.</a:t>
            </a:r>
            <a:endParaRPr lang="en-US" sz="1300" dirty="0"/>
          </a:p>
        </p:txBody>
      </p:sp>
      <p:sp>
        <p:nvSpPr>
          <p:cNvPr id="34" name="ocean:frame"/>
          <p:cNvSpPr/>
          <p:nvPr/>
        </p:nvSpPr>
        <p:spPr>
          <a:xfrm>
            <a:off x="4338218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334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937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7" name="ocean:label"/>
          <p:cNvSpPr/>
          <p:nvPr/>
        </p:nvSpPr>
        <p:spPr>
          <a:xfrm>
            <a:off x="4566818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8" name="ocean:section"/>
          <p:cNvSpPr/>
          <p:nvPr/>
        </p:nvSpPr>
        <p:spPr>
          <a:xfrm>
            <a:off x="4566818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Battery storage</a:t>
            </a:r>
            <a:endParaRPr lang="en-US" sz="2200" dirty="0"/>
          </a:p>
        </p:txBody>
      </p:sp>
      <p:sp>
        <p:nvSpPr>
          <p:cNvPr id="39" name="ocean:body"/>
          <p:cNvSpPr/>
          <p:nvPr/>
        </p:nvSpPr>
        <p:spPr>
          <a:xfrm>
            <a:off x="4566818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600 kWh cabinets shave peaks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carry critical loads.</a:t>
            </a:r>
            <a:endParaRPr lang="en-US" sz="1300" dirty="0"/>
          </a:p>
        </p:txBody>
      </p:sp>
      <p:sp>
        <p:nvSpPr>
          <p:cNvPr id="40" name="ocean:frame"/>
          <p:cNvSpPr/>
          <p:nvPr/>
        </p:nvSpPr>
        <p:spPr>
          <a:xfrm>
            <a:off x="8127797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3230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1833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0436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8356397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45" name="ocean:section"/>
          <p:cNvSpPr/>
          <p:nvPr/>
        </p:nvSpPr>
        <p:spPr>
          <a:xfrm>
            <a:off x="8356397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Interconnection</a:t>
            </a:r>
            <a:endParaRPr lang="en-US" sz="2200" dirty="0"/>
          </a:p>
        </p:txBody>
      </p:sp>
      <p:sp>
        <p:nvSpPr>
          <p:cNvPr id="46" name="ocean:body"/>
          <p:cNvSpPr/>
          <p:nvPr/>
        </p:nvSpPr>
        <p:spPr>
          <a:xfrm>
            <a:off x="8356397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line-side tap on the existing 2,000 A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service, subject to utility approval.</a:t>
            </a:r>
            <a:endParaRPr lang="en-US" sz="13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2888" y="515112"/>
            <a:ext cx="914171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PROPOSAL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ECONOMICS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grow each year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as utility rates rise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ANNUAL BILL SAVINGS, YEARS 1–10, $K. YEAR 10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HIGHLIGHTED.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graphicFrame>
        <p:nvGraphicFramePr>
          <p:cNvPr id="29" name="Chart 0" descr=""/>
          <p:cNvGraphicFramePr/>
          <p:nvPr/>
        </p:nvGraphicFramePr>
        <p:xfrm>
          <a:off x="457200" y="2999232"/>
          <a:ext cx="8412480" cy="2167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9235440" y="3044952"/>
            <a:ext cx="24076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31" name="ocean:takeaway"/>
          <p:cNvSpPr/>
          <p:nvPr/>
        </p:nvSpPr>
        <p:spPr>
          <a:xfrm>
            <a:off x="9235440" y="3227832"/>
            <a:ext cx="24076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rise from</a:t>
            </a:r>
            <a:endParaRPr lang="en-US" sz="18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$62K to $104K a year.</a:t>
            </a:r>
            <a:endParaRPr lang="en-US" sz="1800" dirty="0"/>
          </a:p>
        </p:txBody>
      </p:sp>
      <p:sp>
        <p:nvSpPr>
          <p:cNvPr id="32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4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35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10-year savings of $819K. Payback in 6.4 years.</a:t>
            </a:r>
            <a:endParaRPr lang="en-US" sz="1500" dirty="0"/>
          </a:p>
        </p:txBody>
      </p:sp>
      <p:sp>
        <p:nvSpPr>
          <p:cNvPr id="36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label"/>
          <p:cNvSpPr/>
          <p:nvPr/>
        </p:nvSpPr>
        <p:spPr>
          <a:xfrm>
            <a:off x="548640" y="3401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5" name="ocean:metric"/>
          <p:cNvSpPr/>
          <p:nvPr/>
        </p:nvSpPr>
        <p:spPr>
          <a:xfrm>
            <a:off x="512064" y="3639312"/>
            <a:ext cx="4754880" cy="2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spc="-660" kern="0" dirty="0">
                <a:solidFill>
                  <a:srgbClr val="EB381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38%</a:t>
            </a:r>
            <a:endParaRPr lang="en-US" sz="16500" dirty="0"/>
          </a:p>
        </p:txBody>
      </p:sp>
      <p:sp>
        <p:nvSpPr>
          <p:cNvPr id="6" name="ocean:statement"/>
          <p:cNvSpPr/>
          <p:nvPr/>
        </p:nvSpPr>
        <p:spPr>
          <a:xfrm>
            <a:off x="5458968" y="39319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Lower grid electricity</a:t>
            </a:r>
            <a:endParaRPr lang="en-US" sz="38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spend from the first year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548640" y="5969000"/>
            <a:ext cx="1109441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8" name="ocean:meta"/>
          <p:cNvSpPr/>
          <p:nvPr/>
        </p:nvSpPr>
        <p:spPr>
          <a:xfrm>
            <a:off x="548640" y="6134100"/>
            <a:ext cx="5800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BASIS</a:t>
            </a:r>
            <a:endParaRPr lang="en-US" sz="1000" dirty="0"/>
          </a:p>
        </p:txBody>
      </p:sp>
      <p:sp>
        <p:nvSpPr>
          <p:cNvPr id="9" name="ocean:meta"/>
          <p:cNvSpPr/>
          <p:nvPr/>
        </p:nvSpPr>
        <p:spPr>
          <a:xfrm>
            <a:off x="1238377" y="6134100"/>
            <a:ext cx="23562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12-MONTH INTERVAL DATA</a:t>
            </a:r>
            <a:endParaRPr lang="en-US" sz="1000" dirty="0"/>
          </a:p>
        </p:txBody>
      </p:sp>
      <p:sp>
        <p:nvSpPr>
          <p:cNvPr id="10" name="ocean:meta"/>
          <p:cNvSpPr/>
          <p:nvPr/>
        </p:nvSpPr>
        <p:spPr>
          <a:xfrm>
            <a:off x="4033520" y="61341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ocean:meta"/>
          <p:cNvSpPr/>
          <p:nvPr/>
        </p:nvSpPr>
        <p:spPr>
          <a:xfrm>
            <a:off x="4860671" y="6134100"/>
            <a:ext cx="1280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12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0B1617"/>
            </a:solidFill>
            <a:prstDash val="solid"/>
          </a:ln>
        </p:spPr>
      </p:sp>
      <p:pic>
        <p:nvPicPr>
          <p:cNvPr id="4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83363" y="515112"/>
            <a:ext cx="918858" cy="237744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13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PROPOSAL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NEXT STEPS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Close with the decision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and its next steps</a:t>
            </a:r>
            <a:endParaRPr lang="en-US" sz="3500" dirty="0"/>
          </a:p>
        </p:txBody>
      </p:sp>
      <p:sp>
        <p:nvSpPr>
          <p:cNvPr id="28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9" name="ocean:label"/>
          <p:cNvSpPr/>
          <p:nvPr/>
        </p:nvSpPr>
        <p:spPr>
          <a:xfrm>
            <a:off x="548640" y="3044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VERIFIED PROJECT AMOUNT</a:t>
            </a:r>
            <a:endParaRPr lang="en-US" sz="1050" dirty="0"/>
          </a:p>
        </p:txBody>
      </p:sp>
      <p:sp>
        <p:nvSpPr>
          <p:cNvPr id="30" name="ocean:metric"/>
          <p:cNvSpPr/>
          <p:nvPr/>
        </p:nvSpPr>
        <p:spPr>
          <a:xfrm>
            <a:off x="521208" y="33192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000" spc="-12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[TBD]</a:t>
            </a:r>
            <a:endParaRPr lang="en-US" sz="6000" dirty="0"/>
          </a:p>
        </p:txBody>
      </p:sp>
      <p:sp>
        <p:nvSpPr>
          <p:cNvPr id="31" name="Shape 27"/>
          <p:cNvSpPr/>
          <p:nvPr/>
        </p:nvSpPr>
        <p:spPr>
          <a:xfrm>
            <a:off x="548640" y="4370832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2" name="ocean:body"/>
          <p:cNvSpPr/>
          <p:nvPr/>
        </p:nvSpPr>
        <p:spPr>
          <a:xfrm>
            <a:off x="54864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Approved scope</a:t>
            </a:r>
            <a:endParaRPr lang="en-US" sz="1300" dirty="0"/>
          </a:p>
        </p:txBody>
      </p:sp>
      <p:sp>
        <p:nvSpPr>
          <p:cNvPr id="33" name="ocean:body"/>
          <p:cNvSpPr/>
          <p:nvPr/>
        </p:nvSpPr>
        <p:spPr>
          <a:xfrm>
            <a:off x="411480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48640" y="4773168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5" name="ocean:body"/>
          <p:cNvSpPr/>
          <p:nvPr/>
        </p:nvSpPr>
        <p:spPr>
          <a:xfrm>
            <a:off x="54864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Terms</a:t>
            </a:r>
            <a:endParaRPr lang="en-US" sz="1300" dirty="0"/>
          </a:p>
        </p:txBody>
      </p:sp>
      <p:sp>
        <p:nvSpPr>
          <p:cNvPr id="36" name="ocean:body"/>
          <p:cNvSpPr/>
          <p:nvPr/>
        </p:nvSpPr>
        <p:spPr>
          <a:xfrm>
            <a:off x="4114800" y="4864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7" name="ocean:frame"/>
          <p:cNvSpPr/>
          <p:nvPr/>
        </p:nvSpPr>
        <p:spPr>
          <a:xfrm>
            <a:off x="6217920" y="3044952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6400800" y="3154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0" name="ocean:body"/>
          <p:cNvSpPr/>
          <p:nvPr/>
        </p:nvSpPr>
        <p:spPr>
          <a:xfrm>
            <a:off x="6400800" y="337413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 the evidence</a:t>
            </a:r>
            <a:endParaRPr lang="en-US" sz="1300" dirty="0"/>
          </a:p>
        </p:txBody>
      </p:sp>
      <p:sp>
        <p:nvSpPr>
          <p:cNvPr id="41" name="ocean:frame"/>
          <p:cNvSpPr/>
          <p:nvPr/>
        </p:nvSpPr>
        <p:spPr>
          <a:xfrm>
            <a:off x="6217920" y="3831336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3870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2473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6400800" y="39410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ocean:body"/>
          <p:cNvSpPr/>
          <p:nvPr/>
        </p:nvSpPr>
        <p:spPr>
          <a:xfrm>
            <a:off x="6400800" y="41605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Resolve open assumptions</a:t>
            </a:r>
            <a:endParaRPr lang="en-US" sz="1300" dirty="0"/>
          </a:p>
        </p:txBody>
      </p:sp>
      <p:sp>
        <p:nvSpPr>
          <p:cNvPr id="46" name="ocean:frame"/>
          <p:cNvSpPr/>
          <p:nvPr/>
        </p:nvSpPr>
        <p:spPr>
          <a:xfrm>
            <a:off x="6217920" y="4617720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3870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2473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11076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0" name="ocean:label"/>
          <p:cNvSpPr/>
          <p:nvPr/>
        </p:nvSpPr>
        <p:spPr>
          <a:xfrm>
            <a:off x="640080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ocean:body"/>
          <p:cNvSpPr/>
          <p:nvPr/>
        </p:nvSpPr>
        <p:spPr>
          <a:xfrm>
            <a:off x="6400800" y="4946904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Confirm the agreed next action</a:t>
            </a:r>
            <a:endParaRPr lang="en-US" sz="1300" dirty="0"/>
          </a:p>
        </p:txBody>
      </p:sp>
      <p:sp>
        <p:nvSpPr>
          <p:cNvPr id="52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PROPOSAL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sag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proposal deck reference</dc:title>
  <dc:subject>Built with ocean-brand-system lib/ocean.js</dc:subject>
  <dc:creator>Ocean RCS</dc:creator>
  <cp:lastModifiedBy>Ocean RCS</cp:lastModifiedBy>
  <cp:revision>1</cp:revision>
  <dcterms:created xsi:type="dcterms:W3CDTF">2026-09-27T09:30:20Z</dcterms:created>
  <dcterms:modified xsi:type="dcterms:W3CDTF">2026-09-27T09:30:20Z</dcterms:modified>
</cp:coreProperties>
</file>