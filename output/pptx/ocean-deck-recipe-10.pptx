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savings</c:v>
                </c:pt>
              </c:strCache>
            </c:strRef>
          </c:tx>
          <c:spPr>
            <a:solidFill>
              <a:srgbClr val="618C7C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3FBF8"/>
                    </a:solidFill>
                    <a:latin typeface="Stack Sans Headline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Y01</c:v>
                  </c:pt>
                  <c:pt idx="1">
                    <c:v>Y02</c:v>
                  </c:pt>
                  <c:pt idx="2">
                    <c:v>Y03</c:v>
                  </c:pt>
                  <c:pt idx="3">
                    <c:v>Y04</c:v>
                  </c:pt>
                  <c:pt idx="4">
                    <c:v>Y05</c:v>
                  </c:pt>
                  <c:pt idx="5">
                    <c:v>Y06</c:v>
                  </c:pt>
                  <c:pt idx="6">
                    <c:v>Y07</c:v>
                  </c:pt>
                  <c:pt idx="7">
                    <c:v>Y08</c:v>
                  </c:pt>
                  <c:pt idx="8">
                    <c:v>Y09</c:v>
                  </c:pt>
                  <c:pt idx="9">
                    <c:v>Y10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62</c:v>
                </c:pt>
                <c:pt idx="1">
                  <c:v>66</c:v>
                </c:pt>
                <c:pt idx="2">
                  <c:v>70</c:v>
                </c:pt>
                <c:pt idx="3">
                  <c:v>75</c:v>
                </c:pt>
                <c:pt idx="4">
                  <c:v>79</c:v>
                </c:pt>
                <c:pt idx="5">
                  <c:v>84</c:v>
                </c:pt>
                <c:pt idx="6">
                  <c:v>88</c:v>
                </c:pt>
                <c:pt idx="7">
                  <c:v>93</c:v>
                </c:pt>
                <c:pt idx="8">
                  <c:v>98</c:v>
                </c:pt>
                <c:pt idx="9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Annual savings (focus)</c:v>
                </c:pt>
              </c:strCache>
            </c:strRef>
          </c:tx>
          <c:spPr>
            <a:solidFill>
              <a:srgbClr val="6E734C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3FBF8"/>
                    </a:solidFill>
                    <a:latin typeface="Stack Sans Headline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Y01</c:v>
                  </c:pt>
                  <c:pt idx="1">
                    <c:v>Y02</c:v>
                  </c:pt>
                  <c:pt idx="2">
                    <c:v>Y03</c:v>
                  </c:pt>
                  <c:pt idx="3">
                    <c:v>Y04</c:v>
                  </c:pt>
                  <c:pt idx="4">
                    <c:v>Y05</c:v>
                  </c:pt>
                  <c:pt idx="5">
                    <c:v>Y06</c:v>
                  </c:pt>
                  <c:pt idx="6">
                    <c:v>Y07</c:v>
                  </c:pt>
                  <c:pt idx="7">
                    <c:v>Y08</c:v>
                  </c:pt>
                  <c:pt idx="8">
                    <c:v>Y09</c:v>
                  </c:pt>
                  <c:pt idx="9">
                    <c:v>Y10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104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1" i="0" strike="noStrike" sz="1100" u="none">
                  <a:solidFill>
                    <a:srgbClr val="F3FBF8"/>
                  </a:solidFill>
                  <a:latin typeface="Stack Sans Headline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8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1B4039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4039"/>
                </a:solidFill>
                <a:latin typeface="Stack Sans Headline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4039"/>
                </a:solidFill>
                <a:latin typeface="Stack Sans Headline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Draft layout placeholder. Release mode blocks unresolved values.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18C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environment" descr="/home/user/workspace/audit/repo/assets/environments/env_sage_map_dar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ocean:frame"/>
          <p:cNvSpPr/>
          <p:nvPr/>
        </p:nvSpPr>
        <p:spPr>
          <a:xfrm>
            <a:off x="304800" y="304800"/>
            <a:ext cx="11582095" cy="6248400"/>
          </a:xfrm>
          <a:custGeom>
            <a:avLst/>
            <a:gdLst/>
            <a:ahLst/>
            <a:cxnLst/>
            <a:rect l="l" t="t" r="r" b="b"/>
            <a:pathLst>
              <a:path w="11582095" h="6248400">
                <a:moveTo>
                  <a:pt x="0" y="279400"/>
                </a:moveTo>
                <a:lnTo>
                  <a:pt x="279400" y="0"/>
                </a:lnTo>
                <a:lnTo>
                  <a:pt x="11455095" y="0"/>
                </a:lnTo>
                <a:quadBezTo>
                  <a:pt x="11582095" y="0"/>
                  <a:pt x="11582095" y="127000"/>
                </a:quadBezTo>
                <a:lnTo>
                  <a:pt x="11582095" y="6121400"/>
                </a:lnTo>
                <a:quadBezTo>
                  <a:pt x="11582095" y="6248400"/>
                  <a:pt x="11455095" y="6248400"/>
                </a:quadBezTo>
                <a:lnTo>
                  <a:pt x="127000" y="6248400"/>
                </a:lnTo>
                <a:quadBezTo>
                  <a:pt x="0" y="6248400"/>
                  <a:pt x="0" y="6121400"/>
                </a:quadBezTo>
                <a:close/>
              </a:path>
            </a:pathLst>
          </a:custGeom>
          <a:ln w="12700">
            <a:solidFill>
              <a:srgbClr val="F3FBF8"/>
            </a:solidFill>
            <a:prstDash val="solid"/>
          </a:ln>
        </p:spPr>
      </p:sp>
      <p:pic>
        <p:nvPicPr>
          <p:cNvPr id="4" name="ocean:logo-vertical" descr="/home/user/workspace/audit/repo/assets/logos/png/logo_vertical_honeyd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200" y="685800"/>
            <a:ext cx="952536" cy="838200"/>
          </a:xfrm>
          <a:prstGeom prst="rect">
            <a:avLst/>
          </a:prstGeom>
        </p:spPr>
      </p:pic>
      <p:sp>
        <p:nvSpPr>
          <p:cNvPr id="5" name="ocean:label"/>
          <p:cNvSpPr/>
          <p:nvPr/>
        </p:nvSpPr>
        <p:spPr>
          <a:xfrm>
            <a:off x="8554415" y="635000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3720"/>
              </a:lnSpc>
              <a:buNone/>
            </a:pPr>
            <a:r>
              <a:rPr lang="en-US" sz="3000" spc="-6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2026</a:t>
            </a:r>
            <a:endParaRPr lang="en-US" sz="3000" dirty="0"/>
          </a:p>
        </p:txBody>
      </p:sp>
      <p:sp>
        <p:nvSpPr>
          <p:cNvPr id="6" name="ocean:label"/>
          <p:cNvSpPr/>
          <p:nvPr/>
        </p:nvSpPr>
        <p:spPr>
          <a:xfrm>
            <a:off x="7640015" y="124358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4"/>
              </a:lnSpc>
              <a:buNone/>
            </a:pPr>
            <a:r>
              <a:rPr lang="en-US" sz="1100" spc="275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1100" dirty="0"/>
          </a:p>
        </p:txBody>
      </p:sp>
      <p:sp>
        <p:nvSpPr>
          <p:cNvPr id="7" name="ocean:label"/>
          <p:cNvSpPr/>
          <p:nvPr/>
        </p:nvSpPr>
        <p:spPr>
          <a:xfrm>
            <a:off x="711200" y="3017520"/>
            <a:ext cx="10769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8"/>
              </a:lnSpc>
              <a:buNone/>
            </a:pPr>
            <a:r>
              <a:rPr lang="en-US" sz="1200" b="1" spc="30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COMMERCIAL ENERGY</a:t>
            </a:r>
            <a:endParaRPr lang="en-US" sz="1200" dirty="0"/>
          </a:p>
        </p:txBody>
      </p:sp>
      <p:sp>
        <p:nvSpPr>
          <p:cNvPr id="8" name="ocean:cover"/>
          <p:cNvSpPr/>
          <p:nvPr/>
        </p:nvSpPr>
        <p:spPr>
          <a:xfrm>
            <a:off x="660400" y="3291840"/>
            <a:ext cx="10769295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200"/>
              </a:lnSpc>
              <a:buNone/>
            </a:pPr>
            <a:r>
              <a:rPr lang="en-US" sz="8400" spc="-336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Rooftop Solar</a:t>
            </a:r>
            <a:endParaRPr lang="en-US" sz="8400" dirty="0"/>
          </a:p>
          <a:p>
            <a:pPr algn="l" indent="0" marL="0">
              <a:lnSpc>
                <a:spcPts val="7200"/>
              </a:lnSpc>
              <a:buNone/>
            </a:pPr>
            <a:r>
              <a:rPr lang="en-US" sz="8400" spc="-336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+ Storage</a:t>
            </a:r>
            <a:endParaRPr lang="en-US" sz="8400" dirty="0"/>
          </a:p>
        </p:txBody>
      </p:sp>
      <p:sp>
        <p:nvSpPr>
          <p:cNvPr id="9" name="ocean:notice"/>
          <p:cNvSpPr/>
          <p:nvPr/>
        </p:nvSpPr>
        <p:spPr>
          <a:xfrm>
            <a:off x="711200" y="5715000"/>
            <a:ext cx="107692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Design specimen with illustrative figures and representative images. Do not use for any commercial purpose.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711200" y="6083300"/>
            <a:ext cx="10769295" cy="0"/>
          </a:xfrm>
          <a:prstGeom prst="line">
            <a:avLst/>
          </a:prstGeom>
          <a:noFill/>
          <a:ln w="12700">
            <a:solidFill>
              <a:srgbClr val="F3FBF8"/>
            </a:solidFill>
            <a:prstDash val="solid"/>
          </a:ln>
        </p:spPr>
      </p:sp>
      <p:sp>
        <p:nvSpPr>
          <p:cNvPr id="11" name="ocean:meta"/>
          <p:cNvSpPr/>
          <p:nvPr/>
        </p:nvSpPr>
        <p:spPr>
          <a:xfrm>
            <a:off x="711200" y="6235700"/>
            <a:ext cx="135597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PREPARED FOR</a:t>
            </a:r>
            <a:endParaRPr lang="en-US" sz="1000" dirty="0"/>
          </a:p>
        </p:txBody>
      </p:sp>
      <p:sp>
        <p:nvSpPr>
          <p:cNvPr id="12" name="ocean:meta"/>
          <p:cNvSpPr/>
          <p:nvPr/>
        </p:nvSpPr>
        <p:spPr>
          <a:xfrm>
            <a:off x="2176907" y="6235700"/>
            <a:ext cx="123405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CLIENT NAME</a:t>
            </a:r>
            <a:endParaRPr lang="en-US" sz="1000" dirty="0"/>
          </a:p>
        </p:txBody>
      </p:sp>
      <p:sp>
        <p:nvSpPr>
          <p:cNvPr id="13" name="ocean:meta"/>
          <p:cNvSpPr/>
          <p:nvPr/>
        </p:nvSpPr>
        <p:spPr>
          <a:xfrm>
            <a:off x="3849878" y="6235700"/>
            <a:ext cx="50304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DATE</a:t>
            </a:r>
            <a:endParaRPr lang="en-US" sz="1000" dirty="0"/>
          </a:p>
        </p:txBody>
      </p:sp>
      <p:sp>
        <p:nvSpPr>
          <p:cNvPr id="14" name="ocean:meta"/>
          <p:cNvSpPr/>
          <p:nvPr/>
        </p:nvSpPr>
        <p:spPr>
          <a:xfrm>
            <a:off x="4462653" y="6235700"/>
            <a:ext cx="116967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26 SEP 2026</a:t>
            </a:r>
            <a:endParaRPr lang="en-US" sz="1000" dirty="0"/>
          </a:p>
        </p:txBody>
      </p:sp>
      <p:sp>
        <p:nvSpPr>
          <p:cNvPr id="15" name="ocean:meta"/>
          <p:cNvSpPr/>
          <p:nvPr/>
        </p:nvSpPr>
        <p:spPr>
          <a:xfrm>
            <a:off x="6071235" y="6235700"/>
            <a:ext cx="71742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STATUS</a:t>
            </a:r>
            <a:endParaRPr lang="en-US" sz="1000" dirty="0"/>
          </a:p>
        </p:txBody>
      </p:sp>
      <p:sp>
        <p:nvSpPr>
          <p:cNvPr id="16" name="ocean:meta"/>
          <p:cNvSpPr/>
          <p:nvPr/>
        </p:nvSpPr>
        <p:spPr>
          <a:xfrm>
            <a:off x="6898386" y="6235700"/>
            <a:ext cx="95631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SPECIMEN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logo-horizontal" descr="/home/user/workspace/audit/repo/assets/logos/png/logo_horizontal_blackm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06400"/>
            <a:ext cx="1000657" cy="279400"/>
          </a:xfrm>
          <a:prstGeom prst="rect">
            <a:avLst/>
          </a:prstGeom>
        </p:spPr>
      </p:pic>
      <p:sp>
        <p:nvSpPr>
          <p:cNvPr id="3" name="ocean:label"/>
          <p:cNvSpPr/>
          <p:nvPr/>
        </p:nvSpPr>
        <p:spPr>
          <a:xfrm>
            <a:off x="8442655" y="393700"/>
            <a:ext cx="3200400" cy="18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1000" dirty="0"/>
          </a:p>
        </p:txBody>
      </p:sp>
      <p:sp>
        <p:nvSpPr>
          <p:cNvPr id="4" name="ocean:label"/>
          <p:cNvSpPr/>
          <p:nvPr/>
        </p:nvSpPr>
        <p:spPr>
          <a:xfrm>
            <a:off x="8442655" y="609600"/>
            <a:ext cx="3200400" cy="18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1000" dirty="0"/>
          </a:p>
        </p:txBody>
      </p:sp>
      <p:sp>
        <p:nvSpPr>
          <p:cNvPr id="5" name="ocean:cover"/>
          <p:cNvSpPr/>
          <p:nvPr/>
        </p:nvSpPr>
        <p:spPr>
          <a:xfrm>
            <a:off x="512064" y="1097280"/>
            <a:ext cx="7315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0"/>
              </a:lnSpc>
              <a:buNone/>
            </a:pPr>
            <a:r>
              <a:rPr lang="en-US" sz="12500" b="1" spc="-75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Agenda</a:t>
            </a:r>
            <a:endParaRPr lang="en-US" sz="12500" dirty="0"/>
          </a:p>
        </p:txBody>
      </p:sp>
      <p:sp>
        <p:nvSpPr>
          <p:cNvPr id="6" name="Shape 3"/>
          <p:cNvSpPr/>
          <p:nvPr/>
        </p:nvSpPr>
        <p:spPr>
          <a:xfrm>
            <a:off x="548640" y="2980944"/>
            <a:ext cx="11094415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7" name="ocean:metric"/>
          <p:cNvSpPr/>
          <p:nvPr/>
        </p:nvSpPr>
        <p:spPr>
          <a:xfrm>
            <a:off x="512064" y="3026664"/>
            <a:ext cx="2743200" cy="8167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034"/>
              </a:lnSpc>
              <a:buNone/>
            </a:pPr>
            <a:r>
              <a:rPr lang="en-US" sz="5839" spc="-350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01</a:t>
            </a:r>
            <a:endParaRPr lang="en-US" sz="5839" dirty="0"/>
          </a:p>
        </p:txBody>
      </p:sp>
      <p:sp>
        <p:nvSpPr>
          <p:cNvPr id="8" name="ocean:label"/>
          <p:cNvSpPr/>
          <p:nvPr/>
        </p:nvSpPr>
        <p:spPr>
          <a:xfrm>
            <a:off x="4443984" y="3163824"/>
            <a:ext cx="7132320" cy="200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</a:t>
            </a:r>
            <a:endParaRPr lang="en-US" sz="1100" dirty="0"/>
          </a:p>
        </p:txBody>
      </p:sp>
      <p:sp>
        <p:nvSpPr>
          <p:cNvPr id="9" name="ocean:section"/>
          <p:cNvSpPr/>
          <p:nvPr/>
        </p:nvSpPr>
        <p:spPr>
          <a:xfrm>
            <a:off x="4425696" y="3364992"/>
            <a:ext cx="7223760" cy="4692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800" spc="-2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What the roof and service can carry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548640" y="3870833"/>
            <a:ext cx="11094415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11" name="ocean:metric"/>
          <p:cNvSpPr/>
          <p:nvPr/>
        </p:nvSpPr>
        <p:spPr>
          <a:xfrm>
            <a:off x="512064" y="3916553"/>
            <a:ext cx="2743200" cy="8167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034"/>
              </a:lnSpc>
              <a:buNone/>
            </a:pPr>
            <a:r>
              <a:rPr lang="en-US" sz="5839" spc="-350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02</a:t>
            </a:r>
            <a:endParaRPr lang="en-US" sz="5839" dirty="0"/>
          </a:p>
        </p:txBody>
      </p:sp>
      <p:sp>
        <p:nvSpPr>
          <p:cNvPr id="12" name="ocean:label"/>
          <p:cNvSpPr/>
          <p:nvPr/>
        </p:nvSpPr>
        <p:spPr>
          <a:xfrm>
            <a:off x="4443984" y="4053713"/>
            <a:ext cx="7132320" cy="200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SYSTEM</a:t>
            </a:r>
            <a:endParaRPr lang="en-US" sz="1100" dirty="0"/>
          </a:p>
        </p:txBody>
      </p:sp>
      <p:sp>
        <p:nvSpPr>
          <p:cNvPr id="13" name="ocean:section"/>
          <p:cNvSpPr/>
          <p:nvPr/>
        </p:nvSpPr>
        <p:spPr>
          <a:xfrm>
            <a:off x="4425696" y="4254881"/>
            <a:ext cx="7223760" cy="4692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800" spc="-2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Solar, storage and interconnection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548640" y="4760722"/>
            <a:ext cx="11094415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15" name="ocean:metric"/>
          <p:cNvSpPr/>
          <p:nvPr/>
        </p:nvSpPr>
        <p:spPr>
          <a:xfrm>
            <a:off x="512064" y="4806442"/>
            <a:ext cx="2743200" cy="8167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034"/>
              </a:lnSpc>
              <a:buNone/>
            </a:pPr>
            <a:r>
              <a:rPr lang="en-US" sz="5839" spc="-350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03</a:t>
            </a:r>
            <a:endParaRPr lang="en-US" sz="5839" dirty="0"/>
          </a:p>
        </p:txBody>
      </p:sp>
      <p:sp>
        <p:nvSpPr>
          <p:cNvPr id="16" name="ocean:label"/>
          <p:cNvSpPr/>
          <p:nvPr/>
        </p:nvSpPr>
        <p:spPr>
          <a:xfrm>
            <a:off x="4443984" y="4943602"/>
            <a:ext cx="7132320" cy="200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</a:t>
            </a:r>
            <a:endParaRPr lang="en-US" sz="1100" dirty="0"/>
          </a:p>
        </p:txBody>
      </p:sp>
      <p:sp>
        <p:nvSpPr>
          <p:cNvPr id="17" name="ocean:section"/>
          <p:cNvSpPr/>
          <p:nvPr/>
        </p:nvSpPr>
        <p:spPr>
          <a:xfrm>
            <a:off x="4425696" y="5144770"/>
            <a:ext cx="7223760" cy="4692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800" spc="-2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Savings, incentives and payback</a:t>
            </a:r>
            <a:endParaRPr lang="en-US" sz="2800" dirty="0"/>
          </a:p>
        </p:txBody>
      </p:sp>
      <p:sp>
        <p:nvSpPr>
          <p:cNvPr id="18" name="Shape 15"/>
          <p:cNvSpPr/>
          <p:nvPr/>
        </p:nvSpPr>
        <p:spPr>
          <a:xfrm>
            <a:off x="548640" y="5650611"/>
            <a:ext cx="11094415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19" name="ocean:metric"/>
          <p:cNvSpPr/>
          <p:nvPr/>
        </p:nvSpPr>
        <p:spPr>
          <a:xfrm>
            <a:off x="512064" y="5696331"/>
            <a:ext cx="2743200" cy="8167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034"/>
              </a:lnSpc>
              <a:buNone/>
            </a:pPr>
            <a:r>
              <a:rPr lang="en-US" sz="5839" spc="-350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04</a:t>
            </a:r>
            <a:endParaRPr lang="en-US" sz="5839" dirty="0"/>
          </a:p>
        </p:txBody>
      </p:sp>
      <p:sp>
        <p:nvSpPr>
          <p:cNvPr id="20" name="ocean:label"/>
          <p:cNvSpPr/>
          <p:nvPr/>
        </p:nvSpPr>
        <p:spPr>
          <a:xfrm>
            <a:off x="4443984" y="5833491"/>
            <a:ext cx="7132320" cy="200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1100" dirty="0"/>
          </a:p>
        </p:txBody>
      </p:sp>
      <p:sp>
        <p:nvSpPr>
          <p:cNvPr id="21" name="ocean:section"/>
          <p:cNvSpPr/>
          <p:nvPr/>
        </p:nvSpPr>
        <p:spPr>
          <a:xfrm>
            <a:off x="4425696" y="6034659"/>
            <a:ext cx="7223760" cy="4692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800" spc="-2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Decisions and schedule</a:t>
            </a:r>
            <a:endParaRPr lang="en-US" sz="2800" dirty="0"/>
          </a:p>
        </p:txBody>
      </p:sp>
      <p:sp>
        <p:nvSpPr>
          <p:cNvPr id="22" name="Shape 19"/>
          <p:cNvSpPr/>
          <p:nvPr/>
        </p:nvSpPr>
        <p:spPr>
          <a:xfrm>
            <a:off x="548640" y="6540500"/>
            <a:ext cx="11094415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48640" y="6591300"/>
            <a:ext cx="11094415" cy="38100"/>
          </a:xfrm>
          <a:prstGeom prst="rect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102426"/>
            </a:solidFill>
            <a:prstDash val="solid"/>
          </a:ln>
        </p:spPr>
      </p:sp>
      <p:pic>
        <p:nvPicPr>
          <p:cNvPr id="3" name="ocean:logo-horizontal" descr="/home/user/workspace/audit/repo/assets/logos/png/logo_horizontal_peac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687064" y="515112"/>
            <a:ext cx="407937" cy="237744"/>
          </a:xfrm>
          <a:prstGeom prst="rect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9" name="ocean:header"/>
          <p:cNvSpPr/>
          <p:nvPr/>
        </p:nvSpPr>
        <p:spPr>
          <a:xfrm>
            <a:off x="3751072" y="551688"/>
            <a:ext cx="4079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</a:t>
            </a:r>
            <a:endParaRPr lang="en-US" sz="900" dirty="0"/>
          </a:p>
        </p:txBody>
      </p:sp>
      <p:sp>
        <p:nvSpPr>
          <p:cNvPr id="10" name="ocean:header"/>
          <p:cNvSpPr/>
          <p:nvPr/>
        </p:nvSpPr>
        <p:spPr>
          <a:xfrm>
            <a:off x="4305313" y="551688"/>
            <a:ext cx="63527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SYSTEM</a:t>
            </a:r>
            <a:endParaRPr lang="en-US" sz="900" dirty="0"/>
          </a:p>
        </p:txBody>
      </p:sp>
      <p:sp>
        <p:nvSpPr>
          <p:cNvPr id="11" name="ocean:header"/>
          <p:cNvSpPr/>
          <p:nvPr/>
        </p:nvSpPr>
        <p:spPr>
          <a:xfrm>
            <a:off x="5086896" y="551688"/>
            <a:ext cx="91417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</a:t>
            </a:r>
            <a:endParaRPr lang="en-US" sz="900" dirty="0"/>
          </a:p>
        </p:txBody>
      </p:sp>
      <p:sp>
        <p:nvSpPr>
          <p:cNvPr id="12" name="ocean:header"/>
          <p:cNvSpPr/>
          <p:nvPr/>
        </p:nvSpPr>
        <p:spPr>
          <a:xfrm>
            <a:off x="6147372" y="551688"/>
            <a:ext cx="918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14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900" dirty="0"/>
          </a:p>
        </p:txBody>
      </p:sp>
      <p:sp>
        <p:nvSpPr>
          <p:cNvPr id="15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9407855" y="329184"/>
            <a:ext cx="558800" cy="609600"/>
          </a:xfrm>
          <a:prstGeom prst="rect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18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0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2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4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 SITE</a:t>
            </a:r>
            <a:endParaRPr lang="en-US" sz="1100" dirty="0"/>
          </a:p>
        </p:txBody>
      </p:sp>
      <p:sp>
        <p:nvSpPr>
          <p:cNvPr id="26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02426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The roof can carry about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02426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412 kW of solar</a:t>
            </a:r>
            <a:endParaRPr lang="en-US" sz="3500" dirty="0"/>
          </a:p>
        </p:txBody>
      </p:sp>
      <p:sp>
        <p:nvSpPr>
          <p:cNvPr id="27" name="ocean:lede"/>
          <p:cNvSpPr/>
          <p:nvPr/>
        </p:nvSpPr>
        <p:spPr>
          <a:xfrm>
            <a:off x="7040880" y="1572768"/>
            <a:ext cx="4602175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 NEW TPO ROOF, CLEAR ARRAY ZONES AND AN</a:t>
            </a:r>
            <a:endParaRPr lang="en-US" sz="1050" dirty="0"/>
          </a:p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EXISTING 2,000 A SERVICE.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9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DESIGN SPECIMEN · DO NOT USE</a:t>
            </a:r>
            <a:endParaRPr lang="en-US" sz="900" dirty="0"/>
          </a:p>
        </p:txBody>
      </p:sp>
      <p:pic>
        <p:nvPicPr>
          <p:cNvPr id="30" name="ocean:photo" descr="/home/user/workspace/audit/repo/output/.cache/fit/rooftop-9961c474ed952ca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044952"/>
            <a:ext cx="6446520" cy="2834640"/>
          </a:xfrm>
          <a:prstGeom prst="rect">
            <a:avLst/>
          </a:prstGeom>
        </p:spPr>
      </p:pic>
      <p:sp>
        <p:nvSpPr>
          <p:cNvPr id="31" name="Shape 27"/>
          <p:cNvSpPr/>
          <p:nvPr/>
        </p:nvSpPr>
        <p:spPr>
          <a:xfrm flipV="1">
            <a:off x="544068" y="3040380"/>
            <a:ext cx="279400" cy="279400"/>
          </a:xfrm>
          <a:prstGeom prst="rtTriangle">
            <a:avLst/>
          </a:prstGeom>
          <a:solidFill>
            <a:srgbClr val="F3FBF8"/>
          </a:solidFill>
          <a:ln w="12700">
            <a:solidFill>
              <a:srgbClr val="F3FBF8"/>
            </a:solidFill>
            <a:prstDash val="solid"/>
          </a:ln>
        </p:spPr>
      </p:sp>
      <p:sp>
        <p:nvSpPr>
          <p:cNvPr id="32" name="ocean:frame"/>
          <p:cNvSpPr/>
          <p:nvPr/>
        </p:nvSpPr>
        <p:spPr>
          <a:xfrm>
            <a:off x="7223760" y="3044952"/>
            <a:ext cx="4419295" cy="640080"/>
          </a:xfrm>
          <a:custGeom>
            <a:avLst/>
            <a:gdLst/>
            <a:ahLst/>
            <a:cxnLst/>
            <a:rect l="l" t="t" r="r" b="b"/>
            <a:pathLst>
              <a:path w="4419295" h="640080">
                <a:moveTo>
                  <a:pt x="76200" y="0"/>
                </a:moveTo>
                <a:lnTo>
                  <a:pt x="4343095" y="0"/>
                </a:lnTo>
                <a:quadBezTo>
                  <a:pt x="4419295" y="0"/>
                  <a:pt x="4419295" y="76200"/>
                </a:quadBezTo>
                <a:lnTo>
                  <a:pt x="4419295" y="487680"/>
                </a:lnTo>
                <a:lnTo>
                  <a:pt x="4266895" y="640080"/>
                </a:lnTo>
                <a:lnTo>
                  <a:pt x="76200" y="640080"/>
                </a:lnTo>
                <a:quadBezTo>
                  <a:pt x="0" y="640080"/>
                  <a:pt x="0" y="563880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102426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11387023" y="3172968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34" name="ocean:label"/>
          <p:cNvSpPr/>
          <p:nvPr/>
        </p:nvSpPr>
        <p:spPr>
          <a:xfrm>
            <a:off x="7406640" y="3136392"/>
            <a:ext cx="33220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8"/>
              </a:lnSpc>
              <a:buNone/>
            </a:pPr>
            <a:r>
              <a:rPr lang="en-US" sz="950" spc="238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ARRAY SIZE</a:t>
            </a:r>
            <a:endParaRPr lang="en-US" sz="950" dirty="0"/>
          </a:p>
        </p:txBody>
      </p:sp>
      <p:sp>
        <p:nvSpPr>
          <p:cNvPr id="35" name="ocean:body"/>
          <p:cNvSpPr/>
          <p:nvPr/>
        </p:nvSpPr>
        <p:spPr>
          <a:xfrm>
            <a:off x="7406640" y="3355848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6"/>
              </a:lnSpc>
              <a:buNone/>
            </a:pPr>
            <a:r>
              <a:rPr lang="en-US" sz="1400" b="1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412 KW DC</a:t>
            </a:r>
            <a:endParaRPr lang="en-US" sz="1400" dirty="0"/>
          </a:p>
        </p:txBody>
      </p:sp>
      <p:sp>
        <p:nvSpPr>
          <p:cNvPr id="36" name="ocean:frame"/>
          <p:cNvSpPr/>
          <p:nvPr/>
        </p:nvSpPr>
        <p:spPr>
          <a:xfrm>
            <a:off x="7223760" y="3776472"/>
            <a:ext cx="4419295" cy="640080"/>
          </a:xfrm>
          <a:custGeom>
            <a:avLst/>
            <a:gdLst/>
            <a:ahLst/>
            <a:cxnLst/>
            <a:rect l="l" t="t" r="r" b="b"/>
            <a:pathLst>
              <a:path w="4419295" h="640080">
                <a:moveTo>
                  <a:pt x="76200" y="0"/>
                </a:moveTo>
                <a:lnTo>
                  <a:pt x="4343095" y="0"/>
                </a:lnTo>
                <a:quadBezTo>
                  <a:pt x="4419295" y="0"/>
                  <a:pt x="4419295" y="76200"/>
                </a:quadBezTo>
                <a:lnTo>
                  <a:pt x="4419295" y="487680"/>
                </a:lnTo>
                <a:lnTo>
                  <a:pt x="4266895" y="640080"/>
                </a:lnTo>
                <a:lnTo>
                  <a:pt x="76200" y="640080"/>
                </a:lnTo>
                <a:quadBezTo>
                  <a:pt x="0" y="640080"/>
                  <a:pt x="0" y="563880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102426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11387023" y="3904488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11247323" y="3904488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39" name="ocean:label"/>
          <p:cNvSpPr/>
          <p:nvPr/>
        </p:nvSpPr>
        <p:spPr>
          <a:xfrm>
            <a:off x="7406640" y="3867912"/>
            <a:ext cx="33220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8"/>
              </a:lnSpc>
              <a:buNone/>
            </a:pPr>
            <a:r>
              <a:rPr lang="en-US" sz="950" spc="238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USABLE ROOF</a:t>
            </a:r>
            <a:endParaRPr lang="en-US" sz="950" dirty="0"/>
          </a:p>
        </p:txBody>
      </p:sp>
      <p:sp>
        <p:nvSpPr>
          <p:cNvPr id="40" name="ocean:body"/>
          <p:cNvSpPr/>
          <p:nvPr/>
        </p:nvSpPr>
        <p:spPr>
          <a:xfrm>
            <a:off x="7406640" y="4087368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6"/>
              </a:lnSpc>
              <a:buNone/>
            </a:pPr>
            <a:r>
              <a:rPr lang="en-US" sz="1400" b="1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68,400 FT²</a:t>
            </a:r>
            <a:endParaRPr lang="en-US" sz="1400" dirty="0"/>
          </a:p>
        </p:txBody>
      </p:sp>
      <p:sp>
        <p:nvSpPr>
          <p:cNvPr id="41" name="ocean:frame"/>
          <p:cNvSpPr/>
          <p:nvPr/>
        </p:nvSpPr>
        <p:spPr>
          <a:xfrm>
            <a:off x="7223760" y="4507992"/>
            <a:ext cx="4419295" cy="640080"/>
          </a:xfrm>
          <a:custGeom>
            <a:avLst/>
            <a:gdLst/>
            <a:ahLst/>
            <a:cxnLst/>
            <a:rect l="l" t="t" r="r" b="b"/>
            <a:pathLst>
              <a:path w="4419295" h="640080">
                <a:moveTo>
                  <a:pt x="76200" y="0"/>
                </a:moveTo>
                <a:lnTo>
                  <a:pt x="4343095" y="0"/>
                </a:lnTo>
                <a:quadBezTo>
                  <a:pt x="4419295" y="0"/>
                  <a:pt x="4419295" y="76200"/>
                </a:quadBezTo>
                <a:lnTo>
                  <a:pt x="4419295" y="487680"/>
                </a:lnTo>
                <a:lnTo>
                  <a:pt x="4266895" y="640080"/>
                </a:lnTo>
                <a:lnTo>
                  <a:pt x="76200" y="640080"/>
                </a:lnTo>
                <a:quadBezTo>
                  <a:pt x="0" y="640080"/>
                  <a:pt x="0" y="563880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102426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11387023" y="4636008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11247323" y="4636008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11107623" y="4636008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45" name="ocean:label"/>
          <p:cNvSpPr/>
          <p:nvPr/>
        </p:nvSpPr>
        <p:spPr>
          <a:xfrm>
            <a:off x="7406640" y="4599432"/>
            <a:ext cx="33220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8"/>
              </a:lnSpc>
              <a:buNone/>
            </a:pPr>
            <a:r>
              <a:rPr lang="en-US" sz="950" spc="238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SERVICE</a:t>
            </a:r>
            <a:endParaRPr lang="en-US" sz="950" dirty="0"/>
          </a:p>
        </p:txBody>
      </p:sp>
      <p:sp>
        <p:nvSpPr>
          <p:cNvPr id="46" name="ocean:body"/>
          <p:cNvSpPr/>
          <p:nvPr/>
        </p:nvSpPr>
        <p:spPr>
          <a:xfrm>
            <a:off x="7406640" y="4818888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6"/>
              </a:lnSpc>
              <a:buNone/>
            </a:pPr>
            <a:r>
              <a:rPr lang="en-US" sz="1400" b="1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2,000 A · 480 V</a:t>
            </a:r>
            <a:endParaRPr lang="en-US" sz="1400" dirty="0"/>
          </a:p>
        </p:txBody>
      </p:sp>
      <p:sp>
        <p:nvSpPr>
          <p:cNvPr id="47" name="ocean:body"/>
          <p:cNvSpPr/>
          <p:nvPr/>
        </p:nvSpPr>
        <p:spPr>
          <a:xfrm>
            <a:off x="548640" y="5971032"/>
            <a:ext cx="6446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8"/>
              </a:lnSpc>
              <a:buNone/>
            </a:pPr>
            <a:r>
              <a:rPr lang="en-US" sz="12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Representative image of a comparable rooftop array.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102426"/>
            </a:solidFill>
            <a:prstDash val="solid"/>
          </a:ln>
        </p:spPr>
      </p:sp>
      <p:pic>
        <p:nvPicPr>
          <p:cNvPr id="3" name="ocean:logo-horizontal" descr="/home/user/workspace/audit/repo/assets/logos/png/logo_horizontal_peac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687064" y="515112"/>
            <a:ext cx="407937" cy="237744"/>
          </a:xfrm>
          <a:prstGeom prst="rect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9" name="ocean:header"/>
          <p:cNvSpPr/>
          <p:nvPr/>
        </p:nvSpPr>
        <p:spPr>
          <a:xfrm>
            <a:off x="3751072" y="551688"/>
            <a:ext cx="4079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</a:t>
            </a:r>
            <a:endParaRPr lang="en-US" sz="900" dirty="0"/>
          </a:p>
        </p:txBody>
      </p:sp>
      <p:sp>
        <p:nvSpPr>
          <p:cNvPr id="10" name="ocean:header"/>
          <p:cNvSpPr/>
          <p:nvPr/>
        </p:nvSpPr>
        <p:spPr>
          <a:xfrm>
            <a:off x="4305313" y="551688"/>
            <a:ext cx="63527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SYSTEM</a:t>
            </a:r>
            <a:endParaRPr lang="en-US" sz="900" dirty="0"/>
          </a:p>
        </p:txBody>
      </p:sp>
      <p:sp>
        <p:nvSpPr>
          <p:cNvPr id="11" name="ocean:header"/>
          <p:cNvSpPr/>
          <p:nvPr/>
        </p:nvSpPr>
        <p:spPr>
          <a:xfrm>
            <a:off x="5086896" y="551688"/>
            <a:ext cx="91417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</a:t>
            </a:r>
            <a:endParaRPr lang="en-US" sz="900" dirty="0"/>
          </a:p>
        </p:txBody>
      </p:sp>
      <p:sp>
        <p:nvSpPr>
          <p:cNvPr id="12" name="ocean:header"/>
          <p:cNvSpPr/>
          <p:nvPr/>
        </p:nvSpPr>
        <p:spPr>
          <a:xfrm>
            <a:off x="6147372" y="551688"/>
            <a:ext cx="918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14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900" dirty="0"/>
          </a:p>
        </p:txBody>
      </p:sp>
      <p:sp>
        <p:nvSpPr>
          <p:cNvPr id="15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9407855" y="329184"/>
            <a:ext cx="558800" cy="609600"/>
          </a:xfrm>
          <a:prstGeom prst="rect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18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0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2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4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 SITE</a:t>
            </a:r>
            <a:endParaRPr lang="en-US" sz="1100" dirty="0"/>
          </a:p>
        </p:txBody>
      </p:sp>
      <p:sp>
        <p:nvSpPr>
          <p:cNvPr id="26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02426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Four figures define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02426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the opportunity</a:t>
            </a:r>
            <a:endParaRPr lang="en-US" sz="3500" dirty="0"/>
          </a:p>
        </p:txBody>
      </p:sp>
      <p:sp>
        <p:nvSpPr>
          <p:cNvPr id="27" name="ocean:lede"/>
          <p:cNvSpPr/>
          <p:nvPr/>
        </p:nvSpPr>
        <p:spPr>
          <a:xfrm>
            <a:off x="7040880" y="1572768"/>
            <a:ext cx="4602175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ILLUSTRATIVE FIGURES FOR THE SPECIMEN.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9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DESIGN SPECIMEN · DO NOT USE</a:t>
            </a:r>
            <a:endParaRPr lang="en-US" sz="900" dirty="0"/>
          </a:p>
        </p:txBody>
      </p:sp>
      <p:sp>
        <p:nvSpPr>
          <p:cNvPr id="30" name="ocean:frame"/>
          <p:cNvSpPr/>
          <p:nvPr/>
        </p:nvSpPr>
        <p:spPr>
          <a:xfrm>
            <a:off x="548640" y="3044952"/>
            <a:ext cx="2602154" cy="2011680"/>
          </a:xfrm>
          <a:custGeom>
            <a:avLst/>
            <a:gdLst/>
            <a:ahLst/>
            <a:cxnLst/>
            <a:rect l="l" t="t" r="r" b="b"/>
            <a:pathLst>
              <a:path w="2602154" h="2011680">
                <a:moveTo>
                  <a:pt x="114300" y="0"/>
                </a:moveTo>
                <a:lnTo>
                  <a:pt x="2487854" y="0"/>
                </a:lnTo>
                <a:quadBezTo>
                  <a:pt x="2602154" y="0"/>
                  <a:pt x="2602154" y="114300"/>
                </a:quadBezTo>
                <a:lnTo>
                  <a:pt x="2602154" y="1783080"/>
                </a:lnTo>
                <a:lnTo>
                  <a:pt x="2373554" y="2011680"/>
                </a:lnTo>
                <a:lnTo>
                  <a:pt x="114300" y="2011680"/>
                </a:lnTo>
                <a:quadBezTo>
                  <a:pt x="0" y="2011680"/>
                  <a:pt x="0" y="1897380"/>
                </a:quadBezTo>
                <a:lnTo>
                  <a:pt x="0" y="114300"/>
                </a:lnTo>
                <a:quadBezTo>
                  <a:pt x="0" y="0"/>
                  <a:pt x="114300" y="0"/>
                </a:quadBezTo>
                <a:close/>
              </a:path>
            </a:pathLst>
          </a:custGeom>
          <a:ln w="9525">
            <a:solidFill>
              <a:srgbClr val="102426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876474" y="3282696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32" name="ocean:label"/>
          <p:cNvSpPr/>
          <p:nvPr/>
        </p:nvSpPr>
        <p:spPr>
          <a:xfrm>
            <a:off x="749808" y="3246120"/>
            <a:ext cx="17791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spc="263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ARRAY SIZE</a:t>
            </a:r>
            <a:endParaRPr lang="en-US" sz="1050" dirty="0"/>
          </a:p>
        </p:txBody>
      </p:sp>
      <p:sp>
        <p:nvSpPr>
          <p:cNvPr id="33" name="ocean:metric"/>
          <p:cNvSpPr/>
          <p:nvPr/>
        </p:nvSpPr>
        <p:spPr>
          <a:xfrm>
            <a:off x="749808" y="3703320"/>
            <a:ext cx="22363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spc="-68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412 kW</a:t>
            </a:r>
            <a:endParaRPr lang="en-US" sz="3400" dirty="0"/>
          </a:p>
        </p:txBody>
      </p:sp>
      <p:sp>
        <p:nvSpPr>
          <p:cNvPr id="34" name="ocean:label"/>
          <p:cNvSpPr/>
          <p:nvPr/>
        </p:nvSpPr>
        <p:spPr>
          <a:xfrm>
            <a:off x="749808" y="4370832"/>
            <a:ext cx="2199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After keep-outs</a:t>
            </a:r>
            <a:endParaRPr lang="en-US" sz="1200" dirty="0"/>
          </a:p>
        </p:txBody>
      </p:sp>
      <p:sp>
        <p:nvSpPr>
          <p:cNvPr id="35" name="ocean:frame"/>
          <p:cNvSpPr/>
          <p:nvPr/>
        </p:nvSpPr>
        <p:spPr>
          <a:xfrm>
            <a:off x="3379394" y="3044952"/>
            <a:ext cx="2602154" cy="2011680"/>
          </a:xfrm>
          <a:custGeom>
            <a:avLst/>
            <a:gdLst/>
            <a:ahLst/>
            <a:cxnLst/>
            <a:rect l="l" t="t" r="r" b="b"/>
            <a:pathLst>
              <a:path w="2602154" h="2011680">
                <a:moveTo>
                  <a:pt x="114300" y="0"/>
                </a:moveTo>
                <a:lnTo>
                  <a:pt x="2487854" y="0"/>
                </a:lnTo>
                <a:quadBezTo>
                  <a:pt x="2602154" y="0"/>
                  <a:pt x="2602154" y="114300"/>
                </a:quadBezTo>
                <a:lnTo>
                  <a:pt x="2602154" y="1783080"/>
                </a:lnTo>
                <a:lnTo>
                  <a:pt x="2373554" y="2011680"/>
                </a:lnTo>
                <a:lnTo>
                  <a:pt x="114300" y="2011680"/>
                </a:lnTo>
                <a:quadBezTo>
                  <a:pt x="0" y="2011680"/>
                  <a:pt x="0" y="1897380"/>
                </a:quadBezTo>
                <a:lnTo>
                  <a:pt x="0" y="114300"/>
                </a:lnTo>
                <a:quadBezTo>
                  <a:pt x="0" y="0"/>
                  <a:pt x="114300" y="0"/>
                </a:quadBezTo>
                <a:close/>
              </a:path>
            </a:pathLst>
          </a:custGeom>
          <a:ln w="9525">
            <a:solidFill>
              <a:srgbClr val="102426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5707228" y="3282696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5567528" y="3282696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38" name="ocean:label"/>
          <p:cNvSpPr/>
          <p:nvPr/>
        </p:nvSpPr>
        <p:spPr>
          <a:xfrm>
            <a:off x="3580562" y="3246120"/>
            <a:ext cx="17791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spc="263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STORAGE</a:t>
            </a:r>
            <a:endParaRPr lang="en-US" sz="1050" dirty="0"/>
          </a:p>
        </p:txBody>
      </p:sp>
      <p:sp>
        <p:nvSpPr>
          <p:cNvPr id="39" name="ocean:metric"/>
          <p:cNvSpPr/>
          <p:nvPr/>
        </p:nvSpPr>
        <p:spPr>
          <a:xfrm>
            <a:off x="3580562" y="3703320"/>
            <a:ext cx="22363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spc="-68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1.2 MWh</a:t>
            </a:r>
            <a:endParaRPr lang="en-US" sz="3400" dirty="0"/>
          </a:p>
        </p:txBody>
      </p:sp>
      <p:sp>
        <p:nvSpPr>
          <p:cNvPr id="40" name="ocean:label"/>
          <p:cNvSpPr/>
          <p:nvPr/>
        </p:nvSpPr>
        <p:spPr>
          <a:xfrm>
            <a:off x="3580562" y="4370832"/>
            <a:ext cx="2199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Two cabinets</a:t>
            </a:r>
            <a:endParaRPr lang="en-US" sz="1200" dirty="0"/>
          </a:p>
        </p:txBody>
      </p:sp>
      <p:sp>
        <p:nvSpPr>
          <p:cNvPr id="41" name="ocean:frame"/>
          <p:cNvSpPr/>
          <p:nvPr/>
        </p:nvSpPr>
        <p:spPr>
          <a:xfrm>
            <a:off x="6210148" y="3044952"/>
            <a:ext cx="2602154" cy="2011680"/>
          </a:xfrm>
          <a:custGeom>
            <a:avLst/>
            <a:gdLst/>
            <a:ahLst/>
            <a:cxnLst/>
            <a:rect l="l" t="t" r="r" b="b"/>
            <a:pathLst>
              <a:path w="2602154" h="2011680">
                <a:moveTo>
                  <a:pt x="114300" y="0"/>
                </a:moveTo>
                <a:lnTo>
                  <a:pt x="2487854" y="0"/>
                </a:lnTo>
                <a:quadBezTo>
                  <a:pt x="2602154" y="0"/>
                  <a:pt x="2602154" y="114300"/>
                </a:quadBezTo>
                <a:lnTo>
                  <a:pt x="2602154" y="1783080"/>
                </a:lnTo>
                <a:lnTo>
                  <a:pt x="2373554" y="2011680"/>
                </a:lnTo>
                <a:lnTo>
                  <a:pt x="114300" y="2011680"/>
                </a:lnTo>
                <a:quadBezTo>
                  <a:pt x="0" y="2011680"/>
                  <a:pt x="0" y="1897380"/>
                </a:quadBezTo>
                <a:lnTo>
                  <a:pt x="0" y="114300"/>
                </a:lnTo>
                <a:quadBezTo>
                  <a:pt x="0" y="0"/>
                  <a:pt x="114300" y="0"/>
                </a:quadBezTo>
                <a:close/>
              </a:path>
            </a:pathLst>
          </a:custGeom>
          <a:ln w="9525">
            <a:solidFill>
              <a:srgbClr val="102426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8537981" y="3282696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8398281" y="3282696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8258581" y="3282696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45" name="ocean:label"/>
          <p:cNvSpPr/>
          <p:nvPr/>
        </p:nvSpPr>
        <p:spPr>
          <a:xfrm>
            <a:off x="6411316" y="3246120"/>
            <a:ext cx="17791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spc="263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SERVICE</a:t>
            </a:r>
            <a:endParaRPr lang="en-US" sz="1050" dirty="0"/>
          </a:p>
        </p:txBody>
      </p:sp>
      <p:sp>
        <p:nvSpPr>
          <p:cNvPr id="46" name="ocean:metric"/>
          <p:cNvSpPr/>
          <p:nvPr/>
        </p:nvSpPr>
        <p:spPr>
          <a:xfrm>
            <a:off x="6411316" y="3703320"/>
            <a:ext cx="22363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spc="-68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2,000 A</a:t>
            </a:r>
            <a:endParaRPr lang="en-US" sz="3400" dirty="0"/>
          </a:p>
        </p:txBody>
      </p:sp>
      <p:sp>
        <p:nvSpPr>
          <p:cNvPr id="47" name="ocean:label"/>
          <p:cNvSpPr/>
          <p:nvPr/>
        </p:nvSpPr>
        <p:spPr>
          <a:xfrm>
            <a:off x="6411316" y="4370832"/>
            <a:ext cx="2199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To be confirmed</a:t>
            </a:r>
            <a:endParaRPr lang="en-US" sz="1200" dirty="0"/>
          </a:p>
        </p:txBody>
      </p:sp>
      <p:sp>
        <p:nvSpPr>
          <p:cNvPr id="48" name="ocean:frame"/>
          <p:cNvSpPr/>
          <p:nvPr/>
        </p:nvSpPr>
        <p:spPr>
          <a:xfrm>
            <a:off x="9040901" y="3044952"/>
            <a:ext cx="2602154" cy="2011680"/>
          </a:xfrm>
          <a:custGeom>
            <a:avLst/>
            <a:gdLst/>
            <a:ahLst/>
            <a:cxnLst/>
            <a:rect l="l" t="t" r="r" b="b"/>
            <a:pathLst>
              <a:path w="2602154" h="2011680">
                <a:moveTo>
                  <a:pt x="114300" y="0"/>
                </a:moveTo>
                <a:lnTo>
                  <a:pt x="2487854" y="0"/>
                </a:lnTo>
                <a:quadBezTo>
                  <a:pt x="2602154" y="0"/>
                  <a:pt x="2602154" y="114300"/>
                </a:quadBezTo>
                <a:lnTo>
                  <a:pt x="2602154" y="1783080"/>
                </a:lnTo>
                <a:lnTo>
                  <a:pt x="2373554" y="2011680"/>
                </a:lnTo>
                <a:lnTo>
                  <a:pt x="114300" y="2011680"/>
                </a:lnTo>
                <a:quadBezTo>
                  <a:pt x="0" y="2011680"/>
                  <a:pt x="0" y="1897380"/>
                </a:quadBezTo>
                <a:lnTo>
                  <a:pt x="0" y="114300"/>
                </a:lnTo>
                <a:quadBezTo>
                  <a:pt x="0" y="0"/>
                  <a:pt x="114300" y="0"/>
                </a:quadBezTo>
                <a:close/>
              </a:path>
            </a:pathLst>
          </a:custGeom>
          <a:solidFill>
            <a:srgbClr val="102426"/>
          </a:solidFill>
          <a:ln w="9525">
            <a:solidFill>
              <a:srgbClr val="102426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11368735" y="3282696"/>
            <a:ext cx="82550" cy="82550"/>
          </a:xfrm>
          <a:prstGeom prst="diamond">
            <a:avLst/>
          </a:prstGeom>
          <a:solidFill>
            <a:srgbClr val="F3FBF8"/>
          </a:solidFill>
          <a:ln w="12700">
            <a:solidFill>
              <a:srgbClr val="F3FBF8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11229035" y="3282696"/>
            <a:ext cx="82550" cy="82550"/>
          </a:xfrm>
          <a:prstGeom prst="diamond">
            <a:avLst/>
          </a:prstGeom>
          <a:solidFill>
            <a:srgbClr val="F3FBF8"/>
          </a:solidFill>
          <a:ln w="12700">
            <a:solidFill>
              <a:srgbClr val="F3FBF8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11089335" y="3282696"/>
            <a:ext cx="82550" cy="82550"/>
          </a:xfrm>
          <a:prstGeom prst="diamond">
            <a:avLst/>
          </a:prstGeom>
          <a:solidFill>
            <a:srgbClr val="F3FBF8"/>
          </a:solidFill>
          <a:ln w="12700">
            <a:solidFill>
              <a:srgbClr val="F3FBF8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10949635" y="3282696"/>
            <a:ext cx="82550" cy="82550"/>
          </a:xfrm>
          <a:prstGeom prst="diamond">
            <a:avLst/>
          </a:prstGeom>
          <a:solidFill>
            <a:srgbClr val="F3FBF8"/>
          </a:solidFill>
          <a:ln w="12700">
            <a:solidFill>
              <a:srgbClr val="F3FBF8"/>
            </a:solidFill>
            <a:prstDash val="solid"/>
          </a:ln>
        </p:spPr>
      </p:sp>
      <p:sp>
        <p:nvSpPr>
          <p:cNvPr id="53" name="ocean:label"/>
          <p:cNvSpPr/>
          <p:nvPr/>
        </p:nvSpPr>
        <p:spPr>
          <a:xfrm>
            <a:off x="9242069" y="3246120"/>
            <a:ext cx="17791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spc="263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PAYBACK</a:t>
            </a:r>
            <a:endParaRPr lang="en-US" sz="1050" dirty="0"/>
          </a:p>
        </p:txBody>
      </p:sp>
      <p:sp>
        <p:nvSpPr>
          <p:cNvPr id="54" name="ocean:metric"/>
          <p:cNvSpPr/>
          <p:nvPr/>
        </p:nvSpPr>
        <p:spPr>
          <a:xfrm>
            <a:off x="9242069" y="3703320"/>
            <a:ext cx="22363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b="1" spc="-68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6.4 yrs</a:t>
            </a:r>
            <a:endParaRPr lang="en-US" sz="3400" dirty="0"/>
          </a:p>
        </p:txBody>
      </p:sp>
      <p:sp>
        <p:nvSpPr>
          <p:cNvPr id="55" name="ocean:label"/>
          <p:cNvSpPr/>
          <p:nvPr/>
        </p:nvSpPr>
        <p:spPr>
          <a:xfrm>
            <a:off x="9242069" y="4370832"/>
            <a:ext cx="2199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After incentives</a:t>
            </a:r>
            <a:endParaRPr lang="en-US" sz="1200" dirty="0"/>
          </a:p>
        </p:txBody>
      </p:sp>
      <p:sp>
        <p:nvSpPr>
          <p:cNvPr id="56" name="ocean:bottom-line"/>
          <p:cNvSpPr/>
          <p:nvPr/>
        </p:nvSpPr>
        <p:spPr>
          <a:xfrm>
            <a:off x="548640" y="5559552"/>
            <a:ext cx="11094415" cy="493776"/>
          </a:xfrm>
          <a:custGeom>
            <a:avLst/>
            <a:gdLst/>
            <a:ahLst/>
            <a:cxnLst/>
            <a:rect l="l" t="t" r="r" b="b"/>
            <a:pathLst>
              <a:path w="11094415" h="493776">
                <a:moveTo>
                  <a:pt x="63500" y="0"/>
                </a:moveTo>
                <a:lnTo>
                  <a:pt x="11030915" y="0"/>
                </a:lnTo>
                <a:quadBezTo>
                  <a:pt x="11094415" y="0"/>
                  <a:pt x="11094415" y="63500"/>
                </a:quadBezTo>
                <a:lnTo>
                  <a:pt x="11094415" y="341376"/>
                </a:lnTo>
                <a:lnTo>
                  <a:pt x="10942015" y="493776"/>
                </a:lnTo>
                <a:lnTo>
                  <a:pt x="63500" y="493776"/>
                </a:lnTo>
                <a:quadBezTo>
                  <a:pt x="0" y="493776"/>
                  <a:pt x="0" y="430276"/>
                </a:quadBezTo>
                <a:lnTo>
                  <a:pt x="0" y="63500"/>
                </a:lnTo>
                <a:quadBezTo>
                  <a:pt x="0" y="0"/>
                  <a:pt x="63500" y="0"/>
                </a:quadBezTo>
                <a:close/>
              </a:path>
            </a:pathLst>
          </a:cu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731520" y="5755640"/>
            <a:ext cx="101600" cy="101600"/>
          </a:xfrm>
          <a:prstGeom prst="diamond">
            <a:avLst/>
          </a:prstGeom>
          <a:solidFill>
            <a:srgbClr val="EB3819"/>
          </a:solidFill>
          <a:ln w="12700">
            <a:solidFill>
              <a:srgbClr val="EB3819"/>
            </a:solidFill>
            <a:prstDash val="solid"/>
          </a:ln>
        </p:spPr>
      </p:sp>
      <p:sp>
        <p:nvSpPr>
          <p:cNvPr id="58" name="ocean:label"/>
          <p:cNvSpPr/>
          <p:nvPr/>
        </p:nvSpPr>
        <p:spPr>
          <a:xfrm>
            <a:off x="960120" y="5715000"/>
            <a:ext cx="1274318" cy="18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BOTTOM LINE</a:t>
            </a:r>
            <a:endParaRPr lang="en-US" sz="1000" dirty="0"/>
          </a:p>
        </p:txBody>
      </p:sp>
      <p:sp>
        <p:nvSpPr>
          <p:cNvPr id="59" name="ocean:bottom-line"/>
          <p:cNvSpPr/>
          <p:nvPr/>
        </p:nvSpPr>
        <p:spPr>
          <a:xfrm>
            <a:off x="2325878" y="5669280"/>
            <a:ext cx="908857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500" b="1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Payback in 6.4 years with the existing service.</a:t>
            </a:r>
            <a:endParaRPr lang="en-US" sz="1500" dirty="0"/>
          </a:p>
        </p:txBody>
      </p:sp>
      <p:sp>
        <p:nvSpPr>
          <p:cNvPr id="60" name="ocean:footnote"/>
          <p:cNvSpPr/>
          <p:nvPr/>
        </p:nvSpPr>
        <p:spPr>
          <a:xfrm>
            <a:off x="548640" y="5239512"/>
            <a:ext cx="110944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ILLUSTRATIVE FIGURES · SPECIMEN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5CC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1B4039"/>
            </a:solidFill>
            <a:prstDash val="solid"/>
          </a:ln>
        </p:spPr>
      </p:sp>
      <p:pic>
        <p:nvPicPr>
          <p:cNvPr id="3" name="ocean:logo-horizontal" descr="/home/user/workspace/audit/repo/assets/logos/png/logo_horizontal_ced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05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8" name="ocean:header"/>
          <p:cNvSpPr/>
          <p:nvPr/>
        </p:nvSpPr>
        <p:spPr>
          <a:xfrm>
            <a:off x="3751072" y="551688"/>
            <a:ext cx="4079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241305" y="515112"/>
            <a:ext cx="635279" cy="237744"/>
          </a:xfrm>
          <a:prstGeom prst="rect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10" name="ocean:header"/>
          <p:cNvSpPr/>
          <p:nvPr/>
        </p:nvSpPr>
        <p:spPr>
          <a:xfrm>
            <a:off x="4305313" y="551688"/>
            <a:ext cx="63527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D5CCA0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SYSTEM</a:t>
            </a:r>
            <a:endParaRPr lang="en-US" sz="900" dirty="0"/>
          </a:p>
        </p:txBody>
      </p:sp>
      <p:sp>
        <p:nvSpPr>
          <p:cNvPr id="11" name="ocean:header"/>
          <p:cNvSpPr/>
          <p:nvPr/>
        </p:nvSpPr>
        <p:spPr>
          <a:xfrm>
            <a:off x="5086896" y="551688"/>
            <a:ext cx="91417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</a:t>
            </a:r>
            <a:endParaRPr lang="en-US" sz="900" dirty="0"/>
          </a:p>
        </p:txBody>
      </p:sp>
      <p:sp>
        <p:nvSpPr>
          <p:cNvPr id="12" name="ocean:header"/>
          <p:cNvSpPr/>
          <p:nvPr/>
        </p:nvSpPr>
        <p:spPr>
          <a:xfrm>
            <a:off x="6147372" y="551688"/>
            <a:ext cx="918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4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900" dirty="0"/>
          </a:p>
        </p:txBody>
      </p:sp>
      <p:sp>
        <p:nvSpPr>
          <p:cNvPr id="15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7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966655" y="329184"/>
            <a:ext cx="558800" cy="609600"/>
          </a:xfrm>
          <a:prstGeom prst="rect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20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D5CCA0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2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4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 SYSTEM</a:t>
            </a:r>
            <a:endParaRPr lang="en-US" sz="1100" dirty="0"/>
          </a:p>
        </p:txBody>
      </p:sp>
      <p:sp>
        <p:nvSpPr>
          <p:cNvPr id="26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Built and verified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by our own crews</a:t>
            </a:r>
            <a:endParaRPr lang="en-US" sz="3500" dirty="0"/>
          </a:p>
        </p:txBody>
      </p:sp>
      <p:sp>
        <p:nvSpPr>
          <p:cNvPr id="27" name="Shape 24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8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DESIGN SPECIMEN · DO NOT USE</a:t>
            </a:r>
            <a:endParaRPr lang="en-US" sz="900" dirty="0"/>
          </a:p>
        </p:txBody>
      </p:sp>
      <p:sp>
        <p:nvSpPr>
          <p:cNvPr id="29" name="ocean:statement"/>
          <p:cNvSpPr/>
          <p:nvPr/>
        </p:nvSpPr>
        <p:spPr>
          <a:xfrm>
            <a:off x="548640" y="3044952"/>
            <a:ext cx="5120640" cy="3218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Every cabinet is</a:t>
            </a:r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 </a:t>
            </a:r>
            <a:pPr algn="l" indent="0" marL="0">
              <a:lnSpc>
                <a:spcPts val="3300"/>
              </a:lnSpc>
              <a:buNone/>
            </a:pPr>
            <a:r>
              <a:rPr lang="en-US" sz="2600" b="1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tested, torqued</a:t>
            </a:r>
            <a:endParaRPr lang="en-US" sz="2600" dirty="0"/>
          </a:p>
          <a:p>
            <a:pPr algn="l" indent="0" marL="0">
              <a:lnSpc>
                <a:spcPts val="3300"/>
              </a:lnSpc>
              <a:buNone/>
            </a:pPr>
            <a:r>
              <a:rPr lang="en-US" sz="2600" b="1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and logged</a:t>
            </a:r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 </a:t>
            </a:r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before handover.</a:t>
            </a:r>
            <a:endParaRPr lang="en-US" sz="2600" dirty="0"/>
          </a:p>
          <a:p>
            <a:pPr algn="l" indent="0" marL="0">
              <a:lnSpc>
                <a:spcPts val="3300"/>
              </a:lnSpc>
              <a:buNone/>
            </a:pPr>
            <a:r>
              <a:rPr lang="en-US" sz="2600" b="1" dirty="0">
                <a:solidFill>
                  <a:srgbClr val="D5CCA0"/>
                </a:solidFill>
                <a:highlight>
                  <a:srgbClr val="1B4039"/>
                </a:highlight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 One team </a:t>
            </a:r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 </a:t>
            </a:r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owns the work</a:t>
            </a:r>
            <a:endParaRPr lang="en-US" sz="2600" dirty="0"/>
          </a:p>
          <a:p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from design to commissioning.</a:t>
            </a:r>
            <a:endParaRPr lang="en-US" sz="2600" dirty="0"/>
          </a:p>
        </p:txBody>
      </p:sp>
      <p:pic>
        <p:nvPicPr>
          <p:cNvPr id="30" name="ocean:photo" descr="/home/user/workspace/audit/repo/output/.cache/fit/worker-bde126986fe58e0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3044952"/>
            <a:ext cx="5010912" cy="3218688"/>
          </a:xfrm>
          <a:prstGeom prst="rect">
            <a:avLst/>
          </a:prstGeom>
        </p:spPr>
      </p:pic>
      <p:sp>
        <p:nvSpPr>
          <p:cNvPr id="31" name="Shape 27"/>
          <p:cNvSpPr/>
          <p:nvPr/>
        </p:nvSpPr>
        <p:spPr>
          <a:xfrm flipV="1">
            <a:off x="6624828" y="3040380"/>
            <a:ext cx="279400" cy="279400"/>
          </a:xfrm>
          <a:prstGeom prst="rtTriangle">
            <a:avLst/>
          </a:prstGeom>
          <a:solidFill>
            <a:srgbClr val="D5CCA0"/>
          </a:solidFill>
          <a:ln w="12700">
            <a:solidFill>
              <a:srgbClr val="D5CCA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5CC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1B4039"/>
            </a:solidFill>
            <a:prstDash val="solid"/>
          </a:ln>
        </p:spPr>
      </p:sp>
      <p:pic>
        <p:nvPicPr>
          <p:cNvPr id="3" name="ocean:logo-horizontal" descr="/home/user/workspace/audit/repo/assets/logos/png/logo_horizontal_ced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06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8" name="ocean:header"/>
          <p:cNvSpPr/>
          <p:nvPr/>
        </p:nvSpPr>
        <p:spPr>
          <a:xfrm>
            <a:off x="3751072" y="551688"/>
            <a:ext cx="4079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241305" y="515112"/>
            <a:ext cx="635279" cy="237744"/>
          </a:xfrm>
          <a:prstGeom prst="rect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10" name="ocean:header"/>
          <p:cNvSpPr/>
          <p:nvPr/>
        </p:nvSpPr>
        <p:spPr>
          <a:xfrm>
            <a:off x="4305313" y="551688"/>
            <a:ext cx="63527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D5CCA0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SYSTEM</a:t>
            </a:r>
            <a:endParaRPr lang="en-US" sz="900" dirty="0"/>
          </a:p>
        </p:txBody>
      </p:sp>
      <p:sp>
        <p:nvSpPr>
          <p:cNvPr id="11" name="ocean:header"/>
          <p:cNvSpPr/>
          <p:nvPr/>
        </p:nvSpPr>
        <p:spPr>
          <a:xfrm>
            <a:off x="5086896" y="551688"/>
            <a:ext cx="91417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</a:t>
            </a:r>
            <a:endParaRPr lang="en-US" sz="900" dirty="0"/>
          </a:p>
        </p:txBody>
      </p:sp>
      <p:sp>
        <p:nvSpPr>
          <p:cNvPr id="12" name="ocean:header"/>
          <p:cNvSpPr/>
          <p:nvPr/>
        </p:nvSpPr>
        <p:spPr>
          <a:xfrm>
            <a:off x="6147372" y="551688"/>
            <a:ext cx="918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4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900" dirty="0"/>
          </a:p>
        </p:txBody>
      </p:sp>
      <p:sp>
        <p:nvSpPr>
          <p:cNvPr id="15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7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966655" y="329184"/>
            <a:ext cx="558800" cy="609600"/>
          </a:xfrm>
          <a:prstGeom prst="rect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20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D5CCA0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2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4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 SYSTEM</a:t>
            </a:r>
            <a:endParaRPr lang="en-US" sz="1100" dirty="0"/>
          </a:p>
        </p:txBody>
      </p:sp>
      <p:sp>
        <p:nvSpPr>
          <p:cNvPr id="26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Three parts, one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integrated system</a:t>
            </a:r>
            <a:endParaRPr lang="en-US" sz="3500" dirty="0"/>
          </a:p>
        </p:txBody>
      </p:sp>
      <p:sp>
        <p:nvSpPr>
          <p:cNvPr id="27" name="ocean:lede"/>
          <p:cNvSpPr/>
          <p:nvPr/>
        </p:nvSpPr>
        <p:spPr>
          <a:xfrm>
            <a:off x="7040880" y="1572768"/>
            <a:ext cx="4602175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EACH PART IS ENGINEERED TO THE SITE.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9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DESIGN SPECIMEN · DO NOT USE</a:t>
            </a:r>
            <a:endParaRPr lang="en-US" sz="900" dirty="0"/>
          </a:p>
        </p:txBody>
      </p:sp>
      <p:sp>
        <p:nvSpPr>
          <p:cNvPr id="30" name="ocean:frame"/>
          <p:cNvSpPr/>
          <p:nvPr/>
        </p:nvSpPr>
        <p:spPr>
          <a:xfrm>
            <a:off x="548640" y="3044952"/>
            <a:ext cx="3515258" cy="3127248"/>
          </a:xfrm>
          <a:custGeom>
            <a:avLst/>
            <a:gdLst/>
            <a:ahLst/>
            <a:cxnLst/>
            <a:rect l="l" t="t" r="r" b="b"/>
            <a:pathLst>
              <a:path w="3515258" h="3127248">
                <a:moveTo>
                  <a:pt x="114300" y="0"/>
                </a:moveTo>
                <a:lnTo>
                  <a:pt x="3400958" y="0"/>
                </a:lnTo>
                <a:quadBezTo>
                  <a:pt x="3515258" y="0"/>
                  <a:pt x="3515258" y="114300"/>
                </a:quadBezTo>
                <a:lnTo>
                  <a:pt x="3515258" y="2898648"/>
                </a:lnTo>
                <a:lnTo>
                  <a:pt x="3286658" y="3127248"/>
                </a:lnTo>
                <a:lnTo>
                  <a:pt x="114300" y="3127248"/>
                </a:lnTo>
                <a:quadBezTo>
                  <a:pt x="0" y="3127248"/>
                  <a:pt x="0" y="3012948"/>
                </a:quadBezTo>
                <a:lnTo>
                  <a:pt x="0" y="114300"/>
                </a:lnTo>
                <a:quadBezTo>
                  <a:pt x="0" y="0"/>
                  <a:pt x="114300" y="0"/>
                </a:quadBezTo>
                <a:close/>
              </a:path>
            </a:pathLst>
          </a:custGeom>
          <a:ln w="9525">
            <a:solidFill>
              <a:srgbClr val="1B4039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3743858" y="3282696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32" name="ocean:label"/>
          <p:cNvSpPr/>
          <p:nvPr/>
        </p:nvSpPr>
        <p:spPr>
          <a:xfrm>
            <a:off x="777240" y="32461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2"/>
              </a:lnSpc>
              <a:buNone/>
            </a:pPr>
            <a:r>
              <a:rPr lang="en-US" sz="1050" spc="263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01</a:t>
            </a:r>
            <a:endParaRPr lang="en-US" sz="1050" dirty="0"/>
          </a:p>
        </p:txBody>
      </p:sp>
      <p:sp>
        <p:nvSpPr>
          <p:cNvPr id="33" name="ocean:section"/>
          <p:cNvSpPr/>
          <p:nvPr/>
        </p:nvSpPr>
        <p:spPr>
          <a:xfrm>
            <a:off x="777240" y="3703320"/>
            <a:ext cx="30580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200" spc="-22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Solar array</a:t>
            </a:r>
            <a:endParaRPr lang="en-US" sz="2200" dirty="0"/>
          </a:p>
        </p:txBody>
      </p:sp>
      <p:sp>
        <p:nvSpPr>
          <p:cNvPr id="34" name="ocean:body"/>
          <p:cNvSpPr/>
          <p:nvPr/>
        </p:nvSpPr>
        <p:spPr>
          <a:xfrm>
            <a:off x="777240" y="4645152"/>
            <a:ext cx="305805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412 kW DC on the new TPO roof, laid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out around keep-outs and access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paths.</a:t>
            </a:r>
            <a:endParaRPr lang="en-US" sz="1300" dirty="0"/>
          </a:p>
        </p:txBody>
      </p:sp>
      <p:sp>
        <p:nvSpPr>
          <p:cNvPr id="35" name="ocean:frame"/>
          <p:cNvSpPr/>
          <p:nvPr/>
        </p:nvSpPr>
        <p:spPr>
          <a:xfrm>
            <a:off x="4338218" y="3044952"/>
            <a:ext cx="3515258" cy="3127248"/>
          </a:xfrm>
          <a:custGeom>
            <a:avLst/>
            <a:gdLst/>
            <a:ahLst/>
            <a:cxnLst/>
            <a:rect l="l" t="t" r="r" b="b"/>
            <a:pathLst>
              <a:path w="3515258" h="3127248">
                <a:moveTo>
                  <a:pt x="114300" y="0"/>
                </a:moveTo>
                <a:lnTo>
                  <a:pt x="3400958" y="0"/>
                </a:lnTo>
                <a:quadBezTo>
                  <a:pt x="3515258" y="0"/>
                  <a:pt x="3515258" y="114300"/>
                </a:quadBezTo>
                <a:lnTo>
                  <a:pt x="3515258" y="2898648"/>
                </a:lnTo>
                <a:lnTo>
                  <a:pt x="3286658" y="3127248"/>
                </a:lnTo>
                <a:lnTo>
                  <a:pt x="114300" y="3127248"/>
                </a:lnTo>
                <a:quadBezTo>
                  <a:pt x="0" y="3127248"/>
                  <a:pt x="0" y="3012948"/>
                </a:quadBezTo>
                <a:lnTo>
                  <a:pt x="0" y="114300"/>
                </a:lnTo>
                <a:quadBezTo>
                  <a:pt x="0" y="0"/>
                  <a:pt x="114300" y="0"/>
                </a:quadBezTo>
                <a:close/>
              </a:path>
            </a:pathLst>
          </a:custGeom>
          <a:ln w="9525">
            <a:solidFill>
              <a:srgbClr val="1B4039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533437" y="3282696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7393737" y="3282696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38" name="ocean:label"/>
          <p:cNvSpPr/>
          <p:nvPr/>
        </p:nvSpPr>
        <p:spPr>
          <a:xfrm>
            <a:off x="4566818" y="32461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2"/>
              </a:lnSpc>
              <a:buNone/>
            </a:pPr>
            <a:r>
              <a:rPr lang="en-US" sz="1050" spc="263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02</a:t>
            </a:r>
            <a:endParaRPr lang="en-US" sz="1050" dirty="0"/>
          </a:p>
        </p:txBody>
      </p:sp>
      <p:sp>
        <p:nvSpPr>
          <p:cNvPr id="39" name="ocean:section"/>
          <p:cNvSpPr/>
          <p:nvPr/>
        </p:nvSpPr>
        <p:spPr>
          <a:xfrm>
            <a:off x="4566818" y="3703320"/>
            <a:ext cx="30580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200" spc="-22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Battery storage</a:t>
            </a:r>
            <a:endParaRPr lang="en-US" sz="2200" dirty="0"/>
          </a:p>
        </p:txBody>
      </p:sp>
      <p:sp>
        <p:nvSpPr>
          <p:cNvPr id="40" name="ocean:body"/>
          <p:cNvSpPr/>
          <p:nvPr/>
        </p:nvSpPr>
        <p:spPr>
          <a:xfrm>
            <a:off x="4566818" y="4645152"/>
            <a:ext cx="305805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Two 600 kWh cabinets shave peaks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and carry critical loads.</a:t>
            </a:r>
            <a:endParaRPr lang="en-US" sz="1300" dirty="0"/>
          </a:p>
        </p:txBody>
      </p:sp>
      <p:sp>
        <p:nvSpPr>
          <p:cNvPr id="41" name="ocean:frame"/>
          <p:cNvSpPr/>
          <p:nvPr/>
        </p:nvSpPr>
        <p:spPr>
          <a:xfrm>
            <a:off x="8127797" y="3044952"/>
            <a:ext cx="3515258" cy="3127248"/>
          </a:xfrm>
          <a:custGeom>
            <a:avLst/>
            <a:gdLst/>
            <a:ahLst/>
            <a:cxnLst/>
            <a:rect l="l" t="t" r="r" b="b"/>
            <a:pathLst>
              <a:path w="3515258" h="3127248">
                <a:moveTo>
                  <a:pt x="114300" y="0"/>
                </a:moveTo>
                <a:lnTo>
                  <a:pt x="3400958" y="0"/>
                </a:lnTo>
                <a:quadBezTo>
                  <a:pt x="3515258" y="0"/>
                  <a:pt x="3515258" y="114300"/>
                </a:quadBezTo>
                <a:lnTo>
                  <a:pt x="3515258" y="2898648"/>
                </a:lnTo>
                <a:lnTo>
                  <a:pt x="3286658" y="3127248"/>
                </a:lnTo>
                <a:lnTo>
                  <a:pt x="114300" y="3127248"/>
                </a:lnTo>
                <a:quadBezTo>
                  <a:pt x="0" y="3127248"/>
                  <a:pt x="0" y="3012948"/>
                </a:quadBezTo>
                <a:lnTo>
                  <a:pt x="0" y="114300"/>
                </a:lnTo>
                <a:quadBezTo>
                  <a:pt x="0" y="0"/>
                  <a:pt x="114300" y="0"/>
                </a:quadBezTo>
                <a:close/>
              </a:path>
            </a:pathLst>
          </a:custGeom>
          <a:ln w="9525">
            <a:solidFill>
              <a:srgbClr val="1B4039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1323015" y="3282696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11183315" y="3282696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11043615" y="3282696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45" name="ocean:label"/>
          <p:cNvSpPr/>
          <p:nvPr/>
        </p:nvSpPr>
        <p:spPr>
          <a:xfrm>
            <a:off x="8356397" y="32461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2"/>
              </a:lnSpc>
              <a:buNone/>
            </a:pPr>
            <a:r>
              <a:rPr lang="en-US" sz="1050" spc="263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03</a:t>
            </a:r>
            <a:endParaRPr lang="en-US" sz="1050" dirty="0"/>
          </a:p>
        </p:txBody>
      </p:sp>
      <p:sp>
        <p:nvSpPr>
          <p:cNvPr id="46" name="ocean:section"/>
          <p:cNvSpPr/>
          <p:nvPr/>
        </p:nvSpPr>
        <p:spPr>
          <a:xfrm>
            <a:off x="8356397" y="3703320"/>
            <a:ext cx="30580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200" spc="-22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Interconnection</a:t>
            </a:r>
            <a:endParaRPr lang="en-US" sz="2200" dirty="0"/>
          </a:p>
        </p:txBody>
      </p:sp>
      <p:sp>
        <p:nvSpPr>
          <p:cNvPr id="47" name="ocean:body"/>
          <p:cNvSpPr/>
          <p:nvPr/>
        </p:nvSpPr>
        <p:spPr>
          <a:xfrm>
            <a:off x="8356397" y="4645152"/>
            <a:ext cx="305805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 line-side tap on the existing 2,000 A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service, subject to utility approval.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6E734C"/>
            </a:solidFill>
            <a:prstDash val="solid"/>
          </a:ln>
        </p:spPr>
      </p:sp>
      <p:pic>
        <p:nvPicPr>
          <p:cNvPr id="3" name="ocean:logo-horizontal" descr="/home/user/workspace/audit/repo/assets/logos/png/logo_horizontal_oli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6E734C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07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8" name="ocean:header"/>
          <p:cNvSpPr/>
          <p:nvPr/>
        </p:nvSpPr>
        <p:spPr>
          <a:xfrm>
            <a:off x="3751072" y="551688"/>
            <a:ext cx="4079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</a:t>
            </a:r>
            <a:endParaRPr lang="en-US" sz="900" dirty="0"/>
          </a:p>
        </p:txBody>
      </p:sp>
      <p:sp>
        <p:nvSpPr>
          <p:cNvPr id="9" name="ocean:header"/>
          <p:cNvSpPr/>
          <p:nvPr/>
        </p:nvSpPr>
        <p:spPr>
          <a:xfrm>
            <a:off x="4305313" y="551688"/>
            <a:ext cx="63527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SYSTEM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5022888" y="515112"/>
            <a:ext cx="914171" cy="237744"/>
          </a:xfrm>
          <a:prstGeom prst="rect">
            <a:avLst/>
          </a:prstGeom>
          <a:solidFill>
            <a:srgbClr val="6E734C"/>
          </a:solidFill>
          <a:ln w="12700">
            <a:solidFill>
              <a:srgbClr val="6E734C"/>
            </a:solidFill>
            <a:prstDash val="solid"/>
          </a:ln>
        </p:spPr>
      </p:sp>
      <p:sp>
        <p:nvSpPr>
          <p:cNvPr id="11" name="ocean:header"/>
          <p:cNvSpPr/>
          <p:nvPr/>
        </p:nvSpPr>
        <p:spPr>
          <a:xfrm>
            <a:off x="5086896" y="551688"/>
            <a:ext cx="91417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</a:t>
            </a:r>
            <a:endParaRPr lang="en-US" sz="900" dirty="0"/>
          </a:p>
        </p:txBody>
      </p:sp>
      <p:sp>
        <p:nvSpPr>
          <p:cNvPr id="12" name="ocean:header"/>
          <p:cNvSpPr/>
          <p:nvPr/>
        </p:nvSpPr>
        <p:spPr>
          <a:xfrm>
            <a:off x="6147372" y="551688"/>
            <a:ext cx="918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14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6E734C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900" dirty="0"/>
          </a:p>
        </p:txBody>
      </p:sp>
      <p:sp>
        <p:nvSpPr>
          <p:cNvPr id="15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17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19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0525455" y="329184"/>
            <a:ext cx="558800" cy="609600"/>
          </a:xfrm>
          <a:prstGeom prst="rect">
            <a:avLst/>
          </a:prstGeom>
          <a:solidFill>
            <a:srgbClr val="6E734C"/>
          </a:solidFill>
          <a:ln w="12700">
            <a:solidFill>
              <a:srgbClr val="6E734C"/>
            </a:solidFill>
            <a:prstDash val="solid"/>
          </a:ln>
        </p:spPr>
      </p:sp>
      <p:sp>
        <p:nvSpPr>
          <p:cNvPr id="22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24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 ECONOMICS</a:t>
            </a:r>
            <a:endParaRPr lang="en-US" sz="1100" dirty="0"/>
          </a:p>
        </p:txBody>
      </p:sp>
      <p:sp>
        <p:nvSpPr>
          <p:cNvPr id="26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6E734C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Savings grow each year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6E734C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as utility rates rise</a:t>
            </a:r>
            <a:endParaRPr lang="en-US" sz="3500" dirty="0"/>
          </a:p>
        </p:txBody>
      </p:sp>
      <p:sp>
        <p:nvSpPr>
          <p:cNvPr id="27" name="ocean:lede"/>
          <p:cNvSpPr/>
          <p:nvPr/>
        </p:nvSpPr>
        <p:spPr>
          <a:xfrm>
            <a:off x="7040880" y="1572768"/>
            <a:ext cx="4602175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ANNUAL BILL SAVINGS, YEARS 1–10, $K. YEAR 10</a:t>
            </a:r>
            <a:endParaRPr lang="en-US" sz="1050" dirty="0"/>
          </a:p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HIGHLIGHTED.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29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6E734C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DESIGN SPECIMEN · DO NOT USE</a:t>
            </a:r>
            <a:endParaRPr lang="en-US" sz="900" dirty="0"/>
          </a:p>
        </p:txBody>
      </p:sp>
      <p:graphicFrame>
        <p:nvGraphicFramePr>
          <p:cNvPr id="30" name="Chart 0" descr=""/>
          <p:cNvGraphicFramePr/>
          <p:nvPr/>
        </p:nvGraphicFramePr>
        <p:xfrm>
          <a:off x="457200" y="2999232"/>
          <a:ext cx="8412480" cy="21671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1" name="Shape 27"/>
          <p:cNvSpPr/>
          <p:nvPr/>
        </p:nvSpPr>
        <p:spPr>
          <a:xfrm>
            <a:off x="9235440" y="3044952"/>
            <a:ext cx="2407615" cy="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32" name="ocean:takeaway"/>
          <p:cNvSpPr/>
          <p:nvPr/>
        </p:nvSpPr>
        <p:spPr>
          <a:xfrm>
            <a:off x="9235440" y="3227832"/>
            <a:ext cx="240761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800" dirty="0">
                <a:solidFill>
                  <a:srgbClr val="6E734C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Savings rise from</a:t>
            </a:r>
            <a:endParaRPr lang="en-US" sz="1800" dirty="0"/>
          </a:p>
          <a:p>
            <a:pPr algn="l" indent="0" marL="0">
              <a:lnSpc>
                <a:spcPts val="2300"/>
              </a:lnSpc>
              <a:buNone/>
            </a:pPr>
            <a:r>
              <a:rPr lang="en-US" sz="1800" dirty="0">
                <a:solidFill>
                  <a:srgbClr val="6E734C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$62K to $104K a year.</a:t>
            </a:r>
            <a:endParaRPr lang="en-US" sz="1800" dirty="0"/>
          </a:p>
        </p:txBody>
      </p:sp>
      <p:sp>
        <p:nvSpPr>
          <p:cNvPr id="33" name="ocean:bottom-line"/>
          <p:cNvSpPr/>
          <p:nvPr/>
        </p:nvSpPr>
        <p:spPr>
          <a:xfrm>
            <a:off x="548640" y="5559552"/>
            <a:ext cx="11094415" cy="493776"/>
          </a:xfrm>
          <a:custGeom>
            <a:avLst/>
            <a:gdLst/>
            <a:ahLst/>
            <a:cxnLst/>
            <a:rect l="l" t="t" r="r" b="b"/>
            <a:pathLst>
              <a:path w="11094415" h="493776">
                <a:moveTo>
                  <a:pt x="63500" y="0"/>
                </a:moveTo>
                <a:lnTo>
                  <a:pt x="11030915" y="0"/>
                </a:lnTo>
                <a:quadBezTo>
                  <a:pt x="11094415" y="0"/>
                  <a:pt x="11094415" y="63500"/>
                </a:quadBezTo>
                <a:lnTo>
                  <a:pt x="11094415" y="341376"/>
                </a:lnTo>
                <a:lnTo>
                  <a:pt x="10942015" y="493776"/>
                </a:lnTo>
                <a:lnTo>
                  <a:pt x="63500" y="493776"/>
                </a:lnTo>
                <a:quadBezTo>
                  <a:pt x="0" y="493776"/>
                  <a:pt x="0" y="430276"/>
                </a:quadBezTo>
                <a:lnTo>
                  <a:pt x="0" y="63500"/>
                </a:lnTo>
                <a:quadBezTo>
                  <a:pt x="0" y="0"/>
                  <a:pt x="63500" y="0"/>
                </a:quadBezTo>
                <a:close/>
              </a:path>
            </a:pathLst>
          </a:custGeom>
          <a:solidFill>
            <a:srgbClr val="6E734C"/>
          </a:solidFill>
          <a:ln w="12700">
            <a:solidFill>
              <a:srgbClr val="6E734C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731520" y="5755640"/>
            <a:ext cx="101600" cy="101600"/>
          </a:xfrm>
          <a:prstGeom prst="diamond">
            <a:avLst/>
          </a:prstGeom>
          <a:solidFill>
            <a:srgbClr val="F3FBF8"/>
          </a:solidFill>
          <a:ln w="12700">
            <a:solidFill>
              <a:srgbClr val="F3FBF8"/>
            </a:solidFill>
            <a:prstDash val="solid"/>
          </a:ln>
        </p:spPr>
      </p:sp>
      <p:sp>
        <p:nvSpPr>
          <p:cNvPr id="35" name="ocean:label"/>
          <p:cNvSpPr/>
          <p:nvPr/>
        </p:nvSpPr>
        <p:spPr>
          <a:xfrm>
            <a:off x="960120" y="5715000"/>
            <a:ext cx="1274318" cy="18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BOTTOM LINE</a:t>
            </a:r>
            <a:endParaRPr lang="en-US" sz="1000" dirty="0"/>
          </a:p>
        </p:txBody>
      </p:sp>
      <p:sp>
        <p:nvSpPr>
          <p:cNvPr id="36" name="ocean:bottom-line"/>
          <p:cNvSpPr/>
          <p:nvPr/>
        </p:nvSpPr>
        <p:spPr>
          <a:xfrm>
            <a:off x="2325878" y="5669280"/>
            <a:ext cx="908857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500" b="1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10-year savings of $819K. Payback in 6.4 years.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6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texture" descr="/home/user/workspace/audit/repo/assets/textures/tex_deck_blackm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ocean:logo-graphic" descr="/home/user/workspace/audit/repo/assets/logos/png/logo_graphic_honeyd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87455" y="406400"/>
            <a:ext cx="355600" cy="355600"/>
          </a:xfrm>
          <a:prstGeom prst="rect">
            <a:avLst/>
          </a:prstGeom>
        </p:spPr>
      </p:pic>
      <p:sp>
        <p:nvSpPr>
          <p:cNvPr id="4" name="ocean:label"/>
          <p:cNvSpPr/>
          <p:nvPr/>
        </p:nvSpPr>
        <p:spPr>
          <a:xfrm>
            <a:off x="548640" y="340156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</a:t>
            </a:r>
            <a:endParaRPr lang="en-US" sz="1100" dirty="0"/>
          </a:p>
        </p:txBody>
      </p:sp>
      <p:sp>
        <p:nvSpPr>
          <p:cNvPr id="5" name="ocean:metric"/>
          <p:cNvSpPr/>
          <p:nvPr/>
        </p:nvSpPr>
        <p:spPr>
          <a:xfrm>
            <a:off x="512064" y="3639312"/>
            <a:ext cx="4754880" cy="2122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0"/>
              </a:lnSpc>
              <a:buNone/>
            </a:pPr>
            <a:r>
              <a:rPr lang="en-US" sz="16500" spc="-660" kern="0" dirty="0">
                <a:solidFill>
                  <a:srgbClr val="EB381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38%</a:t>
            </a:r>
            <a:endParaRPr lang="en-US" sz="16500" dirty="0"/>
          </a:p>
        </p:txBody>
      </p:sp>
      <p:sp>
        <p:nvSpPr>
          <p:cNvPr id="6" name="ocean:statement"/>
          <p:cNvSpPr/>
          <p:nvPr/>
        </p:nvSpPr>
        <p:spPr>
          <a:xfrm>
            <a:off x="5458968" y="4059936"/>
            <a:ext cx="6217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800" spc="-76" kern="0" dirty="0">
                <a:solidFill>
                  <a:srgbClr val="F3FBF8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Lower grid electricity</a:t>
            </a:r>
            <a:endParaRPr lang="en-US" sz="3800" dirty="0"/>
          </a:p>
          <a:p>
            <a:pPr algn="l" indent="0" marL="0">
              <a:lnSpc>
                <a:spcPts val="4200"/>
              </a:lnSpc>
              <a:buNone/>
            </a:pPr>
            <a:r>
              <a:rPr lang="en-US" sz="3800" spc="-76" kern="0" dirty="0">
                <a:solidFill>
                  <a:srgbClr val="F3FBF8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spend from the first year</a:t>
            </a:r>
            <a:endParaRPr lang="en-US" sz="3800" dirty="0"/>
          </a:p>
        </p:txBody>
      </p:sp>
      <p:sp>
        <p:nvSpPr>
          <p:cNvPr id="7" name="Shape 3"/>
          <p:cNvSpPr/>
          <p:nvPr/>
        </p:nvSpPr>
        <p:spPr>
          <a:xfrm>
            <a:off x="548640" y="5969000"/>
            <a:ext cx="11094415" cy="0"/>
          </a:xfrm>
          <a:prstGeom prst="line">
            <a:avLst/>
          </a:prstGeom>
          <a:noFill/>
          <a:ln w="12700">
            <a:solidFill>
              <a:srgbClr val="F3FBF8"/>
            </a:solidFill>
            <a:prstDash val="solid"/>
          </a:ln>
        </p:spPr>
      </p:sp>
      <p:sp>
        <p:nvSpPr>
          <p:cNvPr id="8" name="ocean:meta"/>
          <p:cNvSpPr/>
          <p:nvPr/>
        </p:nvSpPr>
        <p:spPr>
          <a:xfrm>
            <a:off x="548640" y="6134100"/>
            <a:ext cx="5800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BASIS</a:t>
            </a:r>
            <a:endParaRPr lang="en-US" sz="1000" dirty="0"/>
          </a:p>
        </p:txBody>
      </p:sp>
      <p:sp>
        <p:nvSpPr>
          <p:cNvPr id="9" name="ocean:meta"/>
          <p:cNvSpPr/>
          <p:nvPr/>
        </p:nvSpPr>
        <p:spPr>
          <a:xfrm>
            <a:off x="1238377" y="6134100"/>
            <a:ext cx="235623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12-MONTH INTERVAL DATA</a:t>
            </a:r>
            <a:endParaRPr lang="en-US" sz="1000" dirty="0"/>
          </a:p>
        </p:txBody>
      </p:sp>
      <p:sp>
        <p:nvSpPr>
          <p:cNvPr id="10" name="ocean:meta"/>
          <p:cNvSpPr/>
          <p:nvPr/>
        </p:nvSpPr>
        <p:spPr>
          <a:xfrm>
            <a:off x="4033520" y="6134100"/>
            <a:ext cx="71742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STATUS</a:t>
            </a:r>
            <a:endParaRPr lang="en-US" sz="1000" dirty="0"/>
          </a:p>
        </p:txBody>
      </p:sp>
      <p:sp>
        <p:nvSpPr>
          <p:cNvPr id="11" name="ocean:meta"/>
          <p:cNvSpPr/>
          <p:nvPr/>
        </p:nvSpPr>
        <p:spPr>
          <a:xfrm>
            <a:off x="4860671" y="6134100"/>
            <a:ext cx="128092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ILLUSTRATIVE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0B1617"/>
            </a:solidFill>
            <a:prstDash val="solid"/>
          </a:ln>
        </p:spPr>
      </p:sp>
      <p:pic>
        <p:nvPicPr>
          <p:cNvPr id="4" name="ocean:logo-horizontal" descr="/home/user/workspace/audit/repo/assets/logos/png/logo_horizontal_blackm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6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7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09</a:t>
            </a:r>
            <a:endParaRPr lang="en-US" sz="900" dirty="0"/>
          </a:p>
        </p:txBody>
      </p:sp>
      <p:sp>
        <p:nvSpPr>
          <p:cNvPr id="8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9" name="ocean:header"/>
          <p:cNvSpPr/>
          <p:nvPr/>
        </p:nvSpPr>
        <p:spPr>
          <a:xfrm>
            <a:off x="3751072" y="551688"/>
            <a:ext cx="4079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</a:t>
            </a:r>
            <a:endParaRPr lang="en-US" sz="900" dirty="0"/>
          </a:p>
        </p:txBody>
      </p:sp>
      <p:sp>
        <p:nvSpPr>
          <p:cNvPr id="10" name="ocean:header"/>
          <p:cNvSpPr/>
          <p:nvPr/>
        </p:nvSpPr>
        <p:spPr>
          <a:xfrm>
            <a:off x="4305313" y="551688"/>
            <a:ext cx="63527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SYSTEM</a:t>
            </a:r>
            <a:endParaRPr lang="en-US" sz="900" dirty="0"/>
          </a:p>
        </p:txBody>
      </p:sp>
      <p:sp>
        <p:nvSpPr>
          <p:cNvPr id="11" name="ocean:header"/>
          <p:cNvSpPr/>
          <p:nvPr/>
        </p:nvSpPr>
        <p:spPr>
          <a:xfrm>
            <a:off x="5086896" y="551688"/>
            <a:ext cx="91417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6083363" y="515112"/>
            <a:ext cx="918858" cy="237744"/>
          </a:xfrm>
          <a:prstGeom prst="rect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13" name="ocean:header"/>
          <p:cNvSpPr/>
          <p:nvPr/>
        </p:nvSpPr>
        <p:spPr>
          <a:xfrm>
            <a:off x="6147372" y="551688"/>
            <a:ext cx="918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15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900" dirty="0"/>
          </a:p>
        </p:txBody>
      </p:sp>
      <p:sp>
        <p:nvSpPr>
          <p:cNvPr id="16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18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20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22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11084255" y="329184"/>
            <a:ext cx="558800" cy="609600"/>
          </a:xfrm>
          <a:prstGeom prst="rect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25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6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 NEXT STEPS</a:t>
            </a:r>
            <a:endParaRPr lang="en-US" sz="1100" dirty="0"/>
          </a:p>
        </p:txBody>
      </p:sp>
      <p:sp>
        <p:nvSpPr>
          <p:cNvPr id="27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0B1617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Close with the decision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0B1617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and its next steps</a:t>
            </a:r>
            <a:endParaRPr lang="en-US" sz="3500" dirty="0"/>
          </a:p>
        </p:txBody>
      </p:sp>
      <p:sp>
        <p:nvSpPr>
          <p:cNvPr id="28" name="Shape 24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29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DESIGN SPECIMEN · DO NOT USE</a:t>
            </a:r>
            <a:endParaRPr lang="en-US" sz="900" dirty="0"/>
          </a:p>
        </p:txBody>
      </p:sp>
      <p:sp>
        <p:nvSpPr>
          <p:cNvPr id="30" name="ocean:label"/>
          <p:cNvSpPr/>
          <p:nvPr/>
        </p:nvSpPr>
        <p:spPr>
          <a:xfrm>
            <a:off x="548640" y="3044952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2"/>
              </a:lnSpc>
              <a:buNone/>
            </a:pPr>
            <a:r>
              <a:rPr lang="en-US" sz="1050" spc="263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VERIFIED PROJECT AMOUNT</a:t>
            </a:r>
            <a:endParaRPr lang="en-US" sz="1050" dirty="0"/>
          </a:p>
        </p:txBody>
      </p:sp>
      <p:sp>
        <p:nvSpPr>
          <p:cNvPr id="31" name="ocean:metric"/>
          <p:cNvSpPr/>
          <p:nvPr/>
        </p:nvSpPr>
        <p:spPr>
          <a:xfrm>
            <a:off x="521208" y="3319272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400"/>
              </a:lnSpc>
              <a:buNone/>
            </a:pPr>
            <a:r>
              <a:rPr lang="en-US" sz="6000" spc="-120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[TBD]</a:t>
            </a:r>
            <a:endParaRPr lang="en-US" sz="6000" dirty="0"/>
          </a:p>
        </p:txBody>
      </p:sp>
      <p:sp>
        <p:nvSpPr>
          <p:cNvPr id="32" name="Shape 28"/>
          <p:cNvSpPr/>
          <p:nvPr/>
        </p:nvSpPr>
        <p:spPr>
          <a:xfrm>
            <a:off x="548640" y="4370832"/>
            <a:ext cx="5120640" cy="0"/>
          </a:xfrm>
          <a:prstGeom prst="line">
            <a:avLst/>
          </a:prstGeom>
          <a:noFill/>
          <a:ln w="6350">
            <a:solidFill>
              <a:srgbClr val="0B1617"/>
            </a:solidFill>
            <a:prstDash val="solid"/>
          </a:ln>
        </p:spPr>
      </p:sp>
      <p:sp>
        <p:nvSpPr>
          <p:cNvPr id="33" name="ocean:body"/>
          <p:cNvSpPr/>
          <p:nvPr/>
        </p:nvSpPr>
        <p:spPr>
          <a:xfrm>
            <a:off x="548640" y="446227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2"/>
              </a:lnSpc>
              <a:buNone/>
            </a:pPr>
            <a:r>
              <a:rPr lang="en-US" sz="13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Approved scope</a:t>
            </a:r>
            <a:endParaRPr lang="en-US" sz="1300" dirty="0"/>
          </a:p>
        </p:txBody>
      </p:sp>
      <p:sp>
        <p:nvSpPr>
          <p:cNvPr id="34" name="ocean:body"/>
          <p:cNvSpPr/>
          <p:nvPr/>
        </p:nvSpPr>
        <p:spPr>
          <a:xfrm>
            <a:off x="4114800" y="44622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88"/>
              </a:lnSpc>
              <a:buNone/>
            </a:pPr>
            <a:r>
              <a:rPr lang="en-US" sz="1200" b="1" spc="15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[TBD]</a:t>
            </a:r>
            <a:endParaRPr lang="en-US" sz="1200" dirty="0"/>
          </a:p>
        </p:txBody>
      </p:sp>
      <p:sp>
        <p:nvSpPr>
          <p:cNvPr id="35" name="Shape 31"/>
          <p:cNvSpPr/>
          <p:nvPr/>
        </p:nvSpPr>
        <p:spPr>
          <a:xfrm>
            <a:off x="548640" y="4773168"/>
            <a:ext cx="5120640" cy="0"/>
          </a:xfrm>
          <a:prstGeom prst="line">
            <a:avLst/>
          </a:prstGeom>
          <a:noFill/>
          <a:ln w="6350">
            <a:solidFill>
              <a:srgbClr val="0B1617"/>
            </a:solidFill>
            <a:prstDash val="solid"/>
          </a:ln>
        </p:spPr>
      </p:sp>
      <p:sp>
        <p:nvSpPr>
          <p:cNvPr id="36" name="ocean:body"/>
          <p:cNvSpPr/>
          <p:nvPr/>
        </p:nvSpPr>
        <p:spPr>
          <a:xfrm>
            <a:off x="548640" y="486460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2"/>
              </a:lnSpc>
              <a:buNone/>
            </a:pPr>
            <a:r>
              <a:rPr lang="en-US" sz="13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Terms</a:t>
            </a:r>
            <a:endParaRPr lang="en-US" sz="1300" dirty="0"/>
          </a:p>
        </p:txBody>
      </p:sp>
      <p:sp>
        <p:nvSpPr>
          <p:cNvPr id="37" name="ocean:body"/>
          <p:cNvSpPr/>
          <p:nvPr/>
        </p:nvSpPr>
        <p:spPr>
          <a:xfrm>
            <a:off x="4114800" y="486460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88"/>
              </a:lnSpc>
              <a:buNone/>
            </a:pPr>
            <a:r>
              <a:rPr lang="en-US" sz="1200" b="1" spc="15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[TBD]</a:t>
            </a:r>
            <a:endParaRPr lang="en-US" sz="1200" dirty="0"/>
          </a:p>
        </p:txBody>
      </p:sp>
      <p:sp>
        <p:nvSpPr>
          <p:cNvPr id="38" name="ocean:frame"/>
          <p:cNvSpPr/>
          <p:nvPr/>
        </p:nvSpPr>
        <p:spPr>
          <a:xfrm>
            <a:off x="6217920" y="3044952"/>
            <a:ext cx="5425135" cy="676656"/>
          </a:xfrm>
          <a:custGeom>
            <a:avLst/>
            <a:gdLst/>
            <a:ahLst/>
            <a:cxnLst/>
            <a:rect l="l" t="t" r="r" b="b"/>
            <a:pathLst>
              <a:path w="5425135" h="676656">
                <a:moveTo>
                  <a:pt x="76200" y="0"/>
                </a:moveTo>
                <a:lnTo>
                  <a:pt x="5348935" y="0"/>
                </a:lnTo>
                <a:quadBezTo>
                  <a:pt x="5425135" y="0"/>
                  <a:pt x="5425135" y="76200"/>
                </a:quadBezTo>
                <a:lnTo>
                  <a:pt x="5425135" y="524256"/>
                </a:lnTo>
                <a:lnTo>
                  <a:pt x="5272735" y="676656"/>
                </a:lnTo>
                <a:lnTo>
                  <a:pt x="76200" y="676656"/>
                </a:lnTo>
                <a:quadBezTo>
                  <a:pt x="0" y="676656"/>
                  <a:pt x="0" y="600456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0B1617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11387023" y="3172968"/>
            <a:ext cx="82550" cy="82550"/>
          </a:xfrm>
          <a:prstGeom prst="diamond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40" name="ocean:label"/>
          <p:cNvSpPr/>
          <p:nvPr/>
        </p:nvSpPr>
        <p:spPr>
          <a:xfrm>
            <a:off x="6400800" y="315468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01</a:t>
            </a:r>
            <a:endParaRPr lang="en-US" sz="1000" dirty="0"/>
          </a:p>
        </p:txBody>
      </p:sp>
      <p:sp>
        <p:nvSpPr>
          <p:cNvPr id="41" name="ocean:body"/>
          <p:cNvSpPr/>
          <p:nvPr/>
        </p:nvSpPr>
        <p:spPr>
          <a:xfrm>
            <a:off x="6400800" y="3374136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2"/>
              </a:lnSpc>
              <a:buNone/>
            </a:pPr>
            <a:r>
              <a:rPr lang="en-US" sz="13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Review the evidence</a:t>
            </a:r>
            <a:endParaRPr lang="en-US" sz="1300" dirty="0"/>
          </a:p>
        </p:txBody>
      </p:sp>
      <p:sp>
        <p:nvSpPr>
          <p:cNvPr id="42" name="ocean:frame"/>
          <p:cNvSpPr/>
          <p:nvPr/>
        </p:nvSpPr>
        <p:spPr>
          <a:xfrm>
            <a:off x="6217920" y="3831336"/>
            <a:ext cx="5425135" cy="676656"/>
          </a:xfrm>
          <a:custGeom>
            <a:avLst/>
            <a:gdLst/>
            <a:ahLst/>
            <a:cxnLst/>
            <a:rect l="l" t="t" r="r" b="b"/>
            <a:pathLst>
              <a:path w="5425135" h="676656">
                <a:moveTo>
                  <a:pt x="76200" y="0"/>
                </a:moveTo>
                <a:lnTo>
                  <a:pt x="5348935" y="0"/>
                </a:lnTo>
                <a:quadBezTo>
                  <a:pt x="5425135" y="0"/>
                  <a:pt x="5425135" y="76200"/>
                </a:quadBezTo>
                <a:lnTo>
                  <a:pt x="5425135" y="524256"/>
                </a:lnTo>
                <a:lnTo>
                  <a:pt x="5272735" y="676656"/>
                </a:lnTo>
                <a:lnTo>
                  <a:pt x="76200" y="676656"/>
                </a:lnTo>
                <a:quadBezTo>
                  <a:pt x="0" y="676656"/>
                  <a:pt x="0" y="600456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0B1617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11387023" y="3959352"/>
            <a:ext cx="82550" cy="82550"/>
          </a:xfrm>
          <a:prstGeom prst="diamond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11247323" y="3959352"/>
            <a:ext cx="82550" cy="82550"/>
          </a:xfrm>
          <a:prstGeom prst="diamond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45" name="ocean:label"/>
          <p:cNvSpPr/>
          <p:nvPr/>
        </p:nvSpPr>
        <p:spPr>
          <a:xfrm>
            <a:off x="6400800" y="394106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02</a:t>
            </a:r>
            <a:endParaRPr lang="en-US" sz="1000" dirty="0"/>
          </a:p>
        </p:txBody>
      </p:sp>
      <p:sp>
        <p:nvSpPr>
          <p:cNvPr id="46" name="ocean:body"/>
          <p:cNvSpPr/>
          <p:nvPr/>
        </p:nvSpPr>
        <p:spPr>
          <a:xfrm>
            <a:off x="6400800" y="4160520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2"/>
              </a:lnSpc>
              <a:buNone/>
            </a:pPr>
            <a:r>
              <a:rPr lang="en-US" sz="13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Resolve open assumptions</a:t>
            </a:r>
            <a:endParaRPr lang="en-US" sz="1300" dirty="0"/>
          </a:p>
        </p:txBody>
      </p:sp>
      <p:sp>
        <p:nvSpPr>
          <p:cNvPr id="47" name="ocean:frame"/>
          <p:cNvSpPr/>
          <p:nvPr/>
        </p:nvSpPr>
        <p:spPr>
          <a:xfrm>
            <a:off x="6217920" y="4617720"/>
            <a:ext cx="5425135" cy="676656"/>
          </a:xfrm>
          <a:custGeom>
            <a:avLst/>
            <a:gdLst/>
            <a:ahLst/>
            <a:cxnLst/>
            <a:rect l="l" t="t" r="r" b="b"/>
            <a:pathLst>
              <a:path w="5425135" h="676656">
                <a:moveTo>
                  <a:pt x="76200" y="0"/>
                </a:moveTo>
                <a:lnTo>
                  <a:pt x="5348935" y="0"/>
                </a:lnTo>
                <a:quadBezTo>
                  <a:pt x="5425135" y="0"/>
                  <a:pt x="5425135" y="76200"/>
                </a:quadBezTo>
                <a:lnTo>
                  <a:pt x="5425135" y="524256"/>
                </a:lnTo>
                <a:lnTo>
                  <a:pt x="5272735" y="676656"/>
                </a:lnTo>
                <a:lnTo>
                  <a:pt x="76200" y="676656"/>
                </a:lnTo>
                <a:quadBezTo>
                  <a:pt x="0" y="676656"/>
                  <a:pt x="0" y="600456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0B1617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11387023" y="4745736"/>
            <a:ext cx="82550" cy="82550"/>
          </a:xfrm>
          <a:prstGeom prst="diamond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11247323" y="4745736"/>
            <a:ext cx="82550" cy="82550"/>
          </a:xfrm>
          <a:prstGeom prst="diamond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11107623" y="4745736"/>
            <a:ext cx="82550" cy="82550"/>
          </a:xfrm>
          <a:prstGeom prst="diamond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51" name="ocean:label"/>
          <p:cNvSpPr/>
          <p:nvPr/>
        </p:nvSpPr>
        <p:spPr>
          <a:xfrm>
            <a:off x="6400800" y="472744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03</a:t>
            </a:r>
            <a:endParaRPr lang="en-US" sz="1000" dirty="0"/>
          </a:p>
        </p:txBody>
      </p:sp>
      <p:sp>
        <p:nvSpPr>
          <p:cNvPr id="52" name="ocean:body"/>
          <p:cNvSpPr/>
          <p:nvPr/>
        </p:nvSpPr>
        <p:spPr>
          <a:xfrm>
            <a:off x="6400800" y="4946904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2"/>
              </a:lnSpc>
              <a:buNone/>
            </a:pPr>
            <a:r>
              <a:rPr lang="en-US" sz="13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Confirm the agreed next action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618C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environment" descr="/home/user/workspace/audit/repo/assets/environments/env_sage_map_dar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ocean:logo-vertical" descr="/home/user/workspace/audit/repo/assets/logos/png/logo_vertical_honeyd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7744" y="2603500"/>
            <a:ext cx="1876207" cy="1651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tack Sans Headlin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tack Sans Headline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Ocean RCS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Ocean RCS layout reference</dc:title>
  <dc:subject>PptxGenJS Presentation</dc:subject>
  <dc:creator>PptxGenJS</dc:creator>
  <cp:lastModifiedBy>PptxGenJS</cp:lastModifiedBy>
  <cp:revision>1</cp:revision>
  <dcterms:created xsi:type="dcterms:W3CDTF">2026-09-26T16:12:35Z</dcterms:created>
  <dcterms:modified xsi:type="dcterms:W3CDTF">2026-09-26T16:12:35Z</dcterms:modified>
</cp:coreProperties>
</file>