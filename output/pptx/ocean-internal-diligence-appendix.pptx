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pages 1 and 8. Internal support for diligence, not a public-facing platform thesis. Ocean RCS is the market-facing brand. Project legal entities may be formed at acquisition, property closing, financing or operations launch. Preliminary information is subject to diligence.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pages 2-3. Specific equipment transactions remain internal unless used for a transaction-specific investor meeting. Core investor materials should not depend on a single inventory transaction.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pages 2-3. User confirmed the photo is a real Ocean project. It illustrates the project setting; it is not evidence of charger inventory, equipment ownership or completed diligence.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page 4. A screening checklist, not a claim of eligibility, incentive value or award. Current program rules require transaction-specific professional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page 5. Physical review also includes site layout. Operating-model evidence includes monitoring, O&amp;M, billing and service plans. This photo does not establish any specific site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pages 5-6. Every risk needs an owner, diligence evidence and a go/no-go threshold. Operating evidence must include monitoring, O&amp;M, billing and service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page 7. Five gates: Control, Validate, Fund, Build, Operate. This count describes the appendix process, not assets or commitments.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pages 7-8. Project-specific legal entities may be formed at acquisition, property closing, financing or operations launch. Multiple lanes may advance before asset-level funding.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C:\Users\sctho\OneDrive\Documents\ChatGPT\ocean-brand-system\assets\environments\env_sag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5" name="ocean:logo-vertical" descr="C:\Users\sctho\OneDrive\Documents\ChatGPT\ocean-brand-system\assets\logos\png\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6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7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RENEWABLE CONNECTED SYSTEMS</a:t>
            </a:r>
            <a:endParaRPr lang="en-US" sz="1100" dirty="0"/>
          </a:p>
        </p:txBody>
      </p:sp>
      <p:sp>
        <p:nvSpPr>
          <p:cNvPr id="8" name="ocean:label"/>
          <p:cNvSpPr/>
          <p:nvPr/>
        </p:nvSpPr>
        <p:spPr>
          <a:xfrm>
            <a:off x="711200" y="2761488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CONFIDENTIAL INTERNAL APPENDIX</a:t>
            </a:r>
            <a:endParaRPr lang="en-US" sz="1200" dirty="0"/>
          </a:p>
        </p:txBody>
      </p:sp>
      <p:sp>
        <p:nvSpPr>
          <p:cNvPr id="9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Diligence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Appendix</a:t>
            </a:r>
            <a:endParaRPr lang="en-US" sz="8400" dirty="0"/>
          </a:p>
        </p:txBody>
      </p:sp>
      <p:sp>
        <p:nvSpPr>
          <p:cNvPr id="10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Internal use only. Do not share outside Ocean RCS. Draft for discussion. Do not use, rely on or distribute. Figures and terms may change.</a:t>
            </a:r>
            <a:endParaRPr lang="en-US" sz="900" dirty="0"/>
          </a:p>
        </p:txBody>
      </p:sp>
      <p:sp>
        <p:nvSpPr>
          <p:cNvPr id="11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2" name="ocean:meta"/>
          <p:cNvSpPr/>
          <p:nvPr/>
        </p:nvSpPr>
        <p:spPr>
          <a:xfrm>
            <a:off x="711200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1323975" y="6235700"/>
            <a:ext cx="11597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27 SEP 2026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2922651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3749802" y="6235700"/>
            <a:ext cx="6409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DRAFT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horizontal" descr="C:\Users\sctho\OneDrive\Documents\ChatGPT\ocean-brand-system\assets\logos\png\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400"/>
            <a:ext cx="1000657" cy="2794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8442655" y="3937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DILIGENCE APPENDIX</a:t>
            </a:r>
            <a:endParaRPr lang="en-US" sz="1000" dirty="0"/>
          </a:p>
        </p:txBody>
      </p:sp>
      <p:sp>
        <p:nvSpPr>
          <p:cNvPr id="4" name="ocean:label"/>
          <p:cNvSpPr/>
          <p:nvPr/>
        </p:nvSpPr>
        <p:spPr>
          <a:xfrm>
            <a:off x="8442655" y="6096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1000" dirty="0"/>
          </a:p>
        </p:txBody>
      </p:sp>
      <p:sp>
        <p:nvSpPr>
          <p:cNvPr id="5" name="ocean:cover"/>
          <p:cNvSpPr/>
          <p:nvPr/>
        </p:nvSpPr>
        <p:spPr>
          <a:xfrm>
            <a:off x="512064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2500" b="1" spc="-7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Agenda</a:t>
            </a:r>
            <a:endParaRPr lang="en-US" sz="12500" dirty="0"/>
          </a:p>
        </p:txBody>
      </p:sp>
      <p:sp>
        <p:nvSpPr>
          <p:cNvPr id="6" name="Shape 3"/>
          <p:cNvSpPr/>
          <p:nvPr/>
        </p:nvSpPr>
        <p:spPr>
          <a:xfrm>
            <a:off x="548640" y="298094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7" name="ocean:metric"/>
          <p:cNvSpPr/>
          <p:nvPr/>
        </p:nvSpPr>
        <p:spPr>
          <a:xfrm>
            <a:off x="512064" y="3026664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5266" dirty="0"/>
          </a:p>
        </p:txBody>
      </p:sp>
      <p:sp>
        <p:nvSpPr>
          <p:cNvPr id="8" name="ocean:label"/>
          <p:cNvSpPr/>
          <p:nvPr/>
        </p:nvSpPr>
        <p:spPr>
          <a:xfrm>
            <a:off x="4443984" y="316382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ASSETS</a:t>
            </a:r>
            <a:endParaRPr lang="en-US" sz="1100" dirty="0"/>
          </a:p>
        </p:txBody>
      </p:sp>
      <p:sp>
        <p:nvSpPr>
          <p:cNvPr id="9" name="ocean:section"/>
          <p:cNvSpPr/>
          <p:nvPr/>
        </p:nvSpPr>
        <p:spPr>
          <a:xfrm>
            <a:off x="4425696" y="3364992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Equipment sourcing and evidence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48640" y="3783521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metric"/>
          <p:cNvSpPr/>
          <p:nvPr/>
        </p:nvSpPr>
        <p:spPr>
          <a:xfrm>
            <a:off x="512064" y="3829241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5266" dirty="0"/>
          </a:p>
        </p:txBody>
      </p:sp>
      <p:sp>
        <p:nvSpPr>
          <p:cNvPr id="12" name="ocean:label"/>
          <p:cNvSpPr/>
          <p:nvPr/>
        </p:nvSpPr>
        <p:spPr>
          <a:xfrm>
            <a:off x="4443984" y="3966401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SITES</a:t>
            </a:r>
            <a:endParaRPr lang="en-US" sz="1100" dirty="0"/>
          </a:p>
        </p:txBody>
      </p:sp>
      <p:sp>
        <p:nvSpPr>
          <p:cNvPr id="13" name="ocean:section"/>
          <p:cNvSpPr/>
          <p:nvPr/>
        </p:nvSpPr>
        <p:spPr>
          <a:xfrm>
            <a:off x="4425696" y="4167569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Incentives and underwriting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4586097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metric"/>
          <p:cNvSpPr/>
          <p:nvPr/>
        </p:nvSpPr>
        <p:spPr>
          <a:xfrm>
            <a:off x="512064" y="4631817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5266" dirty="0"/>
          </a:p>
        </p:txBody>
      </p:sp>
      <p:sp>
        <p:nvSpPr>
          <p:cNvPr id="16" name="ocean:label"/>
          <p:cNvSpPr/>
          <p:nvPr/>
        </p:nvSpPr>
        <p:spPr>
          <a:xfrm>
            <a:off x="4443984" y="4768977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CONTROLS</a:t>
            </a:r>
            <a:endParaRPr lang="en-US" sz="1100" dirty="0"/>
          </a:p>
        </p:txBody>
      </p:sp>
      <p:sp>
        <p:nvSpPr>
          <p:cNvPr id="17" name="ocean:section"/>
          <p:cNvSpPr/>
          <p:nvPr/>
        </p:nvSpPr>
        <p:spPr>
          <a:xfrm>
            <a:off x="4425696" y="4970145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Risk owners and capital gates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538867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metric"/>
          <p:cNvSpPr/>
          <p:nvPr/>
        </p:nvSpPr>
        <p:spPr>
          <a:xfrm>
            <a:off x="512064" y="5434393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5266" dirty="0"/>
          </a:p>
        </p:txBody>
      </p:sp>
      <p:sp>
        <p:nvSpPr>
          <p:cNvPr id="20" name="ocean:label"/>
          <p:cNvSpPr/>
          <p:nvPr/>
        </p:nvSpPr>
        <p:spPr>
          <a:xfrm>
            <a:off x="4443984" y="557155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</a:t>
            </a:r>
            <a:endParaRPr lang="en-US" sz="1100" dirty="0"/>
          </a:p>
        </p:txBody>
      </p:sp>
      <p:sp>
        <p:nvSpPr>
          <p:cNvPr id="21" name="ocean:section"/>
          <p:cNvSpPr/>
          <p:nvPr/>
        </p:nvSpPr>
        <p:spPr>
          <a:xfrm>
            <a:off x="4425696" y="5772721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Evidence before capital release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6191250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6242050"/>
            <a:ext cx="11094415" cy="381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4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INTERNAL USE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4" name="ocean:logo-horizontal" descr="C:\Users\sctho\OneDrive\Documents\ChatGPT\ocean-brand-system\assets\logos\png\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87064" y="515112"/>
            <a:ext cx="624192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3751072" y="551688"/>
            <a:ext cx="624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ASSETS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4521568" y="551688"/>
            <a:ext cx="4919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5159820" y="551688"/>
            <a:ext cx="8287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CONTROLS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6134913" y="551688"/>
            <a:ext cx="6251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DILIGENCE APPENDIX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1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3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EQUIPMENT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Equipment sourcing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requires diligence</a:t>
            </a:r>
            <a:endParaRPr lang="en-US" sz="3500" dirty="0"/>
          </a:p>
        </p:txBody>
      </p:sp>
      <p:sp>
        <p:nvSpPr>
          <p:cNvPr id="28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DCFC, BESS AND INFRASTRUCTURE INVENTORY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REMAIN SUBJECT TO TRANSACTION REVIEW.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graphicFrame>
        <p:nvGraphicFramePr>
          <p:cNvPr id="4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REVIEW AREA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102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REQUIRED EVIDENCE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102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Serials / title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Model, title chain, location, custody and serial records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Condition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Inspection, photos, missing parts and commissioning path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Warranty / support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OEM status, serviceability and parts access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Comparable value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Documented public references and invoices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Deployment / protection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2426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Named site or redeployment plan; collateral, escrow and insurance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  <p:sp>
        <p:nvSpPr>
          <p:cNvPr id="3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INTERNAL USE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4" name="ocean:logo-horizontal" descr="C:\Users\sctho\OneDrive\Documents\ChatGPT\ocean-brand-system\assets\logos\png\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87064" y="515112"/>
            <a:ext cx="624192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3751072" y="551688"/>
            <a:ext cx="624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ASSETS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4521568" y="551688"/>
            <a:ext cx="4919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5159820" y="551688"/>
            <a:ext cx="8287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CONTROLS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6134913" y="551688"/>
            <a:ext cx="6251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DILIGENCE APPENDIX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1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3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DEPLOYMENT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Project demand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governs equipment fit</a:t>
            </a:r>
            <a:endParaRPr lang="en-US" sz="3500" dirty="0"/>
          </a:p>
        </p:txBody>
      </p:sp>
      <p:sp>
        <p:nvSpPr>
          <p:cNvPr id="28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statement"/>
          <p:cNvSpPr/>
          <p:nvPr/>
        </p:nvSpPr>
        <p:spPr>
          <a:xfrm>
            <a:off x="548640" y="3044952"/>
            <a:ext cx="5120640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spc="-26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Title, condition and serviceability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spc="-26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must support a named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spc="-26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deployment or redeployment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spc="-26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plan.</a:t>
            </a:r>
            <a:endParaRPr lang="en-US" sz="2600" dirty="0"/>
          </a:p>
        </p:txBody>
      </p:sp>
      <p:pic>
        <p:nvPicPr>
          <p:cNvPr id="30" name="ocean:photo" descr="C:\Users\sctho\OneDrive\Documents\ChatGPT\ocean-brand-system\output\.cache\fit\solar-carport-campus-712c768a42bf19c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44952"/>
            <a:ext cx="5010912" cy="2907792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 flipV="1">
            <a:off x="662482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2" name="ocean:label"/>
          <p:cNvSpPr/>
          <p:nvPr/>
        </p:nvSpPr>
        <p:spPr>
          <a:xfrm>
            <a:off x="6629400" y="604418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PROJECT PHOTO: DJI_0482</a:t>
            </a:r>
            <a:endParaRPr lang="en-US" sz="900" dirty="0"/>
          </a:p>
        </p:txBody>
      </p:sp>
      <p:sp>
        <p:nvSpPr>
          <p:cNvPr id="33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INTERNAL USE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4" name="ocean:logo-horizontal" descr="C:\Users\sctho\OneDrive\Documents\ChatGPT\ocean-brand-system\assets\logos\png\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624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ASSETS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4457560" y="515112"/>
            <a:ext cx="491947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4521568" y="551688"/>
            <a:ext cx="4919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5159820" y="551688"/>
            <a:ext cx="8287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CONTROLS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6134913" y="551688"/>
            <a:ext cx="6251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DILIGENCE APPENDIX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1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3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INCENTIVES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Incentives require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written confirmation</a:t>
            </a:r>
            <a:endParaRPr lang="en-US" sz="3500" dirty="0"/>
          </a:p>
        </p:txBody>
      </p:sp>
      <p:sp>
        <p:nvSpPr>
          <p:cNvPr id="28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ELIGIBILITY, RESERVATION STATUS AND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DOCUMENTATION PRECEDE CAPITAL PLANNING.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graphicFrame>
        <p:nvGraphicFramePr>
          <p:cNvPr id="6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PROGRAM LAYER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1B403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CONFIRMATION REQUIRED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1B403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Federal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Tax-credit eligibility, domestic content and energy-community review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State / utility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Make-ready, EVSE, storage, solar or managed-charging programs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Local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Permits, grants, economic development or site programs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Capital planning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Award or reservation confirmed before net-capital adjustment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</a:tbl>
          </a:graphicData>
        </a:graphic>
      </p:graphicFrame>
      <p:sp>
        <p:nvSpPr>
          <p:cNvPr id="3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INTERNAL USE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4" name="ocean:logo-horizontal" descr="C:\Users\sctho\OneDrive\Documents\ChatGPT\ocean-brand-system\assets\logos\png\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624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ASSETS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4457560" y="515112"/>
            <a:ext cx="491947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4521568" y="551688"/>
            <a:ext cx="4919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5159820" y="551688"/>
            <a:ext cx="8287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CONTROLS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6134913" y="551688"/>
            <a:ext cx="6251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DILIGENCE APPENDIX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1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3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UNDERWRITING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Site underwriting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connects the evidence</a:t>
            </a:r>
            <a:endParaRPr lang="en-US" sz="3500" dirty="0"/>
          </a:p>
        </p:txBody>
      </p:sp>
      <p:sp>
        <p:nvSpPr>
          <p:cNvPr id="28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PHYSICAL FEASIBILITY, COMMERCIAL DEMAND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OPERATING READINESS MUST ALIGN.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pic>
        <p:nvPicPr>
          <p:cNvPr id="30" name="ocean:photo" descr="C:\Users\sctho\OneDrive\Documents\ChatGPT\ocean-brand-system\output\.cache\fit\solar-carport-campus-507998c14047a96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D5CCA0"/>
          </a:solidFill>
          <a:ln w="12700">
            <a:solidFill>
              <a:srgbClr val="D5CCA0"/>
            </a:solidFill>
            <a:prstDash val="solid"/>
          </a:ln>
        </p:spPr>
      </p:sp>
      <p:sp>
        <p:nvSpPr>
          <p:cNvPr id="32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SITE</a:t>
            </a:r>
            <a:endParaRPr lang="en-US" sz="950" dirty="0"/>
          </a:p>
        </p:txBody>
      </p:sp>
      <p:sp>
        <p:nvSpPr>
          <p:cNvPr id="35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Access, flood, setbacks, parking</a:t>
            </a:r>
            <a:endParaRPr lang="en-US" sz="1400" dirty="0"/>
          </a:p>
        </p:txBody>
      </p:sp>
      <p:sp>
        <p:nvSpPr>
          <p:cNvPr id="36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POWER</a:t>
            </a:r>
            <a:endParaRPr lang="en-US" sz="950" dirty="0"/>
          </a:p>
        </p:txBody>
      </p:sp>
      <p:sp>
        <p:nvSpPr>
          <p:cNvPr id="40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Load, utility path, tariff, switchgear</a:t>
            </a:r>
            <a:endParaRPr lang="en-US" sz="1400" dirty="0"/>
          </a:p>
        </p:txBody>
      </p:sp>
      <p:sp>
        <p:nvSpPr>
          <p:cNvPr id="41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DEMAND</a:t>
            </a:r>
            <a:endParaRPr lang="en-US" sz="950" dirty="0"/>
          </a:p>
        </p:txBody>
      </p:sp>
      <p:sp>
        <p:nvSpPr>
          <p:cNvPr id="46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Charging, fleet, tenant or compute</a:t>
            </a:r>
            <a:endParaRPr lang="en-US" sz="1400" dirty="0"/>
          </a:p>
        </p:txBody>
      </p:sp>
      <p:sp>
        <p:nvSpPr>
          <p:cNvPr id="47" name="ocean:frame"/>
          <p:cNvSpPr/>
          <p:nvPr/>
        </p:nvSpPr>
        <p:spPr>
          <a:xfrm>
            <a:off x="7223760" y="523951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11387023" y="536752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11247323" y="536752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11107623" y="536752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10967923" y="536752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52" name="ocean:label"/>
          <p:cNvSpPr/>
          <p:nvPr/>
        </p:nvSpPr>
        <p:spPr>
          <a:xfrm>
            <a:off x="7406640" y="533095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SCOPE</a:t>
            </a:r>
            <a:endParaRPr lang="en-US" sz="950" dirty="0"/>
          </a:p>
        </p:txBody>
      </p:sp>
      <p:sp>
        <p:nvSpPr>
          <p:cNvPr id="53" name="ocean:body"/>
          <p:cNvSpPr/>
          <p:nvPr/>
        </p:nvSpPr>
        <p:spPr>
          <a:xfrm>
            <a:off x="7406640" y="555040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Civil, electrical, equipment, timing</a:t>
            </a:r>
            <a:endParaRPr lang="en-US" sz="1400" dirty="0"/>
          </a:p>
        </p:txBody>
      </p:sp>
      <p:sp>
        <p:nvSpPr>
          <p:cNvPr id="54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project photo: DJI_0482; no site findings inferred</a:t>
            </a:r>
            <a:endParaRPr lang="en-US" sz="1200" dirty="0"/>
          </a:p>
        </p:txBody>
      </p:sp>
      <p:sp>
        <p:nvSpPr>
          <p:cNvPr id="55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INTERNAL USE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4" name="ocean:logo-horizontal" descr="C:\Users\sctho\OneDrive\Documents\ChatGPT\ocean-brand-system\assets\logos\png\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624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ASSETS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521568" y="551688"/>
            <a:ext cx="4919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SITES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5095812" y="515112"/>
            <a:ext cx="828789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5159820" y="551688"/>
            <a:ext cx="8287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CONTROLS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6134913" y="551688"/>
            <a:ext cx="6251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DILIGENCE APPENDIX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3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RISK CONTROLS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Each risk has an owner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and a go/no-go threshold</a:t>
            </a:r>
            <a:endParaRPr lang="en-US" sz="3500" dirty="0"/>
          </a:p>
        </p:txBody>
      </p:sp>
      <p:sp>
        <p:nvSpPr>
          <p:cNvPr id="28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graphicFrame>
        <p:nvGraphicFramePr>
          <p:cNvPr id="8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RISK CATEGORY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CONTROL STANDARD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Utility / interconnection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Written feasibility and cost path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Permits / zoning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Documented approval path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Equipment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Title, inspection and serviceability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Demand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Contract, LOI or site-specific model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Construction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Scope, budget, schedule and lien controls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  <p:sp>
        <p:nvSpPr>
          <p:cNvPr id="30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INTERNAL USE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C:\Users\sctho\OneDrive\Documents\ChatGPT\ocean-brand-system\assets\textures\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cean:logo-graphic" descr="C:\Users\sctho\OneDrive\Documents\ChatGPT\ocean-brand-system\assets\logos\png\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 CONTROLS</a:t>
            </a:r>
            <a:endParaRPr lang="en-US" sz="1100" dirty="0"/>
          </a:p>
        </p:txBody>
      </p:sp>
      <p:sp>
        <p:nvSpPr>
          <p:cNvPr id="6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5</a:t>
            </a:r>
            <a:endParaRPr lang="en-US" sz="16500" dirty="0"/>
          </a:p>
        </p:txBody>
      </p:sp>
      <p:sp>
        <p:nvSpPr>
          <p:cNvPr id="7" name="ocean:statement"/>
          <p:cNvSpPr/>
          <p:nvPr/>
        </p:nvSpPr>
        <p:spPr>
          <a:xfrm>
            <a:off x="5458968" y="393192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funding gates require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documented evidence</a:t>
            </a:r>
            <a:endParaRPr lang="en-US" sz="3800" dirty="0"/>
          </a:p>
        </p:txBody>
      </p:sp>
      <p:sp>
        <p:nvSpPr>
          <p:cNvPr id="8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9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1238377" y="6134100"/>
            <a:ext cx="18581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DILIGENCE PROCESS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3535426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4362577" y="6134100"/>
            <a:ext cx="6409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DRAFT</a:t>
            </a:r>
            <a:endParaRPr lang="en-US" sz="1000" dirty="0"/>
          </a:p>
        </p:txBody>
      </p:sp>
      <p:sp>
        <p:nvSpPr>
          <p:cNvPr id="13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INTERNAL USE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4" name="ocean:logo-horizontal" descr="C:\Users\sctho\OneDrive\Documents\ChatGPT\ocean-brand-system\assets\logos\png\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624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ASSETS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521568" y="551688"/>
            <a:ext cx="4919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SITES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159820" y="551688"/>
            <a:ext cx="8287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CONTROLS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70905" y="515112"/>
            <a:ext cx="625107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3" name="ocean:header"/>
          <p:cNvSpPr/>
          <p:nvPr/>
        </p:nvSpPr>
        <p:spPr>
          <a:xfrm>
            <a:off x="6134913" y="551688"/>
            <a:ext cx="6251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DILIGENCE APPENDIX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FUNDING GATES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Capital release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follows evidence</a:t>
            </a:r>
            <a:endParaRPr lang="en-US" sz="3500" dirty="0"/>
          </a:p>
        </p:txBody>
      </p:sp>
      <p:sp>
        <p:nvSpPr>
          <p:cNvPr id="28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547872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3490722"/>
            <a:ext cx="114300" cy="11430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548640" y="3044952"/>
            <a:ext cx="19994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· CONTROL</a:t>
            </a:r>
            <a:endParaRPr lang="en-US" sz="1000" dirty="0"/>
          </a:p>
        </p:txBody>
      </p:sp>
      <p:sp>
        <p:nvSpPr>
          <p:cNvPr id="32" name="ocean:section"/>
          <p:cNvSpPr/>
          <p:nvPr/>
        </p:nvSpPr>
        <p:spPr>
          <a:xfrm>
            <a:off x="548640" y="3822192"/>
            <a:ext cx="19994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Rights</a:t>
            </a:r>
            <a:endParaRPr lang="en-US" sz="2000" dirty="0"/>
          </a:p>
        </p:txBody>
      </p:sp>
      <p:sp>
        <p:nvSpPr>
          <p:cNvPr id="33" name="ocean:body"/>
          <p:cNvSpPr/>
          <p:nvPr/>
        </p:nvSpPr>
        <p:spPr>
          <a:xfrm>
            <a:off x="548640" y="4645152"/>
            <a:ext cx="199942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LOI, option, customer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agreement or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development right.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2822387" y="3490722"/>
            <a:ext cx="114300" cy="11430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5" name="ocean:label"/>
          <p:cNvSpPr/>
          <p:nvPr/>
        </p:nvSpPr>
        <p:spPr>
          <a:xfrm>
            <a:off x="2822387" y="3044952"/>
            <a:ext cx="19994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· VALIDATE</a:t>
            </a:r>
            <a:endParaRPr lang="en-US" sz="1000" dirty="0"/>
          </a:p>
        </p:txBody>
      </p:sp>
      <p:sp>
        <p:nvSpPr>
          <p:cNvPr id="36" name="ocean:section"/>
          <p:cNvSpPr/>
          <p:nvPr/>
        </p:nvSpPr>
        <p:spPr>
          <a:xfrm>
            <a:off x="2822387" y="3822192"/>
            <a:ext cx="19994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Diligence</a:t>
            </a:r>
            <a:endParaRPr lang="en-US" sz="2000" dirty="0"/>
          </a:p>
        </p:txBody>
      </p:sp>
      <p:sp>
        <p:nvSpPr>
          <p:cNvPr id="37" name="ocean:body"/>
          <p:cNvSpPr/>
          <p:nvPr/>
        </p:nvSpPr>
        <p:spPr>
          <a:xfrm>
            <a:off x="2822387" y="4645152"/>
            <a:ext cx="199942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Utility, permits,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incentives, title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technical review.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5096134" y="3490722"/>
            <a:ext cx="114300" cy="11430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5096134" y="3044952"/>
            <a:ext cx="19994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· FUND</a:t>
            </a:r>
            <a:endParaRPr lang="en-US" sz="1000" dirty="0"/>
          </a:p>
        </p:txBody>
      </p:sp>
      <p:sp>
        <p:nvSpPr>
          <p:cNvPr id="40" name="ocean:section"/>
          <p:cNvSpPr/>
          <p:nvPr/>
        </p:nvSpPr>
        <p:spPr>
          <a:xfrm>
            <a:off x="5096134" y="3822192"/>
            <a:ext cx="19994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Approval</a:t>
            </a:r>
            <a:endParaRPr lang="en-US" sz="2000" dirty="0"/>
          </a:p>
        </p:txBody>
      </p:sp>
      <p:sp>
        <p:nvSpPr>
          <p:cNvPr id="41" name="ocean:body"/>
          <p:cNvSpPr/>
          <p:nvPr/>
        </p:nvSpPr>
        <p:spPr>
          <a:xfrm>
            <a:off x="5096134" y="4645152"/>
            <a:ext cx="199942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Investor approval, lender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commitment or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customer-funded EPC.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7369881" y="3490722"/>
            <a:ext cx="114300" cy="11430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3" name="ocean:label"/>
          <p:cNvSpPr/>
          <p:nvPr/>
        </p:nvSpPr>
        <p:spPr>
          <a:xfrm>
            <a:off x="7369881" y="3044952"/>
            <a:ext cx="19994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· BUILD</a:t>
            </a:r>
            <a:endParaRPr lang="en-US" sz="1000" dirty="0"/>
          </a:p>
        </p:txBody>
      </p:sp>
      <p:sp>
        <p:nvSpPr>
          <p:cNvPr id="44" name="ocean:section"/>
          <p:cNvSpPr/>
          <p:nvPr/>
        </p:nvSpPr>
        <p:spPr>
          <a:xfrm>
            <a:off x="7369881" y="3822192"/>
            <a:ext cx="19994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Draw controls</a:t>
            </a:r>
            <a:endParaRPr lang="en-US" sz="2000" dirty="0"/>
          </a:p>
        </p:txBody>
      </p:sp>
      <p:sp>
        <p:nvSpPr>
          <p:cNvPr id="45" name="ocean:body"/>
          <p:cNvSpPr/>
          <p:nvPr/>
        </p:nvSpPr>
        <p:spPr>
          <a:xfrm>
            <a:off x="7369881" y="4645152"/>
            <a:ext cx="199942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Commissioning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construction oversight.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9643628" y="3490722"/>
            <a:ext cx="114300" cy="11430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7" name="ocean:label"/>
          <p:cNvSpPr/>
          <p:nvPr/>
        </p:nvSpPr>
        <p:spPr>
          <a:xfrm>
            <a:off x="9643628" y="3044952"/>
            <a:ext cx="19994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 · OPERATE</a:t>
            </a:r>
            <a:endParaRPr lang="en-US" sz="1000" dirty="0"/>
          </a:p>
        </p:txBody>
      </p:sp>
      <p:sp>
        <p:nvSpPr>
          <p:cNvPr id="48" name="ocean:section"/>
          <p:cNvSpPr/>
          <p:nvPr/>
        </p:nvSpPr>
        <p:spPr>
          <a:xfrm>
            <a:off x="9643628" y="3822192"/>
            <a:ext cx="19994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Reporting</a:t>
            </a:r>
            <a:endParaRPr lang="en-US" sz="2000" dirty="0"/>
          </a:p>
        </p:txBody>
      </p:sp>
      <p:sp>
        <p:nvSpPr>
          <p:cNvPr id="49" name="ocean:body"/>
          <p:cNvSpPr/>
          <p:nvPr/>
        </p:nvSpPr>
        <p:spPr>
          <a:xfrm>
            <a:off x="9643628" y="4645152"/>
            <a:ext cx="199942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Performance data, billing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O&amp;M.</a:t>
            </a:r>
            <a:endParaRPr lang="en-US" sz="1300" dirty="0"/>
          </a:p>
        </p:txBody>
      </p:sp>
      <p:sp>
        <p:nvSpPr>
          <p:cNvPr id="50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INTERNAL DILIGENCE ONLY. PRELIMINARY INFORMATION REMAINS SUBJECT TO REVIEW.</a:t>
            </a:r>
            <a:endParaRPr lang="en-US" sz="900" dirty="0"/>
          </a:p>
        </p:txBody>
      </p:sp>
      <p:sp>
        <p:nvSpPr>
          <p:cNvPr id="5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INTERNAL USE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C:\Users\sctho\OneDrive\Documents\ChatGPT\ocean-brand-system\assets\environments\env_sag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C:\Users\sctho\OneDrive\Documents\ChatGPT\ocean-brand-system\assets\logos\png\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Confidential Internal Diligence Appendix</dc:title>
  <dc:subject>Built with ocean-brand-system lib/ocean.js</dc:subject>
  <dc:creator>Ocean RCS</dc:creator>
  <cp:lastModifiedBy>Ocean RCS</cp:lastModifiedBy>
  <cp:revision>1</cp:revision>
  <dcterms:created xsi:type="dcterms:W3CDTF">2026-09-27T10:18:02Z</dcterms:created>
  <dcterms:modified xsi:type="dcterms:W3CDTF">2026-09-27T10:18:02Z</dcterms:modified>
</cp:coreProperties>
</file>