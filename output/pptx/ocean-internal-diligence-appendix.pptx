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pages 1 and 8. Internal support for diligence, not a public-facing platform thesis. Ocean RCS is the market-facing brand. Project legal entities may be formed at acquisition, property closing, financing or operations launch. Preliminary information is subject to diligence.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pages 2-3. Specific equipment transactions remain internal unless used for a transaction-specific investor meeting. Core investor materials should not depend on a single inventory transaction.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pages 2-3. User confirmed the photo is a real Ocean project. It illustrates the project setting; it is not evidence of charger inventory, equipment ownership or completed diligence.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page 4. A screening checklist, not a claim of eligibility, incentive value or award. Current program rules require transaction-specific professional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page 5. Physical review also includes site layout. Operating-model evidence includes monitoring, O&amp;M, billing and service plans. This photo does not establish any specific site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pages 5-6. Every risk needs an owner, diligence evidence and a go/no-go threshold. Operating evidence must include monitoring, O&amp;M, billing and service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page 7. Five gates: Control, Validate, Fund, Build, Operate. This count describes the appendix process, not assets or commitments.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pages 7-8. Project-specific legal entities may be formed at acquisition, property closing, financing or operations launch. Multiple lanes may advance before asset-level funding.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18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runner/work/ocean-brand-system/ocean-brand-system/assets/environments/env_sage_map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ocean:frame"/>
          <p:cNvSpPr/>
          <p:nvPr/>
        </p:nvSpPr>
        <p:spPr>
          <a:xfrm>
            <a:off x="304800" y="304800"/>
            <a:ext cx="11582095" cy="6248400"/>
          </a:xfrm>
          <a:custGeom>
            <a:avLst/>
            <a:gdLst/>
            <a:ahLst/>
            <a:cxnLst/>
            <a:rect l="l" t="t" r="r" b="b"/>
            <a:pathLst>
              <a:path w="11582095" h="6248400">
                <a:moveTo>
                  <a:pt x="0" y="279400"/>
                </a:moveTo>
                <a:lnTo>
                  <a:pt x="279400" y="0"/>
                </a:lnTo>
                <a:lnTo>
                  <a:pt x="11455095" y="0"/>
                </a:lnTo>
                <a:quadBezTo>
                  <a:pt x="11582095" y="0"/>
                  <a:pt x="11582095" y="127000"/>
                </a:quadBezTo>
                <a:lnTo>
                  <a:pt x="11582095" y="6121400"/>
                </a:lnTo>
                <a:quadBezTo>
                  <a:pt x="11582095" y="6248400"/>
                  <a:pt x="11455095" y="6248400"/>
                </a:quadBezTo>
                <a:lnTo>
                  <a:pt x="127000" y="6248400"/>
                </a:lnTo>
                <a:quadBezTo>
                  <a:pt x="0" y="6248400"/>
                  <a:pt x="0" y="6121400"/>
                </a:quadBezTo>
                <a:close/>
              </a:path>
            </a:pathLst>
          </a:custGeom>
          <a:ln w="12700">
            <a:solidFill>
              <a:srgbClr val="F3FBF8"/>
            </a:solidFill>
            <a:prstDash val="solid"/>
          </a:ln>
        </p:spPr>
      </p:sp>
      <p:pic>
        <p:nvPicPr>
          <p:cNvPr id="5" name="ocean:logo-vertical" descr="/home/runner/work/ocean-brand-system/ocean-brand-system/assets/logos/png/logo_vertical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685800"/>
            <a:ext cx="952536" cy="838200"/>
          </a:xfrm>
          <a:prstGeom prst="rect">
            <a:avLst/>
          </a:prstGeom>
        </p:spPr>
      </p:pic>
      <p:sp>
        <p:nvSpPr>
          <p:cNvPr id="6" name="ocean:label"/>
          <p:cNvSpPr/>
          <p:nvPr/>
        </p:nvSpPr>
        <p:spPr>
          <a:xfrm>
            <a:off x="8554415" y="6350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720"/>
              </a:lnSpc>
              <a:buNone/>
            </a:pPr>
            <a:r>
              <a:rPr lang="en-US" sz="3000" spc="-6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2026</a:t>
            </a:r>
            <a:endParaRPr lang="en-US" sz="3000" dirty="0"/>
          </a:p>
        </p:txBody>
      </p:sp>
      <p:sp>
        <p:nvSpPr>
          <p:cNvPr id="7" name="ocean:label"/>
          <p:cNvSpPr/>
          <p:nvPr/>
        </p:nvSpPr>
        <p:spPr>
          <a:xfrm>
            <a:off x="7640015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spc="27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RENEWABLE CONNECTED SYSTEMS</a:t>
            </a:r>
            <a:endParaRPr lang="en-US" sz="1100" dirty="0"/>
          </a:p>
        </p:txBody>
      </p:sp>
      <p:sp>
        <p:nvSpPr>
          <p:cNvPr id="8" name="ocean:label"/>
          <p:cNvSpPr/>
          <p:nvPr/>
        </p:nvSpPr>
        <p:spPr>
          <a:xfrm>
            <a:off x="711200" y="2761488"/>
            <a:ext cx="1076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00" b="1" spc="30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CONFIDENTIAL INTERNAL APPENDIX</a:t>
            </a:r>
            <a:endParaRPr lang="en-US" sz="1200" dirty="0"/>
          </a:p>
        </p:txBody>
      </p:sp>
      <p:sp>
        <p:nvSpPr>
          <p:cNvPr id="9" name="ocean:cover"/>
          <p:cNvSpPr/>
          <p:nvPr/>
        </p:nvSpPr>
        <p:spPr>
          <a:xfrm>
            <a:off x="660400" y="3291840"/>
            <a:ext cx="1076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8400" spc="-336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Diligence</a:t>
            </a:r>
            <a:endParaRPr lang="en-US" sz="8400" dirty="0"/>
          </a:p>
          <a:p>
            <a:pPr algn="l" indent="0" marL="0">
              <a:lnSpc>
                <a:spcPts val="7200"/>
              </a:lnSpc>
              <a:buNone/>
            </a:pPr>
            <a:r>
              <a:rPr lang="en-US" sz="8400" spc="-336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Appendix</a:t>
            </a:r>
            <a:endParaRPr lang="en-US" sz="8400" dirty="0"/>
          </a:p>
        </p:txBody>
      </p:sp>
      <p:sp>
        <p:nvSpPr>
          <p:cNvPr id="10" name="ocean:notice"/>
          <p:cNvSpPr/>
          <p:nvPr/>
        </p:nvSpPr>
        <p:spPr>
          <a:xfrm>
            <a:off x="711200" y="5537200"/>
            <a:ext cx="10769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Internal use only. Do not share outside Ocean RCS. Draft for discussion. Do not use, rely on or distribute. Figures and terms may change.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711200" y="6083300"/>
            <a:ext cx="10769295" cy="0"/>
          </a:xfrm>
          <a:prstGeom prst="line">
            <a:avLst/>
          </a:prstGeom>
          <a:noFill/>
          <a:ln w="12700">
            <a:solidFill>
              <a:srgbClr val="F3FBF8"/>
            </a:solidFill>
            <a:prstDash val="solid"/>
          </a:ln>
        </p:spPr>
      </p:sp>
      <p:sp>
        <p:nvSpPr>
          <p:cNvPr id="12" name="ocean:meta"/>
          <p:cNvSpPr/>
          <p:nvPr/>
        </p:nvSpPr>
        <p:spPr>
          <a:xfrm>
            <a:off x="711200" y="6235700"/>
            <a:ext cx="503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DATE</a:t>
            </a:r>
            <a:endParaRPr lang="en-US" sz="1000" dirty="0"/>
          </a:p>
        </p:txBody>
      </p:sp>
      <p:sp>
        <p:nvSpPr>
          <p:cNvPr id="13" name="ocean:meta"/>
          <p:cNvSpPr/>
          <p:nvPr/>
        </p:nvSpPr>
        <p:spPr>
          <a:xfrm>
            <a:off x="1323975" y="6235700"/>
            <a:ext cx="11597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27 SEP 2026</a:t>
            </a:r>
            <a:endParaRPr lang="en-US" sz="1000" dirty="0"/>
          </a:p>
        </p:txBody>
      </p:sp>
      <p:sp>
        <p:nvSpPr>
          <p:cNvPr id="14" name="ocean:meta"/>
          <p:cNvSpPr/>
          <p:nvPr/>
        </p:nvSpPr>
        <p:spPr>
          <a:xfrm>
            <a:off x="2922651" y="6235700"/>
            <a:ext cx="7174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STATUS</a:t>
            </a:r>
            <a:endParaRPr lang="en-US" sz="1000" dirty="0"/>
          </a:p>
        </p:txBody>
      </p:sp>
      <p:sp>
        <p:nvSpPr>
          <p:cNvPr id="15" name="ocean:meta"/>
          <p:cNvSpPr/>
          <p:nvPr/>
        </p:nvSpPr>
        <p:spPr>
          <a:xfrm>
            <a:off x="3749802" y="6235700"/>
            <a:ext cx="6409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DRAFT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logo-horizontal" descr="/home/runner/work/ocean-brand-system/ocean-brand-system/assets/logos/png/logo_horizontal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6400"/>
            <a:ext cx="1000657" cy="279400"/>
          </a:xfrm>
          <a:prstGeom prst="rect">
            <a:avLst/>
          </a:prstGeom>
        </p:spPr>
      </p:pic>
      <p:sp>
        <p:nvSpPr>
          <p:cNvPr id="3" name="ocean:label"/>
          <p:cNvSpPr/>
          <p:nvPr/>
        </p:nvSpPr>
        <p:spPr>
          <a:xfrm>
            <a:off x="8442655" y="393700"/>
            <a:ext cx="3200400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DILIGENCE APPENDIX</a:t>
            </a:r>
            <a:endParaRPr lang="en-US" sz="1000" dirty="0"/>
          </a:p>
        </p:txBody>
      </p:sp>
      <p:sp>
        <p:nvSpPr>
          <p:cNvPr id="4" name="ocean:label"/>
          <p:cNvSpPr/>
          <p:nvPr/>
        </p:nvSpPr>
        <p:spPr>
          <a:xfrm>
            <a:off x="8442655" y="609600"/>
            <a:ext cx="3200400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1000" dirty="0"/>
          </a:p>
        </p:txBody>
      </p:sp>
      <p:sp>
        <p:nvSpPr>
          <p:cNvPr id="5" name="ocean:cover"/>
          <p:cNvSpPr/>
          <p:nvPr/>
        </p:nvSpPr>
        <p:spPr>
          <a:xfrm>
            <a:off x="512064" y="10972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0"/>
              </a:lnSpc>
              <a:buNone/>
            </a:pPr>
            <a:r>
              <a:rPr lang="en-US" sz="12500" b="1" spc="-7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Agenda</a:t>
            </a:r>
            <a:endParaRPr lang="en-US" sz="12500" dirty="0"/>
          </a:p>
        </p:txBody>
      </p:sp>
      <p:sp>
        <p:nvSpPr>
          <p:cNvPr id="6" name="Shape 3"/>
          <p:cNvSpPr/>
          <p:nvPr/>
        </p:nvSpPr>
        <p:spPr>
          <a:xfrm>
            <a:off x="548640" y="2980944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7" name="ocean:metric"/>
          <p:cNvSpPr/>
          <p:nvPr/>
        </p:nvSpPr>
        <p:spPr>
          <a:xfrm>
            <a:off x="512064" y="3026664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5266" dirty="0"/>
          </a:p>
        </p:txBody>
      </p:sp>
      <p:sp>
        <p:nvSpPr>
          <p:cNvPr id="8" name="ocean:label"/>
          <p:cNvSpPr/>
          <p:nvPr/>
        </p:nvSpPr>
        <p:spPr>
          <a:xfrm>
            <a:off x="4443984" y="3163824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ASSETS</a:t>
            </a:r>
            <a:endParaRPr lang="en-US" sz="1100" dirty="0"/>
          </a:p>
        </p:txBody>
      </p:sp>
      <p:sp>
        <p:nvSpPr>
          <p:cNvPr id="9" name="ocean:section"/>
          <p:cNvSpPr/>
          <p:nvPr/>
        </p:nvSpPr>
        <p:spPr>
          <a:xfrm>
            <a:off x="4425696" y="3364992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Equipment sourcing and evidence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3783521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1" name="ocean:metric"/>
          <p:cNvSpPr/>
          <p:nvPr/>
        </p:nvSpPr>
        <p:spPr>
          <a:xfrm>
            <a:off x="512064" y="3829241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5266" dirty="0"/>
          </a:p>
        </p:txBody>
      </p:sp>
      <p:sp>
        <p:nvSpPr>
          <p:cNvPr id="12" name="ocean:label"/>
          <p:cNvSpPr/>
          <p:nvPr/>
        </p:nvSpPr>
        <p:spPr>
          <a:xfrm>
            <a:off x="4443984" y="3966401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SITES</a:t>
            </a:r>
            <a:endParaRPr lang="en-US" sz="1100" dirty="0"/>
          </a:p>
        </p:txBody>
      </p:sp>
      <p:sp>
        <p:nvSpPr>
          <p:cNvPr id="13" name="ocean:section"/>
          <p:cNvSpPr/>
          <p:nvPr/>
        </p:nvSpPr>
        <p:spPr>
          <a:xfrm>
            <a:off x="4425696" y="4167569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Incentives and underwriting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48640" y="4586097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5" name="ocean:metric"/>
          <p:cNvSpPr/>
          <p:nvPr/>
        </p:nvSpPr>
        <p:spPr>
          <a:xfrm>
            <a:off x="512064" y="4631817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5266" dirty="0"/>
          </a:p>
        </p:txBody>
      </p:sp>
      <p:sp>
        <p:nvSpPr>
          <p:cNvPr id="16" name="ocean:label"/>
          <p:cNvSpPr/>
          <p:nvPr/>
        </p:nvSpPr>
        <p:spPr>
          <a:xfrm>
            <a:off x="4443984" y="4768977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CONTROLS</a:t>
            </a:r>
            <a:endParaRPr lang="en-US" sz="1100" dirty="0"/>
          </a:p>
        </p:txBody>
      </p:sp>
      <p:sp>
        <p:nvSpPr>
          <p:cNvPr id="17" name="ocean:section"/>
          <p:cNvSpPr/>
          <p:nvPr/>
        </p:nvSpPr>
        <p:spPr>
          <a:xfrm>
            <a:off x="4425696" y="4970145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Risk owners and capital gates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548640" y="5388674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9" name="ocean:metric"/>
          <p:cNvSpPr/>
          <p:nvPr/>
        </p:nvSpPr>
        <p:spPr>
          <a:xfrm>
            <a:off x="512064" y="5434393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04</a:t>
            </a:r>
            <a:endParaRPr lang="en-US" sz="5266" dirty="0"/>
          </a:p>
        </p:txBody>
      </p:sp>
      <p:sp>
        <p:nvSpPr>
          <p:cNvPr id="20" name="ocean:label"/>
          <p:cNvSpPr/>
          <p:nvPr/>
        </p:nvSpPr>
        <p:spPr>
          <a:xfrm>
            <a:off x="4443984" y="5571554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REVIEW</a:t>
            </a:r>
            <a:endParaRPr lang="en-US" sz="1100" dirty="0"/>
          </a:p>
        </p:txBody>
      </p:sp>
      <p:sp>
        <p:nvSpPr>
          <p:cNvPr id="21" name="ocean:section"/>
          <p:cNvSpPr/>
          <p:nvPr/>
        </p:nvSpPr>
        <p:spPr>
          <a:xfrm>
            <a:off x="4425696" y="5772721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Evidence before capital release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548640" y="6191250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6242050"/>
            <a:ext cx="11094415" cy="38100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24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INTERNAL USE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02426"/>
            </a:solidFill>
            <a:prstDash val="solid"/>
          </a:ln>
        </p:spPr>
      </p:sp>
      <p:pic>
        <p:nvPicPr>
          <p:cNvPr id="4" name="ocean:logo-horizontal" descr="/home/runner/work/ocean-brand-system/ocean-brand-system/assets/logos/png/logo_horizontal_peac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6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7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87064" y="515112"/>
            <a:ext cx="624192" cy="237744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3751072" y="551688"/>
            <a:ext cx="624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ASSETS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4521568" y="551688"/>
            <a:ext cx="4919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5159820" y="551688"/>
            <a:ext cx="8287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CONTROLS</a:t>
            </a:r>
            <a:endParaRPr lang="en-US" sz="900" dirty="0"/>
          </a:p>
        </p:txBody>
      </p:sp>
      <p:sp>
        <p:nvSpPr>
          <p:cNvPr id="13" name="ocean:header"/>
          <p:cNvSpPr/>
          <p:nvPr/>
        </p:nvSpPr>
        <p:spPr>
          <a:xfrm>
            <a:off x="6134913" y="551688"/>
            <a:ext cx="6251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REVIEW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5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DILIGENCE APPENDIX</a:t>
            </a:r>
            <a:endParaRPr lang="en-US" sz="900" dirty="0"/>
          </a:p>
        </p:txBody>
      </p:sp>
      <p:sp>
        <p:nvSpPr>
          <p:cNvPr id="16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407855" y="329184"/>
            <a:ext cx="558800" cy="609600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9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1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3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5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EQUIPMENT</a:t>
            </a:r>
            <a:endParaRPr lang="en-US" sz="1100" dirty="0"/>
          </a:p>
        </p:txBody>
      </p:sp>
      <p:sp>
        <p:nvSpPr>
          <p:cNvPr id="27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Equipment sourcing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requires diligence</a:t>
            </a:r>
            <a:endParaRPr lang="en-US" sz="3500" dirty="0"/>
          </a:p>
        </p:txBody>
      </p:sp>
      <p:sp>
        <p:nvSpPr>
          <p:cNvPr id="28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DCFC, BESS AND INFRASTRUCTURE INVENTORY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REMAIN SUBJECT TO TRANSACTION REVIEW.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graphicFrame>
        <p:nvGraphicFramePr>
          <p:cNvPr id="4" name="ocean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44952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0257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102426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REVIEW AREA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102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102426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REQUIRED EVIDENCE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102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426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Serials / title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426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Model, title chain, location, custody and serial records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426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Condition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426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Inspection, photos, missing parts and commissioning path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426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Warranty / support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426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OEM status, serviceability and parts access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426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Comparable value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426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Documented public references and invoices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426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Deployment / protection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426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Named site or redeployment plan; collateral, escrow and insurance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</a:tbl>
          </a:graphicData>
        </a:graphic>
      </p:graphicFrame>
      <p:sp>
        <p:nvSpPr>
          <p:cNvPr id="31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INTERNAL USE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02426"/>
            </a:solidFill>
            <a:prstDash val="solid"/>
          </a:ln>
        </p:spPr>
      </p:sp>
      <p:pic>
        <p:nvPicPr>
          <p:cNvPr id="4" name="ocean:logo-horizontal" descr="/home/runner/work/ocean-brand-system/ocean-brand-system/assets/logos/png/logo_horizontal_peac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6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7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87064" y="515112"/>
            <a:ext cx="624192" cy="237744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3751072" y="551688"/>
            <a:ext cx="624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ASSETS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4521568" y="551688"/>
            <a:ext cx="4919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5159820" y="551688"/>
            <a:ext cx="8287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CONTROLS</a:t>
            </a:r>
            <a:endParaRPr lang="en-US" sz="900" dirty="0"/>
          </a:p>
        </p:txBody>
      </p:sp>
      <p:sp>
        <p:nvSpPr>
          <p:cNvPr id="13" name="ocean:header"/>
          <p:cNvSpPr/>
          <p:nvPr/>
        </p:nvSpPr>
        <p:spPr>
          <a:xfrm>
            <a:off x="6134913" y="551688"/>
            <a:ext cx="6251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REVIEW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5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DILIGENCE APPENDIX</a:t>
            </a:r>
            <a:endParaRPr lang="en-US" sz="900" dirty="0"/>
          </a:p>
        </p:txBody>
      </p:sp>
      <p:sp>
        <p:nvSpPr>
          <p:cNvPr id="16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407855" y="329184"/>
            <a:ext cx="558800" cy="609600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9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1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3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5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DEPLOYMENT</a:t>
            </a:r>
            <a:endParaRPr lang="en-US" sz="1100" dirty="0"/>
          </a:p>
        </p:txBody>
      </p:sp>
      <p:sp>
        <p:nvSpPr>
          <p:cNvPr id="27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Project demand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governs equipment fit</a:t>
            </a:r>
            <a:endParaRPr lang="en-US" sz="3500" dirty="0"/>
          </a:p>
        </p:txBody>
      </p:sp>
      <p:sp>
        <p:nvSpPr>
          <p:cNvPr id="28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9" name="ocean:statement"/>
          <p:cNvSpPr/>
          <p:nvPr/>
        </p:nvSpPr>
        <p:spPr>
          <a:xfrm>
            <a:off x="548640" y="3044952"/>
            <a:ext cx="51206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spc="-26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Title, condition and serviceability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spc="-26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must support a named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spc="-26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deployment or redeployment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spc="-26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plan.</a:t>
            </a:r>
            <a:endParaRPr lang="en-US" sz="2600" dirty="0"/>
          </a:p>
        </p:txBody>
      </p:sp>
      <p:pic>
        <p:nvPicPr>
          <p:cNvPr id="30" name="ocean:photo" descr="/home/runner/work/ocean-brand-system/ocean-brand-system/output/.cache/fit/solar-carport-campus-d3416a184ae0e9d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44952"/>
            <a:ext cx="5010912" cy="2907792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 flipV="1">
            <a:off x="6624828" y="3040380"/>
            <a:ext cx="279400" cy="279400"/>
          </a:xfrm>
          <a:prstGeom prst="rtTriangle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32" name="ocean:label"/>
          <p:cNvSpPr/>
          <p:nvPr/>
        </p:nvSpPr>
        <p:spPr>
          <a:xfrm>
            <a:off x="6629400" y="6044184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PROJECT PHOTO: DJI_0482</a:t>
            </a:r>
            <a:endParaRPr lang="en-US" sz="900" dirty="0"/>
          </a:p>
        </p:txBody>
      </p:sp>
      <p:sp>
        <p:nvSpPr>
          <p:cNvPr id="33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INTERNAL USE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4" name="ocean:logo-horizontal" descr="/home/runner/work/ocean-brand-system/ocean-brand-system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6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7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624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ASSETS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457560" y="515112"/>
            <a:ext cx="491947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1" name="ocean:header"/>
          <p:cNvSpPr/>
          <p:nvPr/>
        </p:nvSpPr>
        <p:spPr>
          <a:xfrm>
            <a:off x="4521568" y="551688"/>
            <a:ext cx="4919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5159820" y="551688"/>
            <a:ext cx="8287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CONTROLS</a:t>
            </a:r>
            <a:endParaRPr lang="en-US" sz="900" dirty="0"/>
          </a:p>
        </p:txBody>
      </p:sp>
      <p:sp>
        <p:nvSpPr>
          <p:cNvPr id="13" name="ocean:header"/>
          <p:cNvSpPr/>
          <p:nvPr/>
        </p:nvSpPr>
        <p:spPr>
          <a:xfrm>
            <a:off x="6134913" y="551688"/>
            <a:ext cx="6251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REVIEW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5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DILIGENCE APPENDIX</a:t>
            </a:r>
            <a:endParaRPr lang="en-US" sz="900" dirty="0"/>
          </a:p>
        </p:txBody>
      </p:sp>
      <p:sp>
        <p:nvSpPr>
          <p:cNvPr id="16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9666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1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3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5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INCENTIVES</a:t>
            </a:r>
            <a:endParaRPr lang="en-US" sz="1100" dirty="0"/>
          </a:p>
        </p:txBody>
      </p:sp>
      <p:sp>
        <p:nvSpPr>
          <p:cNvPr id="27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Incentives require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written confirmation</a:t>
            </a:r>
            <a:endParaRPr lang="en-US" sz="3500" dirty="0"/>
          </a:p>
        </p:txBody>
      </p:sp>
      <p:sp>
        <p:nvSpPr>
          <p:cNvPr id="28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ELIGIBILITY, RESERVATION STATUS AND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DOCUMENTATION PRECEDE CAPITAL PLANNING.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graphicFrame>
        <p:nvGraphicFramePr>
          <p:cNvPr id="6" name="ocean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44952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0257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PROGRAM LAYER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1B4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CONFIRMATION REQUIRED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1B4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Federal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Tax-credit eligibility, domestic content and energy-community review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State / utility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Make-ready, EVSE, storage, solar or managed-charging programs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Local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Permits, grants, economic development or site programs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Capital planning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Award or reservation confirmed before net-capital adjustment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</a:tr>
            </a:tbl>
          </a:graphicData>
        </a:graphic>
      </p:graphicFrame>
      <p:sp>
        <p:nvSpPr>
          <p:cNvPr id="31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INTERNAL USE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4" name="ocean:logo-horizontal" descr="/home/runner/work/ocean-brand-system/ocean-brand-system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6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7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624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ASSETS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457560" y="515112"/>
            <a:ext cx="491947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1" name="ocean:header"/>
          <p:cNvSpPr/>
          <p:nvPr/>
        </p:nvSpPr>
        <p:spPr>
          <a:xfrm>
            <a:off x="4521568" y="551688"/>
            <a:ext cx="4919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5159820" y="551688"/>
            <a:ext cx="8287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CONTROLS</a:t>
            </a:r>
            <a:endParaRPr lang="en-US" sz="900" dirty="0"/>
          </a:p>
        </p:txBody>
      </p:sp>
      <p:sp>
        <p:nvSpPr>
          <p:cNvPr id="13" name="ocean:header"/>
          <p:cNvSpPr/>
          <p:nvPr/>
        </p:nvSpPr>
        <p:spPr>
          <a:xfrm>
            <a:off x="6134913" y="551688"/>
            <a:ext cx="6251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REVIEW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5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DILIGENCE APPENDIX</a:t>
            </a:r>
            <a:endParaRPr lang="en-US" sz="900" dirty="0"/>
          </a:p>
        </p:txBody>
      </p:sp>
      <p:sp>
        <p:nvSpPr>
          <p:cNvPr id="16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9666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1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3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5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UNDERWRITING</a:t>
            </a:r>
            <a:endParaRPr lang="en-US" sz="1100" dirty="0"/>
          </a:p>
        </p:txBody>
      </p:sp>
      <p:sp>
        <p:nvSpPr>
          <p:cNvPr id="27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Site underwriting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connects the evidence</a:t>
            </a:r>
            <a:endParaRPr lang="en-US" sz="3500" dirty="0"/>
          </a:p>
        </p:txBody>
      </p:sp>
      <p:sp>
        <p:nvSpPr>
          <p:cNvPr id="28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PHYSICAL FEASIBILITY, COMMERCIAL DEMAND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AND OPERATING READINESS MUST ALIGN.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pic>
        <p:nvPicPr>
          <p:cNvPr id="30" name="ocean:photo" descr="/home/runner/work/ocean-brand-system/ocean-brand-system/output/.cache/fit/solar-carport-campus-ff22483aa15a91b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44952"/>
            <a:ext cx="6446520" cy="2834640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 flipV="1">
            <a:off x="544068" y="3040380"/>
            <a:ext cx="279400" cy="279400"/>
          </a:xfrm>
          <a:prstGeom prst="rtTriangle">
            <a:avLst/>
          </a:prstGeom>
          <a:solidFill>
            <a:srgbClr val="D5CCA0"/>
          </a:solidFill>
          <a:ln w="12700">
            <a:solidFill>
              <a:srgbClr val="D5CCA0"/>
            </a:solidFill>
            <a:prstDash val="solid"/>
          </a:ln>
        </p:spPr>
      </p:sp>
      <p:sp>
        <p:nvSpPr>
          <p:cNvPr id="32" name="ocean:frame"/>
          <p:cNvSpPr/>
          <p:nvPr/>
        </p:nvSpPr>
        <p:spPr>
          <a:xfrm>
            <a:off x="7223760" y="304495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387023" y="317296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4" name="ocean:label"/>
          <p:cNvSpPr/>
          <p:nvPr/>
        </p:nvSpPr>
        <p:spPr>
          <a:xfrm>
            <a:off x="7406640" y="313639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SITE</a:t>
            </a:r>
            <a:endParaRPr lang="en-US" sz="950" dirty="0"/>
          </a:p>
        </p:txBody>
      </p:sp>
      <p:sp>
        <p:nvSpPr>
          <p:cNvPr id="35" name="ocean:body"/>
          <p:cNvSpPr/>
          <p:nvPr/>
        </p:nvSpPr>
        <p:spPr>
          <a:xfrm>
            <a:off x="7406640" y="335584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Access, flood, setbacks, parking</a:t>
            </a:r>
            <a:endParaRPr lang="en-US" sz="1400" dirty="0"/>
          </a:p>
        </p:txBody>
      </p:sp>
      <p:sp>
        <p:nvSpPr>
          <p:cNvPr id="36" name="ocean:frame"/>
          <p:cNvSpPr/>
          <p:nvPr/>
        </p:nvSpPr>
        <p:spPr>
          <a:xfrm>
            <a:off x="7223760" y="377647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1387023" y="390448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1247323" y="390448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9" name="ocean:label"/>
          <p:cNvSpPr/>
          <p:nvPr/>
        </p:nvSpPr>
        <p:spPr>
          <a:xfrm>
            <a:off x="7406640" y="386791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POWER</a:t>
            </a:r>
            <a:endParaRPr lang="en-US" sz="950" dirty="0"/>
          </a:p>
        </p:txBody>
      </p:sp>
      <p:sp>
        <p:nvSpPr>
          <p:cNvPr id="40" name="ocean:body"/>
          <p:cNvSpPr/>
          <p:nvPr/>
        </p:nvSpPr>
        <p:spPr>
          <a:xfrm>
            <a:off x="7406640" y="408736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Load, utility path, tariff, switchgear</a:t>
            </a:r>
            <a:endParaRPr lang="en-US" sz="1400" dirty="0"/>
          </a:p>
        </p:txBody>
      </p:sp>
      <p:sp>
        <p:nvSpPr>
          <p:cNvPr id="41" name="ocean:frame"/>
          <p:cNvSpPr/>
          <p:nvPr/>
        </p:nvSpPr>
        <p:spPr>
          <a:xfrm>
            <a:off x="7223760" y="450799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1387023" y="463600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1247323" y="463600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1107623" y="463600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5" name="ocean:label"/>
          <p:cNvSpPr/>
          <p:nvPr/>
        </p:nvSpPr>
        <p:spPr>
          <a:xfrm>
            <a:off x="7406640" y="459943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DEMAND</a:t>
            </a:r>
            <a:endParaRPr lang="en-US" sz="950" dirty="0"/>
          </a:p>
        </p:txBody>
      </p:sp>
      <p:sp>
        <p:nvSpPr>
          <p:cNvPr id="46" name="ocean:body"/>
          <p:cNvSpPr/>
          <p:nvPr/>
        </p:nvSpPr>
        <p:spPr>
          <a:xfrm>
            <a:off x="7406640" y="481888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Charging, fleet, tenant or compute</a:t>
            </a:r>
            <a:endParaRPr lang="en-US" sz="1400" dirty="0"/>
          </a:p>
        </p:txBody>
      </p:sp>
      <p:sp>
        <p:nvSpPr>
          <p:cNvPr id="47" name="ocean:frame"/>
          <p:cNvSpPr/>
          <p:nvPr/>
        </p:nvSpPr>
        <p:spPr>
          <a:xfrm>
            <a:off x="7223760" y="523951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1387023" y="536752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1247323" y="536752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1107623" y="536752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0967923" y="536752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52" name="ocean:label"/>
          <p:cNvSpPr/>
          <p:nvPr/>
        </p:nvSpPr>
        <p:spPr>
          <a:xfrm>
            <a:off x="7406640" y="533095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SCOPE</a:t>
            </a:r>
            <a:endParaRPr lang="en-US" sz="950" dirty="0"/>
          </a:p>
        </p:txBody>
      </p:sp>
      <p:sp>
        <p:nvSpPr>
          <p:cNvPr id="53" name="ocean:body"/>
          <p:cNvSpPr/>
          <p:nvPr/>
        </p:nvSpPr>
        <p:spPr>
          <a:xfrm>
            <a:off x="7406640" y="555040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Civil, electrical, equipment, timing</a:t>
            </a:r>
            <a:endParaRPr lang="en-US" sz="1400" dirty="0"/>
          </a:p>
        </p:txBody>
      </p:sp>
      <p:sp>
        <p:nvSpPr>
          <p:cNvPr id="54" name="ocean:body"/>
          <p:cNvSpPr/>
          <p:nvPr/>
        </p:nvSpPr>
        <p:spPr>
          <a:xfrm>
            <a:off x="548640" y="5971032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project photo: DJI_0482; no site findings inferred</a:t>
            </a:r>
            <a:endParaRPr lang="en-US" sz="1200" dirty="0"/>
          </a:p>
        </p:txBody>
      </p:sp>
      <p:sp>
        <p:nvSpPr>
          <p:cNvPr id="55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INTERNAL USE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6E734C"/>
            </a:solidFill>
            <a:prstDash val="solid"/>
          </a:ln>
        </p:spPr>
      </p:sp>
      <p:pic>
        <p:nvPicPr>
          <p:cNvPr id="4" name="ocean:logo-horizontal" descr="/home/runner/work/ocean-brand-system/ocean-brand-system/assets/logos/png/logo_horizontal_o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6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7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624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ASSETS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521568" y="551688"/>
            <a:ext cx="4919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095812" y="515112"/>
            <a:ext cx="828789" cy="237744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12" name="ocean:header"/>
          <p:cNvSpPr/>
          <p:nvPr/>
        </p:nvSpPr>
        <p:spPr>
          <a:xfrm>
            <a:off x="5159820" y="551688"/>
            <a:ext cx="8287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CONTROLS</a:t>
            </a:r>
            <a:endParaRPr lang="en-US" sz="900" dirty="0"/>
          </a:p>
        </p:txBody>
      </p:sp>
      <p:sp>
        <p:nvSpPr>
          <p:cNvPr id="13" name="ocean:header"/>
          <p:cNvSpPr/>
          <p:nvPr/>
        </p:nvSpPr>
        <p:spPr>
          <a:xfrm>
            <a:off x="6134913" y="551688"/>
            <a:ext cx="6251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REVIEW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5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DILIGENCE APPENDIX</a:t>
            </a:r>
            <a:endParaRPr lang="en-US" sz="900" dirty="0"/>
          </a:p>
        </p:txBody>
      </p:sp>
      <p:sp>
        <p:nvSpPr>
          <p:cNvPr id="16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525455" y="329184"/>
            <a:ext cx="558800" cy="609600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23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5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 RISK CONTROLS</a:t>
            </a:r>
            <a:endParaRPr lang="en-US" sz="1100" dirty="0"/>
          </a:p>
        </p:txBody>
      </p:sp>
      <p:sp>
        <p:nvSpPr>
          <p:cNvPr id="27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Each risk has an owner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and a go/no-go threshold</a:t>
            </a:r>
            <a:endParaRPr lang="en-US" sz="3500" dirty="0"/>
          </a:p>
        </p:txBody>
      </p:sp>
      <p:sp>
        <p:nvSpPr>
          <p:cNvPr id="28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graphicFrame>
        <p:nvGraphicFramePr>
          <p:cNvPr id="8" name="ocean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44952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0257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RISK CATEGORY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6E7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CONTROL STANDARD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6E7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Utility / interconnection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Written feasibility and cost path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Permits / zoning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Documented approval path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Equipment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Title, inspection and serviceability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Demand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Contract, LOI or site-specific model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Construction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Scope, budget, schedule and lien controls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</a:tbl>
          </a:graphicData>
        </a:graphic>
      </p:graphicFrame>
      <p:sp>
        <p:nvSpPr>
          <p:cNvPr id="30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INTERNAL USE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texture" descr="/home/runner/work/ocean-brand-system/ocean-brand-system/assets/textures/tex_deck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cean:logo-graphic" descr="/home/runner/work/ocean-brand-system/ocean-brand-system/assets/logos/png/logo_graphic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5" name="ocean:label"/>
          <p:cNvSpPr/>
          <p:nvPr/>
        </p:nvSpPr>
        <p:spPr>
          <a:xfrm>
            <a:off x="548640" y="34015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CAPITAL CONTROLS</a:t>
            </a:r>
            <a:endParaRPr lang="en-US" sz="1100" dirty="0"/>
          </a:p>
        </p:txBody>
      </p:sp>
      <p:sp>
        <p:nvSpPr>
          <p:cNvPr id="6" name="ocean:metric"/>
          <p:cNvSpPr/>
          <p:nvPr/>
        </p:nvSpPr>
        <p:spPr>
          <a:xfrm>
            <a:off x="512064" y="3639312"/>
            <a:ext cx="4754880" cy="2122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0"/>
              </a:lnSpc>
              <a:buNone/>
            </a:pPr>
            <a:r>
              <a:rPr lang="en-US" sz="16500" spc="-660" kern="0" dirty="0">
                <a:solidFill>
                  <a:srgbClr val="EB381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5</a:t>
            </a:r>
            <a:endParaRPr lang="en-US" sz="16500" dirty="0"/>
          </a:p>
        </p:txBody>
      </p:sp>
      <p:sp>
        <p:nvSpPr>
          <p:cNvPr id="7" name="ocean:statement"/>
          <p:cNvSpPr/>
          <p:nvPr/>
        </p:nvSpPr>
        <p:spPr>
          <a:xfrm>
            <a:off x="5458968" y="393192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800" spc="-76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funding gates require</a:t>
            </a:r>
            <a:endParaRPr lang="en-US" sz="38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800" spc="-76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documented evidence</a:t>
            </a:r>
            <a:endParaRPr lang="en-US" sz="3800" dirty="0"/>
          </a:p>
        </p:txBody>
      </p:sp>
      <p:sp>
        <p:nvSpPr>
          <p:cNvPr id="8" name="Shape 3"/>
          <p:cNvSpPr/>
          <p:nvPr/>
        </p:nvSpPr>
        <p:spPr>
          <a:xfrm>
            <a:off x="548640" y="5969000"/>
            <a:ext cx="11094415" cy="0"/>
          </a:xfrm>
          <a:prstGeom prst="line">
            <a:avLst/>
          </a:prstGeom>
          <a:noFill/>
          <a:ln w="12700">
            <a:solidFill>
              <a:srgbClr val="F3FBF8"/>
            </a:solidFill>
            <a:prstDash val="solid"/>
          </a:ln>
        </p:spPr>
      </p:sp>
      <p:sp>
        <p:nvSpPr>
          <p:cNvPr id="9" name="ocean:meta"/>
          <p:cNvSpPr/>
          <p:nvPr/>
        </p:nvSpPr>
        <p:spPr>
          <a:xfrm>
            <a:off x="548640" y="6134100"/>
            <a:ext cx="5800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BASIS</a:t>
            </a:r>
            <a:endParaRPr lang="en-US" sz="1000" dirty="0"/>
          </a:p>
        </p:txBody>
      </p:sp>
      <p:sp>
        <p:nvSpPr>
          <p:cNvPr id="10" name="ocean:meta"/>
          <p:cNvSpPr/>
          <p:nvPr/>
        </p:nvSpPr>
        <p:spPr>
          <a:xfrm>
            <a:off x="1238377" y="6134100"/>
            <a:ext cx="18581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DILIGENCE PROCESS</a:t>
            </a:r>
            <a:endParaRPr lang="en-US" sz="1000" dirty="0"/>
          </a:p>
        </p:txBody>
      </p:sp>
      <p:sp>
        <p:nvSpPr>
          <p:cNvPr id="11" name="ocean:meta"/>
          <p:cNvSpPr/>
          <p:nvPr/>
        </p:nvSpPr>
        <p:spPr>
          <a:xfrm>
            <a:off x="3535426" y="6134100"/>
            <a:ext cx="7174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STATUS</a:t>
            </a:r>
            <a:endParaRPr lang="en-US" sz="1000" dirty="0"/>
          </a:p>
        </p:txBody>
      </p:sp>
      <p:sp>
        <p:nvSpPr>
          <p:cNvPr id="12" name="ocean:meta"/>
          <p:cNvSpPr/>
          <p:nvPr/>
        </p:nvSpPr>
        <p:spPr>
          <a:xfrm>
            <a:off x="4362577" y="6134100"/>
            <a:ext cx="6409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DRAFT</a:t>
            </a:r>
            <a:endParaRPr lang="en-US" sz="1000" dirty="0"/>
          </a:p>
        </p:txBody>
      </p:sp>
      <p:sp>
        <p:nvSpPr>
          <p:cNvPr id="13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INTERNAL USE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0B1617"/>
            </a:solidFill>
            <a:prstDash val="solid"/>
          </a:ln>
        </p:spPr>
      </p:sp>
      <p:pic>
        <p:nvPicPr>
          <p:cNvPr id="4" name="ocean:logo-horizontal" descr="/home/runner/work/ocean-brand-system/ocean-brand-system/assets/logos/png/logo_horizontal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6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7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624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ASSETS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521568" y="551688"/>
            <a:ext cx="4919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SITES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159820" y="551688"/>
            <a:ext cx="8287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CONTROLS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070905" y="515112"/>
            <a:ext cx="625107" cy="237744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13" name="ocean:header"/>
          <p:cNvSpPr/>
          <p:nvPr/>
        </p:nvSpPr>
        <p:spPr>
          <a:xfrm>
            <a:off x="6134913" y="551688"/>
            <a:ext cx="6251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REVIEW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5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DILIGENCE APPENDIX</a:t>
            </a:r>
            <a:endParaRPr lang="en-US" sz="900" dirty="0"/>
          </a:p>
        </p:txBody>
      </p:sp>
      <p:sp>
        <p:nvSpPr>
          <p:cNvPr id="16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084255" y="329184"/>
            <a:ext cx="558800" cy="609600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25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 FUNDING GATES</a:t>
            </a:r>
            <a:endParaRPr lang="en-US" sz="1100" dirty="0"/>
          </a:p>
        </p:txBody>
      </p:sp>
      <p:sp>
        <p:nvSpPr>
          <p:cNvPr id="27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Capital release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follows evidence</a:t>
            </a:r>
            <a:endParaRPr lang="en-US" sz="3500" dirty="0"/>
          </a:p>
        </p:txBody>
      </p:sp>
      <p:sp>
        <p:nvSpPr>
          <p:cNvPr id="28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3547872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48640" y="3490722"/>
            <a:ext cx="114300" cy="11430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31" name="ocean:label"/>
          <p:cNvSpPr/>
          <p:nvPr/>
        </p:nvSpPr>
        <p:spPr>
          <a:xfrm>
            <a:off x="548640" y="3044952"/>
            <a:ext cx="19994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· CONTROL</a:t>
            </a:r>
            <a:endParaRPr lang="en-US" sz="1000" dirty="0"/>
          </a:p>
        </p:txBody>
      </p:sp>
      <p:sp>
        <p:nvSpPr>
          <p:cNvPr id="32" name="ocean:section"/>
          <p:cNvSpPr/>
          <p:nvPr/>
        </p:nvSpPr>
        <p:spPr>
          <a:xfrm>
            <a:off x="548640" y="3822192"/>
            <a:ext cx="19994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Rights</a:t>
            </a:r>
            <a:endParaRPr lang="en-US" sz="2000" dirty="0"/>
          </a:p>
        </p:txBody>
      </p:sp>
      <p:sp>
        <p:nvSpPr>
          <p:cNvPr id="33" name="ocean:body"/>
          <p:cNvSpPr/>
          <p:nvPr/>
        </p:nvSpPr>
        <p:spPr>
          <a:xfrm>
            <a:off x="548640" y="4645152"/>
            <a:ext cx="19994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LOI, option, customer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agreement or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development right.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2822387" y="3490722"/>
            <a:ext cx="114300" cy="11430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35" name="ocean:label"/>
          <p:cNvSpPr/>
          <p:nvPr/>
        </p:nvSpPr>
        <p:spPr>
          <a:xfrm>
            <a:off x="2822387" y="3044952"/>
            <a:ext cx="19994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· VALIDATE</a:t>
            </a:r>
            <a:endParaRPr lang="en-US" sz="1000" dirty="0"/>
          </a:p>
        </p:txBody>
      </p:sp>
      <p:sp>
        <p:nvSpPr>
          <p:cNvPr id="36" name="ocean:section"/>
          <p:cNvSpPr/>
          <p:nvPr/>
        </p:nvSpPr>
        <p:spPr>
          <a:xfrm>
            <a:off x="2822387" y="3822192"/>
            <a:ext cx="19994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Diligence</a:t>
            </a:r>
            <a:endParaRPr lang="en-US" sz="2000" dirty="0"/>
          </a:p>
        </p:txBody>
      </p:sp>
      <p:sp>
        <p:nvSpPr>
          <p:cNvPr id="37" name="ocean:body"/>
          <p:cNvSpPr/>
          <p:nvPr/>
        </p:nvSpPr>
        <p:spPr>
          <a:xfrm>
            <a:off x="2822387" y="4645152"/>
            <a:ext cx="19994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Utility, permits,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incentives, title and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technical review.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5096134" y="3490722"/>
            <a:ext cx="114300" cy="11430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39" name="ocean:label"/>
          <p:cNvSpPr/>
          <p:nvPr/>
        </p:nvSpPr>
        <p:spPr>
          <a:xfrm>
            <a:off x="5096134" y="3044952"/>
            <a:ext cx="19994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 · FUND</a:t>
            </a:r>
            <a:endParaRPr lang="en-US" sz="1000" dirty="0"/>
          </a:p>
        </p:txBody>
      </p:sp>
      <p:sp>
        <p:nvSpPr>
          <p:cNvPr id="40" name="ocean:section"/>
          <p:cNvSpPr/>
          <p:nvPr/>
        </p:nvSpPr>
        <p:spPr>
          <a:xfrm>
            <a:off x="5096134" y="3822192"/>
            <a:ext cx="19994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Approval</a:t>
            </a:r>
            <a:endParaRPr lang="en-US" sz="2000" dirty="0"/>
          </a:p>
        </p:txBody>
      </p:sp>
      <p:sp>
        <p:nvSpPr>
          <p:cNvPr id="41" name="ocean:body"/>
          <p:cNvSpPr/>
          <p:nvPr/>
        </p:nvSpPr>
        <p:spPr>
          <a:xfrm>
            <a:off x="5096134" y="4645152"/>
            <a:ext cx="19994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Investor approval, lender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commitment or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customer-funded EPC.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7369881" y="3490722"/>
            <a:ext cx="114300" cy="11430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3" name="ocean:label"/>
          <p:cNvSpPr/>
          <p:nvPr/>
        </p:nvSpPr>
        <p:spPr>
          <a:xfrm>
            <a:off x="7369881" y="3044952"/>
            <a:ext cx="19994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 · BUILD</a:t>
            </a:r>
            <a:endParaRPr lang="en-US" sz="1000" dirty="0"/>
          </a:p>
        </p:txBody>
      </p:sp>
      <p:sp>
        <p:nvSpPr>
          <p:cNvPr id="44" name="ocean:section"/>
          <p:cNvSpPr/>
          <p:nvPr/>
        </p:nvSpPr>
        <p:spPr>
          <a:xfrm>
            <a:off x="7369881" y="3822192"/>
            <a:ext cx="19994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Draw controls</a:t>
            </a:r>
            <a:endParaRPr lang="en-US" sz="2000" dirty="0"/>
          </a:p>
        </p:txBody>
      </p:sp>
      <p:sp>
        <p:nvSpPr>
          <p:cNvPr id="45" name="ocean:body"/>
          <p:cNvSpPr/>
          <p:nvPr/>
        </p:nvSpPr>
        <p:spPr>
          <a:xfrm>
            <a:off x="7369881" y="4645152"/>
            <a:ext cx="19994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Commissioning and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construction oversight.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9643628" y="3490722"/>
            <a:ext cx="114300" cy="11430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7" name="ocean:label"/>
          <p:cNvSpPr/>
          <p:nvPr/>
        </p:nvSpPr>
        <p:spPr>
          <a:xfrm>
            <a:off x="9643628" y="3044952"/>
            <a:ext cx="19994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05 · OPERATE</a:t>
            </a:r>
            <a:endParaRPr lang="en-US" sz="1000" dirty="0"/>
          </a:p>
        </p:txBody>
      </p:sp>
      <p:sp>
        <p:nvSpPr>
          <p:cNvPr id="48" name="ocean:section"/>
          <p:cNvSpPr/>
          <p:nvPr/>
        </p:nvSpPr>
        <p:spPr>
          <a:xfrm>
            <a:off x="9643628" y="3822192"/>
            <a:ext cx="19994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Reporting</a:t>
            </a:r>
            <a:endParaRPr lang="en-US" sz="2000" dirty="0"/>
          </a:p>
        </p:txBody>
      </p:sp>
      <p:sp>
        <p:nvSpPr>
          <p:cNvPr id="49" name="ocean:body"/>
          <p:cNvSpPr/>
          <p:nvPr/>
        </p:nvSpPr>
        <p:spPr>
          <a:xfrm>
            <a:off x="9643628" y="4645152"/>
            <a:ext cx="19994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Performance data, billing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and O&amp;M.</a:t>
            </a:r>
            <a:endParaRPr lang="en-US" sz="1300" dirty="0"/>
          </a:p>
        </p:txBody>
      </p:sp>
      <p:sp>
        <p:nvSpPr>
          <p:cNvPr id="50" name="ocean:footnote"/>
          <p:cNvSpPr/>
          <p:nvPr/>
        </p:nvSpPr>
        <p:spPr>
          <a:xfrm>
            <a:off x="548640" y="6144768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INTERNAL DILIGENCE ONLY. PRELIMINARY INFORMATION REMAINS SUBJECT TO REVIEW.</a:t>
            </a:r>
            <a:endParaRPr lang="en-US" sz="900" dirty="0"/>
          </a:p>
        </p:txBody>
      </p:sp>
      <p:sp>
        <p:nvSpPr>
          <p:cNvPr id="51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INTERNAL USE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18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runner/work/ocean-brand-system/ocean-brand-system/assets/environments/env_sage_map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vertical" descr="/home/runner/work/ocean-brand-system/ocean-brand-system/assets/logos/png/logo_vertical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44" y="2603500"/>
            <a:ext cx="1876207" cy="165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ack Sans Headl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ack Sans Headlin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Ocean RCS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RCS Confidential Internal Diligence Appendix</dc:title>
  <dc:subject>Built with ocean-brand-system lib/ocean.js</dc:subject>
  <dc:creator>Ocean RCS</dc:creator>
  <cp:lastModifiedBy>Ocean RCS</cp:lastModifiedBy>
  <cp:revision>1</cp:revision>
  <dcterms:created xsi:type="dcterms:W3CDTF">2026-09-27T10:26:17Z</dcterms:created>
  <dcterms:modified xsi:type="dcterms:W3CDTF">2026-09-27T10:26:17Z</dcterms:modified>
</cp:coreProperties>
</file>