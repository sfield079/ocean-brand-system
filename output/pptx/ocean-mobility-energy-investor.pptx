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Mobility hubs, parallel pipelines and capital gates.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Gates: originate, screen, control, validate, fund, build, operate, monetize.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618C7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cean:texture" descr="/home/user/workspace/audit/repo/assets/textures/tex_deck_s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ocean:frame"/>
          <p:cNvSpPr/>
          <p:nvPr/>
        </p:nvSpPr>
        <p:spPr>
          <a:xfrm>
            <a:off x="304800" y="304800"/>
            <a:ext cx="11582095" cy="6248400"/>
          </a:xfrm>
          <a:custGeom>
            <a:avLst/>
            <a:gdLst/>
            <a:ahLst/>
            <a:cxnLst/>
            <a:rect l="l" t="t" r="r" b="b"/>
            <a:pathLst>
              <a:path w="11582095" h="6248400">
                <a:moveTo>
                  <a:pt x="0" y="279400"/>
                </a:moveTo>
                <a:lnTo>
                  <a:pt x="279400" y="0"/>
                </a:lnTo>
                <a:lnTo>
                  <a:pt x="11455095" y="0"/>
                </a:lnTo>
                <a:quadBezTo>
                  <a:pt x="11582095" y="0"/>
                  <a:pt x="11582095" y="127000"/>
                </a:quadBezTo>
                <a:lnTo>
                  <a:pt x="11582095" y="6121400"/>
                </a:lnTo>
                <a:quadBezTo>
                  <a:pt x="11582095" y="6248400"/>
                  <a:pt x="11455095" y="6248400"/>
                </a:quadBezTo>
                <a:lnTo>
                  <a:pt x="127000" y="6248400"/>
                </a:lnTo>
                <a:quadBezTo>
                  <a:pt x="0" y="6248400"/>
                  <a:pt x="0" y="6121400"/>
                </a:quadBezTo>
                <a:close/>
              </a:path>
            </a:pathLst>
          </a:custGeom>
          <a:ln w="12700">
            <a:solidFill>
              <a:srgbClr val="F3FBF8"/>
            </a:solidFill>
            <a:prstDash val="solid"/>
          </a:ln>
        </p:spPr>
      </p:sp>
      <p:pic>
        <p:nvPicPr>
          <p:cNvPr id="4" name="ocean:logo-vertical" descr="/home/user/workspace/audit/repo/assets/logos/png/logo_vertical_honeyde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200" y="685800"/>
            <a:ext cx="952536" cy="838200"/>
          </a:xfrm>
          <a:prstGeom prst="rect">
            <a:avLst/>
          </a:prstGeom>
        </p:spPr>
      </p:pic>
      <p:sp>
        <p:nvSpPr>
          <p:cNvPr id="5" name="ocean:label"/>
          <p:cNvSpPr/>
          <p:nvPr/>
        </p:nvSpPr>
        <p:spPr>
          <a:xfrm>
            <a:off x="8554415" y="635000"/>
            <a:ext cx="2926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3720"/>
              </a:lnSpc>
              <a:buNone/>
            </a:pPr>
            <a:r>
              <a:rPr lang="en-US" sz="3000" spc="-60" kern="0" dirty="0">
                <a:solidFill>
                  <a:srgbClr val="F3FBF8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2026</a:t>
            </a:r>
            <a:endParaRPr lang="en-US" sz="3000" dirty="0"/>
          </a:p>
        </p:txBody>
      </p:sp>
      <p:sp>
        <p:nvSpPr>
          <p:cNvPr id="6" name="ocean:label"/>
          <p:cNvSpPr/>
          <p:nvPr/>
        </p:nvSpPr>
        <p:spPr>
          <a:xfrm>
            <a:off x="7640015" y="124358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364"/>
              </a:lnSpc>
              <a:buNone/>
            </a:pPr>
            <a:r>
              <a:rPr lang="en-US" sz="1100" spc="275" kern="0" dirty="0">
                <a:solidFill>
                  <a:srgbClr val="F3FBF8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RENEWABLE CONNECTED SYSTEMS</a:t>
            </a:r>
            <a:endParaRPr lang="en-US" sz="1100" dirty="0"/>
          </a:p>
        </p:txBody>
      </p:sp>
      <p:sp>
        <p:nvSpPr>
          <p:cNvPr id="7" name="ocean:label"/>
          <p:cNvSpPr/>
          <p:nvPr/>
        </p:nvSpPr>
        <p:spPr>
          <a:xfrm>
            <a:off x="711200" y="2761488"/>
            <a:ext cx="107692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8"/>
              </a:lnSpc>
              <a:buNone/>
            </a:pPr>
            <a:r>
              <a:rPr lang="en-US" sz="1200" b="1" spc="300" kern="0" dirty="0">
                <a:solidFill>
                  <a:srgbClr val="F3FBF8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INVESTOR PRESENTATION</a:t>
            </a:r>
            <a:endParaRPr lang="en-US" sz="1200" dirty="0"/>
          </a:p>
        </p:txBody>
      </p:sp>
      <p:sp>
        <p:nvSpPr>
          <p:cNvPr id="8" name="ocean:cover"/>
          <p:cNvSpPr/>
          <p:nvPr/>
        </p:nvSpPr>
        <p:spPr>
          <a:xfrm>
            <a:off x="660400" y="3291840"/>
            <a:ext cx="10769295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200"/>
              </a:lnSpc>
              <a:buNone/>
            </a:pPr>
            <a:r>
              <a:rPr lang="en-US" sz="8400" spc="-336" kern="0" dirty="0">
                <a:solidFill>
                  <a:srgbClr val="F3FBF8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Mobility</a:t>
            </a:r>
            <a:endParaRPr lang="en-US" sz="8400" dirty="0"/>
          </a:p>
          <a:p>
            <a:pPr algn="l" indent="0" marL="0">
              <a:lnSpc>
                <a:spcPts val="7200"/>
              </a:lnSpc>
              <a:buNone/>
            </a:pPr>
            <a:r>
              <a:rPr lang="en-US" sz="8400" spc="-336" kern="0" dirty="0">
                <a:solidFill>
                  <a:srgbClr val="F3FBF8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&amp; Energy</a:t>
            </a:r>
            <a:endParaRPr lang="en-US" sz="8400" dirty="0"/>
          </a:p>
        </p:txBody>
      </p:sp>
      <p:sp>
        <p:nvSpPr>
          <p:cNvPr id="9" name="ocean:notice"/>
          <p:cNvSpPr/>
          <p:nvPr/>
        </p:nvSpPr>
        <p:spPr>
          <a:xfrm>
            <a:off x="711200" y="5537200"/>
            <a:ext cx="1076929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F3FBF8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Confidential. For discussion only. Not an offer to sell or a solicitation of an offer to buy any security. Draft for discussion. Do not use, rely on or distribute. Figures and terms may change.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711200" y="6083300"/>
            <a:ext cx="10769295" cy="0"/>
          </a:xfrm>
          <a:prstGeom prst="line">
            <a:avLst/>
          </a:prstGeom>
          <a:noFill/>
          <a:ln w="12700">
            <a:solidFill>
              <a:srgbClr val="F3FBF8"/>
            </a:solidFill>
            <a:prstDash val="solid"/>
          </a:ln>
        </p:spPr>
      </p:sp>
      <p:sp>
        <p:nvSpPr>
          <p:cNvPr id="11" name="ocean:meta"/>
          <p:cNvSpPr/>
          <p:nvPr/>
        </p:nvSpPr>
        <p:spPr>
          <a:xfrm>
            <a:off x="711200" y="6235700"/>
            <a:ext cx="50304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1000" spc="250" kern="0" dirty="0">
                <a:solidFill>
                  <a:srgbClr val="F3FBF8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DATE</a:t>
            </a:r>
            <a:endParaRPr lang="en-US" sz="1000" dirty="0"/>
          </a:p>
        </p:txBody>
      </p:sp>
      <p:sp>
        <p:nvSpPr>
          <p:cNvPr id="12" name="ocean:meta"/>
          <p:cNvSpPr/>
          <p:nvPr/>
        </p:nvSpPr>
        <p:spPr>
          <a:xfrm>
            <a:off x="1323975" y="6235700"/>
            <a:ext cx="11597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1000" b="1" spc="250" kern="0" dirty="0">
                <a:solidFill>
                  <a:srgbClr val="F3FBF8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27 SEP 2026</a:t>
            </a:r>
            <a:endParaRPr lang="en-US" sz="1000" dirty="0"/>
          </a:p>
        </p:txBody>
      </p:sp>
      <p:sp>
        <p:nvSpPr>
          <p:cNvPr id="13" name="ocean:meta"/>
          <p:cNvSpPr/>
          <p:nvPr/>
        </p:nvSpPr>
        <p:spPr>
          <a:xfrm>
            <a:off x="2922651" y="6235700"/>
            <a:ext cx="71742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1000" spc="250" kern="0" dirty="0">
                <a:solidFill>
                  <a:srgbClr val="F3FBF8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STATUS</a:t>
            </a:r>
            <a:endParaRPr lang="en-US" sz="1000" dirty="0"/>
          </a:p>
        </p:txBody>
      </p:sp>
      <p:sp>
        <p:nvSpPr>
          <p:cNvPr id="14" name="ocean:meta"/>
          <p:cNvSpPr/>
          <p:nvPr/>
        </p:nvSpPr>
        <p:spPr>
          <a:xfrm>
            <a:off x="3749802" y="6235700"/>
            <a:ext cx="64096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1000" b="1" spc="250" kern="0" dirty="0">
                <a:solidFill>
                  <a:srgbClr val="F3FBF8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DRAFT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cean:logo-horizontal" descr="/home/user/workspace/audit/repo/assets/logos/png/logo_horizontal_blackmo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06400"/>
            <a:ext cx="1000657" cy="279400"/>
          </a:xfrm>
          <a:prstGeom prst="rect">
            <a:avLst/>
          </a:prstGeom>
        </p:spPr>
      </p:pic>
      <p:sp>
        <p:nvSpPr>
          <p:cNvPr id="3" name="ocean:label"/>
          <p:cNvSpPr/>
          <p:nvPr/>
        </p:nvSpPr>
        <p:spPr>
          <a:xfrm>
            <a:off x="8442655" y="393700"/>
            <a:ext cx="3200400" cy="184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240"/>
              </a:lnSpc>
              <a:buNone/>
            </a:pPr>
            <a:r>
              <a:rPr lang="en-US" sz="1000" spc="250" kern="0" dirty="0">
                <a:solidFill>
                  <a:srgbClr val="0B1617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INVESTOR DECK</a:t>
            </a:r>
            <a:endParaRPr lang="en-US" sz="1000" dirty="0"/>
          </a:p>
        </p:txBody>
      </p:sp>
      <p:sp>
        <p:nvSpPr>
          <p:cNvPr id="4" name="ocean:label"/>
          <p:cNvSpPr/>
          <p:nvPr/>
        </p:nvSpPr>
        <p:spPr>
          <a:xfrm>
            <a:off x="8442655" y="609600"/>
            <a:ext cx="3200400" cy="184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240"/>
              </a:lnSpc>
              <a:buNone/>
            </a:pPr>
            <a:r>
              <a:rPr lang="en-US" sz="1000" b="1" spc="250" kern="0" dirty="0">
                <a:solidFill>
                  <a:srgbClr val="0B1617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OCEAN RCS</a:t>
            </a:r>
            <a:endParaRPr lang="en-US" sz="1000" dirty="0"/>
          </a:p>
        </p:txBody>
      </p:sp>
      <p:sp>
        <p:nvSpPr>
          <p:cNvPr id="5" name="ocean:cover"/>
          <p:cNvSpPr/>
          <p:nvPr/>
        </p:nvSpPr>
        <p:spPr>
          <a:xfrm>
            <a:off x="512064" y="1097280"/>
            <a:ext cx="7315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00"/>
              </a:lnSpc>
              <a:buNone/>
            </a:pPr>
            <a:r>
              <a:rPr lang="en-US" sz="12500" b="1" spc="-750" kern="0" dirty="0">
                <a:solidFill>
                  <a:srgbClr val="0B1617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Agenda</a:t>
            </a:r>
            <a:endParaRPr lang="en-US" sz="12500" dirty="0"/>
          </a:p>
        </p:txBody>
      </p:sp>
      <p:sp>
        <p:nvSpPr>
          <p:cNvPr id="6" name="Shape 3"/>
          <p:cNvSpPr/>
          <p:nvPr/>
        </p:nvSpPr>
        <p:spPr>
          <a:xfrm>
            <a:off x="548640" y="2980944"/>
            <a:ext cx="11094415" cy="0"/>
          </a:xfrm>
          <a:prstGeom prst="line">
            <a:avLst/>
          </a:prstGeom>
          <a:noFill/>
          <a:ln w="12700">
            <a:solidFill>
              <a:srgbClr val="0B1617"/>
            </a:solidFill>
            <a:prstDash val="solid"/>
          </a:ln>
        </p:spPr>
      </p:sp>
      <p:sp>
        <p:nvSpPr>
          <p:cNvPr id="7" name="ocean:metric"/>
          <p:cNvSpPr/>
          <p:nvPr/>
        </p:nvSpPr>
        <p:spPr>
          <a:xfrm>
            <a:off x="512064" y="3026664"/>
            <a:ext cx="2743200" cy="729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442"/>
              </a:lnSpc>
              <a:buNone/>
            </a:pPr>
            <a:r>
              <a:rPr lang="en-US" sz="5266" spc="-316" kern="0" dirty="0">
                <a:solidFill>
                  <a:srgbClr val="0B1617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01</a:t>
            </a:r>
            <a:endParaRPr lang="en-US" sz="5266" dirty="0"/>
          </a:p>
        </p:txBody>
      </p:sp>
      <p:sp>
        <p:nvSpPr>
          <p:cNvPr id="8" name="ocean:label"/>
          <p:cNvSpPr/>
          <p:nvPr/>
        </p:nvSpPr>
        <p:spPr>
          <a:xfrm>
            <a:off x="4443984" y="3163824"/>
            <a:ext cx="7132320" cy="200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4"/>
              </a:lnSpc>
              <a:buNone/>
            </a:pPr>
            <a:r>
              <a:rPr lang="en-US" sz="1100" b="1" spc="275" kern="0" dirty="0">
                <a:solidFill>
                  <a:srgbClr val="0B1617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PLATFORM</a:t>
            </a:r>
            <a:endParaRPr lang="en-US" sz="1100" dirty="0"/>
          </a:p>
        </p:txBody>
      </p:sp>
      <p:sp>
        <p:nvSpPr>
          <p:cNvPr id="9" name="ocean:section"/>
          <p:cNvSpPr/>
          <p:nvPr/>
        </p:nvSpPr>
        <p:spPr>
          <a:xfrm>
            <a:off x="4425696" y="3364992"/>
            <a:ext cx="7223760" cy="433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800" spc="-28" kern="0" dirty="0">
                <a:solidFill>
                  <a:srgbClr val="0B1617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One platform and its revenue logic</a:t>
            </a:r>
            <a:endParaRPr lang="en-US" sz="2800" dirty="0"/>
          </a:p>
        </p:txBody>
      </p:sp>
      <p:sp>
        <p:nvSpPr>
          <p:cNvPr id="10" name="Shape 7"/>
          <p:cNvSpPr/>
          <p:nvPr/>
        </p:nvSpPr>
        <p:spPr>
          <a:xfrm>
            <a:off x="548640" y="3783521"/>
            <a:ext cx="11094415" cy="0"/>
          </a:xfrm>
          <a:prstGeom prst="line">
            <a:avLst/>
          </a:prstGeom>
          <a:noFill/>
          <a:ln w="12700">
            <a:solidFill>
              <a:srgbClr val="0B1617"/>
            </a:solidFill>
            <a:prstDash val="solid"/>
          </a:ln>
        </p:spPr>
      </p:sp>
      <p:sp>
        <p:nvSpPr>
          <p:cNvPr id="11" name="ocean:metric"/>
          <p:cNvSpPr/>
          <p:nvPr/>
        </p:nvSpPr>
        <p:spPr>
          <a:xfrm>
            <a:off x="512064" y="3829241"/>
            <a:ext cx="2743200" cy="729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442"/>
              </a:lnSpc>
              <a:buNone/>
            </a:pPr>
            <a:r>
              <a:rPr lang="en-US" sz="5266" spc="-316" kern="0" dirty="0">
                <a:solidFill>
                  <a:srgbClr val="0B1617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02</a:t>
            </a:r>
            <a:endParaRPr lang="en-US" sz="5266" dirty="0"/>
          </a:p>
        </p:txBody>
      </p:sp>
      <p:sp>
        <p:nvSpPr>
          <p:cNvPr id="12" name="ocean:label"/>
          <p:cNvSpPr/>
          <p:nvPr/>
        </p:nvSpPr>
        <p:spPr>
          <a:xfrm>
            <a:off x="4443984" y="3966401"/>
            <a:ext cx="7132320" cy="200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4"/>
              </a:lnSpc>
              <a:buNone/>
            </a:pPr>
            <a:r>
              <a:rPr lang="en-US" sz="1100" b="1" spc="275" kern="0" dirty="0">
                <a:solidFill>
                  <a:srgbClr val="0B1617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PIPELINE</a:t>
            </a:r>
            <a:endParaRPr lang="en-US" sz="1100" dirty="0"/>
          </a:p>
        </p:txBody>
      </p:sp>
      <p:sp>
        <p:nvSpPr>
          <p:cNvPr id="13" name="ocean:section"/>
          <p:cNvSpPr/>
          <p:nvPr/>
        </p:nvSpPr>
        <p:spPr>
          <a:xfrm>
            <a:off x="4425696" y="4167569"/>
            <a:ext cx="7223760" cy="433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800" spc="-28" kern="0" dirty="0">
                <a:solidFill>
                  <a:srgbClr val="0B1617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Mobility hubs and capital gates</a:t>
            </a:r>
            <a:endParaRPr lang="en-US" sz="2800" dirty="0"/>
          </a:p>
        </p:txBody>
      </p:sp>
      <p:sp>
        <p:nvSpPr>
          <p:cNvPr id="14" name="Shape 11"/>
          <p:cNvSpPr/>
          <p:nvPr/>
        </p:nvSpPr>
        <p:spPr>
          <a:xfrm>
            <a:off x="548640" y="4586097"/>
            <a:ext cx="11094415" cy="0"/>
          </a:xfrm>
          <a:prstGeom prst="line">
            <a:avLst/>
          </a:prstGeom>
          <a:noFill/>
          <a:ln w="12700">
            <a:solidFill>
              <a:srgbClr val="0B1617"/>
            </a:solidFill>
            <a:prstDash val="solid"/>
          </a:ln>
        </p:spPr>
      </p:sp>
      <p:sp>
        <p:nvSpPr>
          <p:cNvPr id="15" name="ocean:metric"/>
          <p:cNvSpPr/>
          <p:nvPr/>
        </p:nvSpPr>
        <p:spPr>
          <a:xfrm>
            <a:off x="512064" y="4631817"/>
            <a:ext cx="2743200" cy="729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442"/>
              </a:lnSpc>
              <a:buNone/>
            </a:pPr>
            <a:r>
              <a:rPr lang="en-US" sz="5266" spc="-316" kern="0" dirty="0">
                <a:solidFill>
                  <a:srgbClr val="0B1617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03</a:t>
            </a:r>
            <a:endParaRPr lang="en-US" sz="5266" dirty="0"/>
          </a:p>
        </p:txBody>
      </p:sp>
      <p:sp>
        <p:nvSpPr>
          <p:cNvPr id="16" name="ocean:label"/>
          <p:cNvSpPr/>
          <p:nvPr/>
        </p:nvSpPr>
        <p:spPr>
          <a:xfrm>
            <a:off x="4443984" y="4768977"/>
            <a:ext cx="7132320" cy="200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4"/>
              </a:lnSpc>
              <a:buNone/>
            </a:pPr>
            <a:r>
              <a:rPr lang="en-US" sz="1100" b="1" spc="275" kern="0" dirty="0">
                <a:solidFill>
                  <a:srgbClr val="0B1617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CAPITAL</a:t>
            </a:r>
            <a:endParaRPr lang="en-US" sz="1100" dirty="0"/>
          </a:p>
        </p:txBody>
      </p:sp>
      <p:sp>
        <p:nvSpPr>
          <p:cNvPr id="17" name="ocean:section"/>
          <p:cNvSpPr/>
          <p:nvPr/>
        </p:nvSpPr>
        <p:spPr>
          <a:xfrm>
            <a:off x="4425696" y="4970145"/>
            <a:ext cx="7223760" cy="433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800" spc="-28" kern="0" dirty="0">
                <a:solidFill>
                  <a:srgbClr val="0B1617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Underwriting and monetization</a:t>
            </a:r>
            <a:endParaRPr lang="en-US" sz="2800" dirty="0"/>
          </a:p>
        </p:txBody>
      </p:sp>
      <p:sp>
        <p:nvSpPr>
          <p:cNvPr id="18" name="Shape 15"/>
          <p:cNvSpPr/>
          <p:nvPr/>
        </p:nvSpPr>
        <p:spPr>
          <a:xfrm>
            <a:off x="548640" y="5388674"/>
            <a:ext cx="11094415" cy="0"/>
          </a:xfrm>
          <a:prstGeom prst="line">
            <a:avLst/>
          </a:prstGeom>
          <a:noFill/>
          <a:ln w="12700">
            <a:solidFill>
              <a:srgbClr val="0B1617"/>
            </a:solidFill>
            <a:prstDash val="solid"/>
          </a:ln>
        </p:spPr>
      </p:sp>
      <p:sp>
        <p:nvSpPr>
          <p:cNvPr id="19" name="ocean:metric"/>
          <p:cNvSpPr/>
          <p:nvPr/>
        </p:nvSpPr>
        <p:spPr>
          <a:xfrm>
            <a:off x="512064" y="5434393"/>
            <a:ext cx="2743200" cy="729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442"/>
              </a:lnSpc>
              <a:buNone/>
            </a:pPr>
            <a:r>
              <a:rPr lang="en-US" sz="5266" spc="-316" kern="0" dirty="0">
                <a:solidFill>
                  <a:srgbClr val="0B1617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04</a:t>
            </a:r>
            <a:endParaRPr lang="en-US" sz="5266" dirty="0"/>
          </a:p>
        </p:txBody>
      </p:sp>
      <p:sp>
        <p:nvSpPr>
          <p:cNvPr id="20" name="ocean:label"/>
          <p:cNvSpPr/>
          <p:nvPr/>
        </p:nvSpPr>
        <p:spPr>
          <a:xfrm>
            <a:off x="4443984" y="5571554"/>
            <a:ext cx="7132320" cy="200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4"/>
              </a:lnSpc>
              <a:buNone/>
            </a:pPr>
            <a:r>
              <a:rPr lang="en-US" sz="1100" b="1" spc="275" kern="0" dirty="0">
                <a:solidFill>
                  <a:srgbClr val="0B1617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NEXT STEPS</a:t>
            </a:r>
            <a:endParaRPr lang="en-US" sz="1100" dirty="0"/>
          </a:p>
        </p:txBody>
      </p:sp>
      <p:sp>
        <p:nvSpPr>
          <p:cNvPr id="21" name="ocean:section"/>
          <p:cNvSpPr/>
          <p:nvPr/>
        </p:nvSpPr>
        <p:spPr>
          <a:xfrm>
            <a:off x="4425696" y="5772721"/>
            <a:ext cx="7223760" cy="433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800" spc="-28" kern="0" dirty="0">
                <a:solidFill>
                  <a:srgbClr val="0B1617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Milestone-based capital</a:t>
            </a:r>
            <a:endParaRPr lang="en-US" sz="2800" dirty="0"/>
          </a:p>
        </p:txBody>
      </p:sp>
      <p:sp>
        <p:nvSpPr>
          <p:cNvPr id="22" name="Shape 19"/>
          <p:cNvSpPr/>
          <p:nvPr/>
        </p:nvSpPr>
        <p:spPr>
          <a:xfrm>
            <a:off x="548640" y="6191250"/>
            <a:ext cx="11094415" cy="0"/>
          </a:xfrm>
          <a:prstGeom prst="line">
            <a:avLst/>
          </a:prstGeom>
          <a:noFill/>
          <a:ln w="12700">
            <a:solidFill>
              <a:srgbClr val="0B1617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48640" y="6242050"/>
            <a:ext cx="11094415" cy="38100"/>
          </a:xfrm>
          <a:prstGeom prst="rect">
            <a:avLst/>
          </a:prstGeom>
          <a:solidFill>
            <a:srgbClr val="0B1617"/>
          </a:solidFill>
          <a:ln w="12700">
            <a:solidFill>
              <a:srgbClr val="0B1617"/>
            </a:solidFill>
            <a:prstDash val="solid"/>
          </a:ln>
        </p:spPr>
      </p:sp>
      <p:sp>
        <p:nvSpPr>
          <p:cNvPr id="24" name="ocean:footer"/>
          <p:cNvSpPr/>
          <p:nvPr/>
        </p:nvSpPr>
        <p:spPr>
          <a:xfrm>
            <a:off x="548640" y="641908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spc="225" kern="0" dirty="0">
                <a:solidFill>
                  <a:srgbClr val="0B1617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OCEAN RCS · CONFIDENTIAL · FOR DISCUSSION ONLY · DRAFT · DO NOT USE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2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cean:environment" descr="/home/user/workspace/audit/repo/assets/environments/env_peacock_map_ligh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ocean:logo-graphic" descr="/home/user/workspace/audit/repo/assets/logos/png/logo_graphic_honeyde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87455" y="406400"/>
            <a:ext cx="355600" cy="355600"/>
          </a:xfrm>
          <a:prstGeom prst="rect">
            <a:avLst/>
          </a:prstGeom>
        </p:spPr>
      </p:pic>
      <p:sp>
        <p:nvSpPr>
          <p:cNvPr id="4" name="ocean:metric"/>
          <p:cNvSpPr/>
          <p:nvPr/>
        </p:nvSpPr>
        <p:spPr>
          <a:xfrm>
            <a:off x="512064" y="1737360"/>
            <a:ext cx="3657600" cy="152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00"/>
              </a:lnSpc>
              <a:buNone/>
            </a:pPr>
            <a:r>
              <a:rPr lang="en-US" sz="12000" spc="-480" kern="0" dirty="0">
                <a:solidFill>
                  <a:srgbClr val="F3FBF8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01</a:t>
            </a:r>
            <a:endParaRPr lang="en-US" sz="12000" dirty="0"/>
          </a:p>
        </p:txBody>
      </p:sp>
      <p:sp>
        <p:nvSpPr>
          <p:cNvPr id="5" name="ocean:headline"/>
          <p:cNvSpPr/>
          <p:nvPr/>
        </p:nvSpPr>
        <p:spPr>
          <a:xfrm>
            <a:off x="548640" y="356616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4400" spc="-88" kern="0" dirty="0">
                <a:solidFill>
                  <a:srgbClr val="F3FBF8"/>
                </a:solidFill>
                <a:latin typeface="Stack Sans Headline Medium" pitchFamily="34" charset="0"/>
                <a:ea typeface="Stack Sans Headline Medium" pitchFamily="34" charset="-122"/>
                <a:cs typeface="Stack Sans Headline Medium" pitchFamily="34" charset="-120"/>
              </a:rPr>
              <a:t>Connected infrastructure,</a:t>
            </a:r>
            <a:endParaRPr lang="en-US" sz="4400" dirty="0"/>
          </a:p>
          <a:p>
            <a:pPr algn="l" indent="0" marL="0">
              <a:lnSpc>
                <a:spcPts val="4800"/>
              </a:lnSpc>
              <a:buNone/>
            </a:pPr>
            <a:r>
              <a:rPr lang="en-US" sz="4400" spc="-88" kern="0" dirty="0">
                <a:solidFill>
                  <a:srgbClr val="F3FBF8"/>
                </a:solidFill>
                <a:latin typeface="Stack Sans Headline Medium" pitchFamily="34" charset="0"/>
                <a:ea typeface="Stack Sans Headline Medium" pitchFamily="34" charset="-122"/>
                <a:cs typeface="Stack Sans Headline Medium" pitchFamily="34" charset="-120"/>
              </a:rPr>
              <a:t>disciplined capital</a:t>
            </a:r>
            <a:endParaRPr lang="en-US" sz="4400" dirty="0"/>
          </a:p>
        </p:txBody>
      </p:sp>
      <p:sp>
        <p:nvSpPr>
          <p:cNvPr id="6" name="ocean:subhead"/>
          <p:cNvSpPr/>
          <p:nvPr/>
        </p:nvSpPr>
        <p:spPr>
          <a:xfrm>
            <a:off x="548640" y="50749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00" b="1" spc="275" kern="0" dirty="0">
                <a:solidFill>
                  <a:srgbClr val="F3FBF8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ENERGY, MOBILITY, STORAGE, SMART SITES AND QUALIFIED COMPUTE SHARE ONE INTEGRATION PLATFORM.</a:t>
            </a:r>
            <a:endParaRPr lang="en-US" sz="1100" dirty="0"/>
          </a:p>
        </p:txBody>
      </p:sp>
      <p:sp>
        <p:nvSpPr>
          <p:cNvPr id="7" name="ocean:footer"/>
          <p:cNvSpPr/>
          <p:nvPr/>
        </p:nvSpPr>
        <p:spPr>
          <a:xfrm>
            <a:off x="548640" y="641908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spc="225" kern="0" dirty="0">
                <a:solidFill>
                  <a:srgbClr val="F3FBF8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OCEAN RCS · CONFIDENTIAL · FOR DISCUSSION ONLY · DRAFT · DO NOT USE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cean:header"/>
          <p:cNvSpPr/>
          <p:nvPr/>
        </p:nvSpPr>
        <p:spPr>
          <a:xfrm>
            <a:off x="548640" y="329184"/>
            <a:ext cx="11094415" cy="609600"/>
          </a:xfrm>
          <a:prstGeom prst="rect">
            <a:avLst/>
          </a:prstGeom>
          <a:ln w="12700">
            <a:solidFill>
              <a:srgbClr val="102426"/>
            </a:solidFill>
            <a:prstDash val="solid"/>
          </a:ln>
        </p:spPr>
      </p:sp>
      <p:pic>
        <p:nvPicPr>
          <p:cNvPr id="3" name="ocean:logo-horizontal" descr="/home/user/workspace/audit/repo/assets/logos/png/logo_horizontal_peac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440" y="494284"/>
            <a:ext cx="1000657" cy="2794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2644140" y="329184"/>
            <a:ext cx="0" cy="609600"/>
          </a:xfrm>
          <a:prstGeom prst="line">
            <a:avLst/>
          </a:prstGeom>
          <a:noFill/>
          <a:ln w="12700">
            <a:solidFill>
              <a:srgbClr val="102426"/>
            </a:solidFill>
            <a:prstDash val="solid"/>
          </a:ln>
        </p:spPr>
      </p:sp>
      <p:sp>
        <p:nvSpPr>
          <p:cNvPr id="5" name="ocean:header"/>
          <p:cNvSpPr/>
          <p:nvPr/>
        </p:nvSpPr>
        <p:spPr>
          <a:xfrm>
            <a:off x="2783840" y="420624"/>
            <a:ext cx="70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spc="225" kern="0" dirty="0">
                <a:solidFill>
                  <a:srgbClr val="102426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PAGE</a:t>
            </a:r>
            <a:endParaRPr lang="en-US" sz="900" dirty="0"/>
          </a:p>
        </p:txBody>
      </p:sp>
      <p:sp>
        <p:nvSpPr>
          <p:cNvPr id="6" name="ocean:header"/>
          <p:cNvSpPr/>
          <p:nvPr/>
        </p:nvSpPr>
        <p:spPr>
          <a:xfrm>
            <a:off x="2783840" y="630936"/>
            <a:ext cx="70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225" kern="0" dirty="0">
                <a:solidFill>
                  <a:srgbClr val="102426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04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3533140" y="329184"/>
            <a:ext cx="0" cy="609600"/>
          </a:xfrm>
          <a:prstGeom prst="line">
            <a:avLst/>
          </a:prstGeom>
          <a:noFill/>
          <a:ln w="12700">
            <a:solidFill>
              <a:srgbClr val="102426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687064" y="515112"/>
            <a:ext cx="807758" cy="237744"/>
          </a:xfrm>
          <a:prstGeom prst="rect">
            <a:avLst/>
          </a:prstGeom>
          <a:solidFill>
            <a:srgbClr val="102426"/>
          </a:solidFill>
          <a:ln w="12700">
            <a:solidFill>
              <a:srgbClr val="102426"/>
            </a:solidFill>
            <a:prstDash val="solid"/>
          </a:ln>
        </p:spPr>
      </p:sp>
      <p:sp>
        <p:nvSpPr>
          <p:cNvPr id="9" name="ocean:header"/>
          <p:cNvSpPr/>
          <p:nvPr/>
        </p:nvSpPr>
        <p:spPr>
          <a:xfrm>
            <a:off x="3751072" y="551688"/>
            <a:ext cx="80775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108" kern="0" dirty="0">
                <a:solidFill>
                  <a:srgbClr val="F3FBF8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PLATFORM</a:t>
            </a:r>
            <a:endParaRPr lang="en-US" sz="900" dirty="0"/>
          </a:p>
        </p:txBody>
      </p:sp>
      <p:sp>
        <p:nvSpPr>
          <p:cNvPr id="10" name="ocean:header"/>
          <p:cNvSpPr/>
          <p:nvPr/>
        </p:nvSpPr>
        <p:spPr>
          <a:xfrm>
            <a:off x="4705134" y="551688"/>
            <a:ext cx="69242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108" kern="0" dirty="0">
                <a:solidFill>
                  <a:srgbClr val="102426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PIPELINE</a:t>
            </a:r>
            <a:endParaRPr lang="en-US" sz="900" dirty="0"/>
          </a:p>
        </p:txBody>
      </p:sp>
      <p:sp>
        <p:nvSpPr>
          <p:cNvPr id="11" name="ocean:header"/>
          <p:cNvSpPr/>
          <p:nvPr/>
        </p:nvSpPr>
        <p:spPr>
          <a:xfrm>
            <a:off x="5543868" y="551688"/>
            <a:ext cx="66088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108" kern="0" dirty="0">
                <a:solidFill>
                  <a:srgbClr val="102426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CAPITAL</a:t>
            </a:r>
            <a:endParaRPr lang="en-US" sz="900" dirty="0"/>
          </a:p>
        </p:txBody>
      </p:sp>
      <p:sp>
        <p:nvSpPr>
          <p:cNvPr id="12" name="ocean:header"/>
          <p:cNvSpPr/>
          <p:nvPr/>
        </p:nvSpPr>
        <p:spPr>
          <a:xfrm>
            <a:off x="6351054" y="551688"/>
            <a:ext cx="91885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108" kern="0" dirty="0">
                <a:solidFill>
                  <a:srgbClr val="102426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NEXT STEPS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7312355" y="329184"/>
            <a:ext cx="0" cy="609600"/>
          </a:xfrm>
          <a:prstGeom prst="line">
            <a:avLst/>
          </a:prstGeom>
          <a:noFill/>
          <a:ln w="12700">
            <a:solidFill>
              <a:srgbClr val="102426"/>
            </a:solidFill>
            <a:prstDash val="solid"/>
          </a:ln>
        </p:spPr>
      </p:sp>
      <p:sp>
        <p:nvSpPr>
          <p:cNvPr id="14" name="ocean:header"/>
          <p:cNvSpPr/>
          <p:nvPr/>
        </p:nvSpPr>
        <p:spPr>
          <a:xfrm>
            <a:off x="7477455" y="420624"/>
            <a:ext cx="18211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spc="225" kern="0" dirty="0">
                <a:solidFill>
                  <a:srgbClr val="102426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INVESTOR DECK</a:t>
            </a:r>
            <a:endParaRPr lang="en-US" sz="900" dirty="0"/>
          </a:p>
        </p:txBody>
      </p:sp>
      <p:sp>
        <p:nvSpPr>
          <p:cNvPr id="15" name="ocean:header"/>
          <p:cNvSpPr/>
          <p:nvPr/>
        </p:nvSpPr>
        <p:spPr>
          <a:xfrm>
            <a:off x="7477455" y="630936"/>
            <a:ext cx="18211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225" kern="0" dirty="0">
                <a:solidFill>
                  <a:srgbClr val="102426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OCEAN RCS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9407855" y="329184"/>
            <a:ext cx="0" cy="609600"/>
          </a:xfrm>
          <a:prstGeom prst="line">
            <a:avLst/>
          </a:prstGeom>
          <a:noFill/>
          <a:ln w="12700">
            <a:solidFill>
              <a:srgbClr val="10242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9407855" y="329184"/>
            <a:ext cx="558800" cy="609600"/>
          </a:xfrm>
          <a:prstGeom prst="rect">
            <a:avLst/>
          </a:prstGeom>
          <a:solidFill>
            <a:srgbClr val="102426"/>
          </a:solidFill>
          <a:ln w="12700">
            <a:solidFill>
              <a:srgbClr val="102426"/>
            </a:solidFill>
            <a:prstDash val="solid"/>
          </a:ln>
        </p:spPr>
      </p:sp>
      <p:sp>
        <p:nvSpPr>
          <p:cNvPr id="18" name="ocean:header"/>
          <p:cNvSpPr/>
          <p:nvPr/>
        </p:nvSpPr>
        <p:spPr>
          <a:xfrm>
            <a:off x="9453575" y="542544"/>
            <a:ext cx="46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4"/>
              </a:lnSpc>
              <a:buNone/>
            </a:pPr>
            <a:r>
              <a:rPr lang="en-US" sz="1100" b="1" spc="110" kern="0" dirty="0">
                <a:solidFill>
                  <a:srgbClr val="F3FBF8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01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9966655" y="329184"/>
            <a:ext cx="0" cy="609600"/>
          </a:xfrm>
          <a:prstGeom prst="line">
            <a:avLst/>
          </a:prstGeom>
          <a:noFill/>
          <a:ln w="12700">
            <a:solidFill>
              <a:srgbClr val="102426"/>
            </a:solidFill>
            <a:prstDash val="solid"/>
          </a:ln>
        </p:spPr>
      </p:sp>
      <p:sp>
        <p:nvSpPr>
          <p:cNvPr id="20" name="ocean:header"/>
          <p:cNvSpPr/>
          <p:nvPr/>
        </p:nvSpPr>
        <p:spPr>
          <a:xfrm>
            <a:off x="10012375" y="542544"/>
            <a:ext cx="46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4"/>
              </a:lnSpc>
              <a:buNone/>
            </a:pPr>
            <a:r>
              <a:rPr lang="en-US" sz="1100" b="1" spc="110" kern="0" dirty="0">
                <a:solidFill>
                  <a:srgbClr val="102426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02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10525455" y="329184"/>
            <a:ext cx="0" cy="609600"/>
          </a:xfrm>
          <a:prstGeom prst="line">
            <a:avLst/>
          </a:prstGeom>
          <a:noFill/>
          <a:ln w="12700">
            <a:solidFill>
              <a:srgbClr val="102426"/>
            </a:solidFill>
            <a:prstDash val="solid"/>
          </a:ln>
        </p:spPr>
      </p:sp>
      <p:sp>
        <p:nvSpPr>
          <p:cNvPr id="22" name="ocean:header"/>
          <p:cNvSpPr/>
          <p:nvPr/>
        </p:nvSpPr>
        <p:spPr>
          <a:xfrm>
            <a:off x="10571175" y="542544"/>
            <a:ext cx="46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4"/>
              </a:lnSpc>
              <a:buNone/>
            </a:pPr>
            <a:r>
              <a:rPr lang="en-US" sz="1100" b="1" spc="110" kern="0" dirty="0">
                <a:solidFill>
                  <a:srgbClr val="102426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03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11084255" y="329184"/>
            <a:ext cx="0" cy="609600"/>
          </a:xfrm>
          <a:prstGeom prst="line">
            <a:avLst/>
          </a:prstGeom>
          <a:noFill/>
          <a:ln w="12700">
            <a:solidFill>
              <a:srgbClr val="102426"/>
            </a:solidFill>
            <a:prstDash val="solid"/>
          </a:ln>
        </p:spPr>
      </p:sp>
      <p:sp>
        <p:nvSpPr>
          <p:cNvPr id="24" name="ocean:header"/>
          <p:cNvSpPr/>
          <p:nvPr/>
        </p:nvSpPr>
        <p:spPr>
          <a:xfrm>
            <a:off x="11129975" y="542544"/>
            <a:ext cx="46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4"/>
              </a:lnSpc>
              <a:buNone/>
            </a:pPr>
            <a:r>
              <a:rPr lang="en-US" sz="1100" b="1" spc="110" kern="0" dirty="0">
                <a:solidFill>
                  <a:srgbClr val="102426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04</a:t>
            </a:r>
            <a:endParaRPr lang="en-US" sz="1100" dirty="0"/>
          </a:p>
        </p:txBody>
      </p:sp>
      <p:sp>
        <p:nvSpPr>
          <p:cNvPr id="25" name="ocean:label"/>
          <p:cNvSpPr/>
          <p:nvPr/>
        </p:nvSpPr>
        <p:spPr>
          <a:xfrm>
            <a:off x="548640" y="1335024"/>
            <a:ext cx="6309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4"/>
              </a:lnSpc>
              <a:buNone/>
            </a:pPr>
            <a:r>
              <a:rPr lang="en-US" sz="1100" b="1" spc="275" kern="0" dirty="0">
                <a:solidFill>
                  <a:srgbClr val="102426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01 PLATFORM</a:t>
            </a:r>
            <a:endParaRPr lang="en-US" sz="1100" dirty="0"/>
          </a:p>
        </p:txBody>
      </p:sp>
      <p:sp>
        <p:nvSpPr>
          <p:cNvPr id="26" name="ocean:headline"/>
          <p:cNvSpPr/>
          <p:nvPr/>
        </p:nvSpPr>
        <p:spPr>
          <a:xfrm>
            <a:off x="530352" y="1572768"/>
            <a:ext cx="634593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500" spc="-35" kern="0" dirty="0">
                <a:solidFill>
                  <a:srgbClr val="102426"/>
                </a:solidFill>
                <a:latin typeface="Stack Sans Headline Medium" pitchFamily="34" charset="0"/>
                <a:ea typeface="Stack Sans Headline Medium" pitchFamily="34" charset="-122"/>
                <a:cs typeface="Stack Sans Headline Medium" pitchFamily="34" charset="-120"/>
              </a:rPr>
              <a:t>Three systems,</a:t>
            </a:r>
            <a:endParaRPr lang="en-US" sz="3500" dirty="0"/>
          </a:p>
          <a:p>
            <a:pPr algn="l" indent="0" marL="0">
              <a:lnSpc>
                <a:spcPts val="3900"/>
              </a:lnSpc>
              <a:buNone/>
            </a:pPr>
            <a:r>
              <a:rPr lang="en-US" sz="3500" spc="-35" kern="0" dirty="0">
                <a:solidFill>
                  <a:srgbClr val="102426"/>
                </a:solidFill>
                <a:latin typeface="Stack Sans Headline Medium" pitchFamily="34" charset="0"/>
                <a:ea typeface="Stack Sans Headline Medium" pitchFamily="34" charset="-122"/>
                <a:cs typeface="Stack Sans Headline Medium" pitchFamily="34" charset="-120"/>
              </a:rPr>
              <a:t>one platform</a:t>
            </a:r>
            <a:endParaRPr lang="en-US" sz="3500" dirty="0"/>
          </a:p>
        </p:txBody>
      </p:sp>
      <p:sp>
        <p:nvSpPr>
          <p:cNvPr id="27" name="ocean:lede"/>
          <p:cNvSpPr/>
          <p:nvPr/>
        </p:nvSpPr>
        <p:spPr>
          <a:xfrm>
            <a:off x="7040880" y="1572768"/>
            <a:ext cx="4602175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b="1" spc="263" kern="0" dirty="0">
                <a:solidFill>
                  <a:srgbClr val="102426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OCEAN RCS DEVELOPS INFRASTRUCTURE FOR</a:t>
            </a:r>
            <a:endParaRPr lang="en-US" sz="1050" dirty="0"/>
          </a:p>
          <a:p>
            <a:pPr algn="l" indent="0" marL="0">
              <a:lnSpc>
                <a:spcPts val="1700"/>
              </a:lnSpc>
              <a:buNone/>
            </a:pPr>
            <a:r>
              <a:rPr lang="en-US" sz="1050" b="1" spc="263" kern="0" dirty="0">
                <a:solidFill>
                  <a:srgbClr val="102426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ELECTRIFIED MOBILITY, DISTRIBUTED ENERGY</a:t>
            </a:r>
            <a:endParaRPr lang="en-US" sz="1050" dirty="0"/>
          </a:p>
          <a:p>
            <a:pPr algn="l" indent="0" marL="0">
              <a:lnSpc>
                <a:spcPts val="1700"/>
              </a:lnSpc>
              <a:buNone/>
            </a:pPr>
            <a:r>
              <a:rPr lang="en-US" sz="1050" b="1" spc="263" kern="0" dirty="0">
                <a:solidFill>
                  <a:srgbClr val="102426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AND SELECTIVE MODULAR COMPUTE.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548640" y="2734056"/>
            <a:ext cx="11094415" cy="0"/>
          </a:xfrm>
          <a:prstGeom prst="line">
            <a:avLst/>
          </a:prstGeom>
          <a:noFill/>
          <a:ln w="12700">
            <a:solidFill>
              <a:srgbClr val="102426"/>
            </a:solidFill>
            <a:prstDash val="solid"/>
          </a:ln>
        </p:spPr>
      </p:sp>
      <p:pic>
        <p:nvPicPr>
          <p:cNvPr id="29" name="ocean:photo" descr="/home/user/workspace/audit/repo/output/.cache/fit/solar-carport-campus-c5892794287ed22f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044952"/>
            <a:ext cx="6446520" cy="2834640"/>
          </a:xfrm>
          <a:prstGeom prst="rect">
            <a:avLst/>
          </a:prstGeom>
        </p:spPr>
      </p:pic>
      <p:sp>
        <p:nvSpPr>
          <p:cNvPr id="30" name="Shape 26"/>
          <p:cNvSpPr/>
          <p:nvPr/>
        </p:nvSpPr>
        <p:spPr>
          <a:xfrm flipV="1">
            <a:off x="544068" y="3040380"/>
            <a:ext cx="279400" cy="279400"/>
          </a:xfrm>
          <a:prstGeom prst="rtTriangle">
            <a:avLst/>
          </a:prstGeom>
          <a:solidFill>
            <a:srgbClr val="F3FBF8"/>
          </a:solidFill>
          <a:ln w="12700">
            <a:solidFill>
              <a:srgbClr val="F3FBF8"/>
            </a:solidFill>
            <a:prstDash val="solid"/>
          </a:ln>
        </p:spPr>
      </p:sp>
      <p:sp>
        <p:nvSpPr>
          <p:cNvPr id="31" name="ocean:frame"/>
          <p:cNvSpPr/>
          <p:nvPr/>
        </p:nvSpPr>
        <p:spPr>
          <a:xfrm>
            <a:off x="7223760" y="3044952"/>
            <a:ext cx="4419295" cy="640080"/>
          </a:xfrm>
          <a:custGeom>
            <a:avLst/>
            <a:gdLst/>
            <a:ahLst/>
            <a:cxnLst/>
            <a:rect l="l" t="t" r="r" b="b"/>
            <a:pathLst>
              <a:path w="4419295" h="640080">
                <a:moveTo>
                  <a:pt x="76200" y="0"/>
                </a:moveTo>
                <a:lnTo>
                  <a:pt x="4343095" y="0"/>
                </a:lnTo>
                <a:quadBezTo>
                  <a:pt x="4419295" y="0"/>
                  <a:pt x="4419295" y="76200"/>
                </a:quadBezTo>
                <a:lnTo>
                  <a:pt x="4419295" y="487680"/>
                </a:lnTo>
                <a:lnTo>
                  <a:pt x="4266895" y="640080"/>
                </a:lnTo>
                <a:lnTo>
                  <a:pt x="76200" y="640080"/>
                </a:lnTo>
                <a:quadBezTo>
                  <a:pt x="0" y="640080"/>
                  <a:pt x="0" y="563880"/>
                </a:quadBezTo>
                <a:lnTo>
                  <a:pt x="0" y="76200"/>
                </a:lnTo>
                <a:quadBezTo>
                  <a:pt x="0" y="0"/>
                  <a:pt x="76200" y="0"/>
                </a:quadBezTo>
                <a:close/>
              </a:path>
            </a:pathLst>
          </a:custGeom>
          <a:ln w="9525">
            <a:solidFill>
              <a:srgbClr val="102426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11387023" y="3172968"/>
            <a:ext cx="82550" cy="82550"/>
          </a:xfrm>
          <a:prstGeom prst="diamond">
            <a:avLst/>
          </a:prstGeom>
          <a:solidFill>
            <a:srgbClr val="102426"/>
          </a:solidFill>
          <a:ln w="12700">
            <a:solidFill>
              <a:srgbClr val="102426"/>
            </a:solidFill>
            <a:prstDash val="solid"/>
          </a:ln>
        </p:spPr>
      </p:sp>
      <p:sp>
        <p:nvSpPr>
          <p:cNvPr id="33" name="ocean:label"/>
          <p:cNvSpPr/>
          <p:nvPr/>
        </p:nvSpPr>
        <p:spPr>
          <a:xfrm>
            <a:off x="7406640" y="3136392"/>
            <a:ext cx="332201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8"/>
              </a:lnSpc>
              <a:buNone/>
            </a:pPr>
            <a:r>
              <a:rPr lang="en-US" sz="950" spc="238" kern="0" dirty="0">
                <a:solidFill>
                  <a:srgbClr val="102426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RENEWABLE ENERGY</a:t>
            </a:r>
            <a:endParaRPr lang="en-US" sz="950" dirty="0"/>
          </a:p>
        </p:txBody>
      </p:sp>
      <p:sp>
        <p:nvSpPr>
          <p:cNvPr id="34" name="ocean:body"/>
          <p:cNvSpPr/>
          <p:nvPr/>
        </p:nvSpPr>
        <p:spPr>
          <a:xfrm>
            <a:off x="7406640" y="3355848"/>
            <a:ext cx="4053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36"/>
              </a:lnSpc>
              <a:buNone/>
            </a:pPr>
            <a:r>
              <a:rPr lang="en-US" sz="1400" b="1" dirty="0">
                <a:solidFill>
                  <a:srgbClr val="102426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Solar, storage, electrical, controls</a:t>
            </a:r>
            <a:endParaRPr lang="en-US" sz="1400" dirty="0"/>
          </a:p>
        </p:txBody>
      </p:sp>
      <p:sp>
        <p:nvSpPr>
          <p:cNvPr id="35" name="ocean:frame"/>
          <p:cNvSpPr/>
          <p:nvPr/>
        </p:nvSpPr>
        <p:spPr>
          <a:xfrm>
            <a:off x="7223760" y="3776472"/>
            <a:ext cx="4419295" cy="640080"/>
          </a:xfrm>
          <a:custGeom>
            <a:avLst/>
            <a:gdLst/>
            <a:ahLst/>
            <a:cxnLst/>
            <a:rect l="l" t="t" r="r" b="b"/>
            <a:pathLst>
              <a:path w="4419295" h="640080">
                <a:moveTo>
                  <a:pt x="76200" y="0"/>
                </a:moveTo>
                <a:lnTo>
                  <a:pt x="4343095" y="0"/>
                </a:lnTo>
                <a:quadBezTo>
                  <a:pt x="4419295" y="0"/>
                  <a:pt x="4419295" y="76200"/>
                </a:quadBezTo>
                <a:lnTo>
                  <a:pt x="4419295" y="487680"/>
                </a:lnTo>
                <a:lnTo>
                  <a:pt x="4266895" y="640080"/>
                </a:lnTo>
                <a:lnTo>
                  <a:pt x="76200" y="640080"/>
                </a:lnTo>
                <a:quadBezTo>
                  <a:pt x="0" y="640080"/>
                  <a:pt x="0" y="563880"/>
                </a:quadBezTo>
                <a:lnTo>
                  <a:pt x="0" y="76200"/>
                </a:lnTo>
                <a:quadBezTo>
                  <a:pt x="0" y="0"/>
                  <a:pt x="76200" y="0"/>
                </a:quadBezTo>
                <a:close/>
              </a:path>
            </a:pathLst>
          </a:custGeom>
          <a:ln w="9525">
            <a:solidFill>
              <a:srgbClr val="102426"/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11387023" y="3904488"/>
            <a:ext cx="82550" cy="82550"/>
          </a:xfrm>
          <a:prstGeom prst="diamond">
            <a:avLst/>
          </a:prstGeom>
          <a:solidFill>
            <a:srgbClr val="102426"/>
          </a:solidFill>
          <a:ln w="12700">
            <a:solidFill>
              <a:srgbClr val="102426"/>
            </a:solidFill>
            <a:prstDash val="solid"/>
          </a:ln>
        </p:spPr>
      </p:sp>
      <p:sp>
        <p:nvSpPr>
          <p:cNvPr id="37" name="Shape 33"/>
          <p:cNvSpPr/>
          <p:nvPr/>
        </p:nvSpPr>
        <p:spPr>
          <a:xfrm>
            <a:off x="11247323" y="3904488"/>
            <a:ext cx="82550" cy="82550"/>
          </a:xfrm>
          <a:prstGeom prst="diamond">
            <a:avLst/>
          </a:prstGeom>
          <a:solidFill>
            <a:srgbClr val="102426"/>
          </a:solidFill>
          <a:ln w="12700">
            <a:solidFill>
              <a:srgbClr val="102426"/>
            </a:solidFill>
            <a:prstDash val="solid"/>
          </a:ln>
        </p:spPr>
      </p:sp>
      <p:sp>
        <p:nvSpPr>
          <p:cNvPr id="38" name="ocean:label"/>
          <p:cNvSpPr/>
          <p:nvPr/>
        </p:nvSpPr>
        <p:spPr>
          <a:xfrm>
            <a:off x="7406640" y="3867912"/>
            <a:ext cx="332201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8"/>
              </a:lnSpc>
              <a:buNone/>
            </a:pPr>
            <a:r>
              <a:rPr lang="en-US" sz="950" spc="238" kern="0" dirty="0">
                <a:solidFill>
                  <a:srgbClr val="102426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CONNECTED MOBILITY</a:t>
            </a:r>
            <a:endParaRPr lang="en-US" sz="950" dirty="0"/>
          </a:p>
        </p:txBody>
      </p:sp>
      <p:sp>
        <p:nvSpPr>
          <p:cNvPr id="39" name="ocean:body"/>
          <p:cNvSpPr/>
          <p:nvPr/>
        </p:nvSpPr>
        <p:spPr>
          <a:xfrm>
            <a:off x="7406640" y="4087368"/>
            <a:ext cx="4053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36"/>
              </a:lnSpc>
              <a:buNone/>
            </a:pPr>
            <a:r>
              <a:rPr lang="en-US" sz="1400" b="1" dirty="0">
                <a:solidFill>
                  <a:srgbClr val="102426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Charging, fleet energy, site operations</a:t>
            </a:r>
            <a:endParaRPr lang="en-US" sz="1400" dirty="0"/>
          </a:p>
        </p:txBody>
      </p:sp>
      <p:sp>
        <p:nvSpPr>
          <p:cNvPr id="40" name="ocean:frame"/>
          <p:cNvSpPr/>
          <p:nvPr/>
        </p:nvSpPr>
        <p:spPr>
          <a:xfrm>
            <a:off x="7223760" y="4507992"/>
            <a:ext cx="4419295" cy="640080"/>
          </a:xfrm>
          <a:custGeom>
            <a:avLst/>
            <a:gdLst/>
            <a:ahLst/>
            <a:cxnLst/>
            <a:rect l="l" t="t" r="r" b="b"/>
            <a:pathLst>
              <a:path w="4419295" h="640080">
                <a:moveTo>
                  <a:pt x="76200" y="0"/>
                </a:moveTo>
                <a:lnTo>
                  <a:pt x="4343095" y="0"/>
                </a:lnTo>
                <a:quadBezTo>
                  <a:pt x="4419295" y="0"/>
                  <a:pt x="4419295" y="76200"/>
                </a:quadBezTo>
                <a:lnTo>
                  <a:pt x="4419295" y="487680"/>
                </a:lnTo>
                <a:lnTo>
                  <a:pt x="4266895" y="640080"/>
                </a:lnTo>
                <a:lnTo>
                  <a:pt x="76200" y="640080"/>
                </a:lnTo>
                <a:quadBezTo>
                  <a:pt x="0" y="640080"/>
                  <a:pt x="0" y="563880"/>
                </a:quadBezTo>
                <a:lnTo>
                  <a:pt x="0" y="76200"/>
                </a:lnTo>
                <a:quadBezTo>
                  <a:pt x="0" y="0"/>
                  <a:pt x="76200" y="0"/>
                </a:quadBezTo>
                <a:close/>
              </a:path>
            </a:pathLst>
          </a:custGeom>
          <a:ln w="9525">
            <a:solidFill>
              <a:srgbClr val="102426"/>
            </a:solidFill>
            <a:prstDash val="solid"/>
          </a:ln>
        </p:spPr>
      </p:sp>
      <p:sp>
        <p:nvSpPr>
          <p:cNvPr id="41" name="Shape 37"/>
          <p:cNvSpPr/>
          <p:nvPr/>
        </p:nvSpPr>
        <p:spPr>
          <a:xfrm>
            <a:off x="11387023" y="4636008"/>
            <a:ext cx="82550" cy="82550"/>
          </a:xfrm>
          <a:prstGeom prst="diamond">
            <a:avLst/>
          </a:prstGeom>
          <a:solidFill>
            <a:srgbClr val="102426"/>
          </a:solidFill>
          <a:ln w="12700">
            <a:solidFill>
              <a:srgbClr val="102426"/>
            </a:solidFill>
            <a:prstDash val="solid"/>
          </a:ln>
        </p:spPr>
      </p:sp>
      <p:sp>
        <p:nvSpPr>
          <p:cNvPr id="42" name="Shape 38"/>
          <p:cNvSpPr/>
          <p:nvPr/>
        </p:nvSpPr>
        <p:spPr>
          <a:xfrm>
            <a:off x="11247323" y="4636008"/>
            <a:ext cx="82550" cy="82550"/>
          </a:xfrm>
          <a:prstGeom prst="diamond">
            <a:avLst/>
          </a:prstGeom>
          <a:solidFill>
            <a:srgbClr val="102426"/>
          </a:solidFill>
          <a:ln w="12700">
            <a:solidFill>
              <a:srgbClr val="102426"/>
            </a:solidFill>
            <a:prstDash val="solid"/>
          </a:ln>
        </p:spPr>
      </p:sp>
      <p:sp>
        <p:nvSpPr>
          <p:cNvPr id="43" name="Shape 39"/>
          <p:cNvSpPr/>
          <p:nvPr/>
        </p:nvSpPr>
        <p:spPr>
          <a:xfrm>
            <a:off x="11107623" y="4636008"/>
            <a:ext cx="82550" cy="82550"/>
          </a:xfrm>
          <a:prstGeom prst="diamond">
            <a:avLst/>
          </a:prstGeom>
          <a:solidFill>
            <a:srgbClr val="102426"/>
          </a:solidFill>
          <a:ln w="12700">
            <a:solidFill>
              <a:srgbClr val="102426"/>
            </a:solidFill>
            <a:prstDash val="solid"/>
          </a:ln>
        </p:spPr>
      </p:sp>
      <p:sp>
        <p:nvSpPr>
          <p:cNvPr id="44" name="ocean:label"/>
          <p:cNvSpPr/>
          <p:nvPr/>
        </p:nvSpPr>
        <p:spPr>
          <a:xfrm>
            <a:off x="7406640" y="4599432"/>
            <a:ext cx="332201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8"/>
              </a:lnSpc>
              <a:buNone/>
            </a:pPr>
            <a:r>
              <a:rPr lang="en-US" sz="950" spc="238" kern="0" dirty="0">
                <a:solidFill>
                  <a:srgbClr val="102426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QUALIFIED COMPUTE</a:t>
            </a:r>
            <a:endParaRPr lang="en-US" sz="950" dirty="0"/>
          </a:p>
        </p:txBody>
      </p:sp>
      <p:sp>
        <p:nvSpPr>
          <p:cNvPr id="45" name="ocean:body"/>
          <p:cNvSpPr/>
          <p:nvPr/>
        </p:nvSpPr>
        <p:spPr>
          <a:xfrm>
            <a:off x="7406640" y="4818888"/>
            <a:ext cx="4053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36"/>
              </a:lnSpc>
              <a:buNone/>
            </a:pPr>
            <a:r>
              <a:rPr lang="en-US" sz="1400" b="1" dirty="0">
                <a:solidFill>
                  <a:srgbClr val="102426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Power, fiber, liquid cooling, partners</a:t>
            </a:r>
            <a:endParaRPr lang="en-US" sz="1400" dirty="0"/>
          </a:p>
        </p:txBody>
      </p:sp>
      <p:sp>
        <p:nvSpPr>
          <p:cNvPr id="46" name="ocean:body"/>
          <p:cNvSpPr/>
          <p:nvPr/>
        </p:nvSpPr>
        <p:spPr>
          <a:xfrm>
            <a:off x="548640" y="5971032"/>
            <a:ext cx="6446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8"/>
              </a:lnSpc>
              <a:buNone/>
            </a:pPr>
            <a:r>
              <a:rPr lang="en-US" sz="1200" dirty="0">
                <a:solidFill>
                  <a:srgbClr val="102426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Representative image: solar parking structures on a corporate campus.</a:t>
            </a:r>
            <a:endParaRPr lang="en-US" sz="1200" dirty="0"/>
          </a:p>
        </p:txBody>
      </p:sp>
      <p:sp>
        <p:nvSpPr>
          <p:cNvPr id="47" name="ocean:footer"/>
          <p:cNvSpPr/>
          <p:nvPr/>
        </p:nvSpPr>
        <p:spPr>
          <a:xfrm>
            <a:off x="548640" y="641908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spc="225" kern="0" dirty="0">
                <a:solidFill>
                  <a:srgbClr val="102426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OCEAN RCS · CONFIDENTIAL · FOR DISCUSSION ONLY · DRAFT · DO NOT USE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cean:header"/>
          <p:cNvSpPr/>
          <p:nvPr/>
        </p:nvSpPr>
        <p:spPr>
          <a:xfrm>
            <a:off x="548640" y="329184"/>
            <a:ext cx="11094415" cy="609600"/>
          </a:xfrm>
          <a:prstGeom prst="rect">
            <a:avLst/>
          </a:prstGeom>
          <a:ln w="12700">
            <a:solidFill>
              <a:srgbClr val="102426"/>
            </a:solidFill>
            <a:prstDash val="solid"/>
          </a:ln>
        </p:spPr>
      </p:sp>
      <p:pic>
        <p:nvPicPr>
          <p:cNvPr id="3" name="ocean:logo-horizontal" descr="/home/user/workspace/audit/repo/assets/logos/png/logo_horizontal_peac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440" y="494284"/>
            <a:ext cx="1000657" cy="2794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2644140" y="329184"/>
            <a:ext cx="0" cy="609600"/>
          </a:xfrm>
          <a:prstGeom prst="line">
            <a:avLst/>
          </a:prstGeom>
          <a:noFill/>
          <a:ln w="12700">
            <a:solidFill>
              <a:srgbClr val="102426"/>
            </a:solidFill>
            <a:prstDash val="solid"/>
          </a:ln>
        </p:spPr>
      </p:sp>
      <p:sp>
        <p:nvSpPr>
          <p:cNvPr id="5" name="ocean:header"/>
          <p:cNvSpPr/>
          <p:nvPr/>
        </p:nvSpPr>
        <p:spPr>
          <a:xfrm>
            <a:off x="2783840" y="420624"/>
            <a:ext cx="70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spc="225" kern="0" dirty="0">
                <a:solidFill>
                  <a:srgbClr val="102426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PAGE</a:t>
            </a:r>
            <a:endParaRPr lang="en-US" sz="900" dirty="0"/>
          </a:p>
        </p:txBody>
      </p:sp>
      <p:sp>
        <p:nvSpPr>
          <p:cNvPr id="6" name="ocean:header"/>
          <p:cNvSpPr/>
          <p:nvPr/>
        </p:nvSpPr>
        <p:spPr>
          <a:xfrm>
            <a:off x="2783840" y="630936"/>
            <a:ext cx="70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225" kern="0" dirty="0">
                <a:solidFill>
                  <a:srgbClr val="102426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05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3533140" y="329184"/>
            <a:ext cx="0" cy="609600"/>
          </a:xfrm>
          <a:prstGeom prst="line">
            <a:avLst/>
          </a:prstGeom>
          <a:noFill/>
          <a:ln w="12700">
            <a:solidFill>
              <a:srgbClr val="102426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687064" y="515112"/>
            <a:ext cx="807758" cy="237744"/>
          </a:xfrm>
          <a:prstGeom prst="rect">
            <a:avLst/>
          </a:prstGeom>
          <a:solidFill>
            <a:srgbClr val="102426"/>
          </a:solidFill>
          <a:ln w="12700">
            <a:solidFill>
              <a:srgbClr val="102426"/>
            </a:solidFill>
            <a:prstDash val="solid"/>
          </a:ln>
        </p:spPr>
      </p:sp>
      <p:sp>
        <p:nvSpPr>
          <p:cNvPr id="9" name="ocean:header"/>
          <p:cNvSpPr/>
          <p:nvPr/>
        </p:nvSpPr>
        <p:spPr>
          <a:xfrm>
            <a:off x="3751072" y="551688"/>
            <a:ext cx="80775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108" kern="0" dirty="0">
                <a:solidFill>
                  <a:srgbClr val="F3FBF8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PLATFORM</a:t>
            </a:r>
            <a:endParaRPr lang="en-US" sz="900" dirty="0"/>
          </a:p>
        </p:txBody>
      </p:sp>
      <p:sp>
        <p:nvSpPr>
          <p:cNvPr id="10" name="ocean:header"/>
          <p:cNvSpPr/>
          <p:nvPr/>
        </p:nvSpPr>
        <p:spPr>
          <a:xfrm>
            <a:off x="4705134" y="551688"/>
            <a:ext cx="69242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108" kern="0" dirty="0">
                <a:solidFill>
                  <a:srgbClr val="102426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PIPELINE</a:t>
            </a:r>
            <a:endParaRPr lang="en-US" sz="900" dirty="0"/>
          </a:p>
        </p:txBody>
      </p:sp>
      <p:sp>
        <p:nvSpPr>
          <p:cNvPr id="11" name="ocean:header"/>
          <p:cNvSpPr/>
          <p:nvPr/>
        </p:nvSpPr>
        <p:spPr>
          <a:xfrm>
            <a:off x="5543868" y="551688"/>
            <a:ext cx="66088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108" kern="0" dirty="0">
                <a:solidFill>
                  <a:srgbClr val="102426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CAPITAL</a:t>
            </a:r>
            <a:endParaRPr lang="en-US" sz="900" dirty="0"/>
          </a:p>
        </p:txBody>
      </p:sp>
      <p:sp>
        <p:nvSpPr>
          <p:cNvPr id="12" name="ocean:header"/>
          <p:cNvSpPr/>
          <p:nvPr/>
        </p:nvSpPr>
        <p:spPr>
          <a:xfrm>
            <a:off x="6351054" y="551688"/>
            <a:ext cx="91885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108" kern="0" dirty="0">
                <a:solidFill>
                  <a:srgbClr val="102426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NEXT STEPS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7312355" y="329184"/>
            <a:ext cx="0" cy="609600"/>
          </a:xfrm>
          <a:prstGeom prst="line">
            <a:avLst/>
          </a:prstGeom>
          <a:noFill/>
          <a:ln w="12700">
            <a:solidFill>
              <a:srgbClr val="102426"/>
            </a:solidFill>
            <a:prstDash val="solid"/>
          </a:ln>
        </p:spPr>
      </p:sp>
      <p:sp>
        <p:nvSpPr>
          <p:cNvPr id="14" name="ocean:header"/>
          <p:cNvSpPr/>
          <p:nvPr/>
        </p:nvSpPr>
        <p:spPr>
          <a:xfrm>
            <a:off x="7477455" y="420624"/>
            <a:ext cx="18211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spc="225" kern="0" dirty="0">
                <a:solidFill>
                  <a:srgbClr val="102426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INVESTOR DECK</a:t>
            </a:r>
            <a:endParaRPr lang="en-US" sz="900" dirty="0"/>
          </a:p>
        </p:txBody>
      </p:sp>
      <p:sp>
        <p:nvSpPr>
          <p:cNvPr id="15" name="ocean:header"/>
          <p:cNvSpPr/>
          <p:nvPr/>
        </p:nvSpPr>
        <p:spPr>
          <a:xfrm>
            <a:off x="7477455" y="630936"/>
            <a:ext cx="18211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225" kern="0" dirty="0">
                <a:solidFill>
                  <a:srgbClr val="102426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OCEAN RCS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9407855" y="329184"/>
            <a:ext cx="0" cy="609600"/>
          </a:xfrm>
          <a:prstGeom prst="line">
            <a:avLst/>
          </a:prstGeom>
          <a:noFill/>
          <a:ln w="12700">
            <a:solidFill>
              <a:srgbClr val="10242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9407855" y="329184"/>
            <a:ext cx="558800" cy="609600"/>
          </a:xfrm>
          <a:prstGeom prst="rect">
            <a:avLst/>
          </a:prstGeom>
          <a:solidFill>
            <a:srgbClr val="102426"/>
          </a:solidFill>
          <a:ln w="12700">
            <a:solidFill>
              <a:srgbClr val="102426"/>
            </a:solidFill>
            <a:prstDash val="solid"/>
          </a:ln>
        </p:spPr>
      </p:sp>
      <p:sp>
        <p:nvSpPr>
          <p:cNvPr id="18" name="ocean:header"/>
          <p:cNvSpPr/>
          <p:nvPr/>
        </p:nvSpPr>
        <p:spPr>
          <a:xfrm>
            <a:off x="9453575" y="542544"/>
            <a:ext cx="46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4"/>
              </a:lnSpc>
              <a:buNone/>
            </a:pPr>
            <a:r>
              <a:rPr lang="en-US" sz="1100" b="1" spc="110" kern="0" dirty="0">
                <a:solidFill>
                  <a:srgbClr val="F3FBF8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01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9966655" y="329184"/>
            <a:ext cx="0" cy="609600"/>
          </a:xfrm>
          <a:prstGeom prst="line">
            <a:avLst/>
          </a:prstGeom>
          <a:noFill/>
          <a:ln w="12700">
            <a:solidFill>
              <a:srgbClr val="102426"/>
            </a:solidFill>
            <a:prstDash val="solid"/>
          </a:ln>
        </p:spPr>
      </p:sp>
      <p:sp>
        <p:nvSpPr>
          <p:cNvPr id="20" name="ocean:header"/>
          <p:cNvSpPr/>
          <p:nvPr/>
        </p:nvSpPr>
        <p:spPr>
          <a:xfrm>
            <a:off x="10012375" y="542544"/>
            <a:ext cx="46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4"/>
              </a:lnSpc>
              <a:buNone/>
            </a:pPr>
            <a:r>
              <a:rPr lang="en-US" sz="1100" b="1" spc="110" kern="0" dirty="0">
                <a:solidFill>
                  <a:srgbClr val="102426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02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10525455" y="329184"/>
            <a:ext cx="0" cy="609600"/>
          </a:xfrm>
          <a:prstGeom prst="line">
            <a:avLst/>
          </a:prstGeom>
          <a:noFill/>
          <a:ln w="12700">
            <a:solidFill>
              <a:srgbClr val="102426"/>
            </a:solidFill>
            <a:prstDash val="solid"/>
          </a:ln>
        </p:spPr>
      </p:sp>
      <p:sp>
        <p:nvSpPr>
          <p:cNvPr id="22" name="ocean:header"/>
          <p:cNvSpPr/>
          <p:nvPr/>
        </p:nvSpPr>
        <p:spPr>
          <a:xfrm>
            <a:off x="10571175" y="542544"/>
            <a:ext cx="46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4"/>
              </a:lnSpc>
              <a:buNone/>
            </a:pPr>
            <a:r>
              <a:rPr lang="en-US" sz="1100" b="1" spc="110" kern="0" dirty="0">
                <a:solidFill>
                  <a:srgbClr val="102426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03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11084255" y="329184"/>
            <a:ext cx="0" cy="609600"/>
          </a:xfrm>
          <a:prstGeom prst="line">
            <a:avLst/>
          </a:prstGeom>
          <a:noFill/>
          <a:ln w="12700">
            <a:solidFill>
              <a:srgbClr val="102426"/>
            </a:solidFill>
            <a:prstDash val="solid"/>
          </a:ln>
        </p:spPr>
      </p:sp>
      <p:sp>
        <p:nvSpPr>
          <p:cNvPr id="24" name="ocean:header"/>
          <p:cNvSpPr/>
          <p:nvPr/>
        </p:nvSpPr>
        <p:spPr>
          <a:xfrm>
            <a:off x="11129975" y="542544"/>
            <a:ext cx="46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4"/>
              </a:lnSpc>
              <a:buNone/>
            </a:pPr>
            <a:r>
              <a:rPr lang="en-US" sz="1100" b="1" spc="110" kern="0" dirty="0">
                <a:solidFill>
                  <a:srgbClr val="102426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04</a:t>
            </a:r>
            <a:endParaRPr lang="en-US" sz="1100" dirty="0"/>
          </a:p>
        </p:txBody>
      </p:sp>
      <p:sp>
        <p:nvSpPr>
          <p:cNvPr id="25" name="ocean:label"/>
          <p:cNvSpPr/>
          <p:nvPr/>
        </p:nvSpPr>
        <p:spPr>
          <a:xfrm>
            <a:off x="548640" y="1335024"/>
            <a:ext cx="6309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4"/>
              </a:lnSpc>
              <a:buNone/>
            </a:pPr>
            <a:r>
              <a:rPr lang="en-US" sz="1100" b="1" spc="275" kern="0" dirty="0">
                <a:solidFill>
                  <a:srgbClr val="102426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01 PLATFORM</a:t>
            </a:r>
            <a:endParaRPr lang="en-US" sz="1100" dirty="0"/>
          </a:p>
        </p:txBody>
      </p:sp>
      <p:sp>
        <p:nvSpPr>
          <p:cNvPr id="26" name="ocean:headline"/>
          <p:cNvSpPr/>
          <p:nvPr/>
        </p:nvSpPr>
        <p:spPr>
          <a:xfrm>
            <a:off x="530352" y="1572768"/>
            <a:ext cx="634593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500" spc="-35" kern="0" dirty="0">
                <a:solidFill>
                  <a:srgbClr val="102426"/>
                </a:solidFill>
                <a:latin typeface="Stack Sans Headline Medium" pitchFamily="34" charset="0"/>
                <a:ea typeface="Stack Sans Headline Medium" pitchFamily="34" charset="-122"/>
                <a:cs typeface="Stack Sans Headline Medium" pitchFamily="34" charset="-120"/>
              </a:rPr>
              <a:t>Develop, build</a:t>
            </a:r>
            <a:endParaRPr lang="en-US" sz="3500" dirty="0"/>
          </a:p>
          <a:p>
            <a:pPr algn="l" indent="0" marL="0">
              <a:lnSpc>
                <a:spcPts val="3900"/>
              </a:lnSpc>
              <a:buNone/>
            </a:pPr>
            <a:r>
              <a:rPr lang="en-US" sz="3500" spc="-35" kern="0" dirty="0">
                <a:solidFill>
                  <a:srgbClr val="102426"/>
                </a:solidFill>
                <a:latin typeface="Stack Sans Headline Medium" pitchFamily="34" charset="0"/>
                <a:ea typeface="Stack Sans Headline Medium" pitchFamily="34" charset="-122"/>
                <a:cs typeface="Stack Sans Headline Medium" pitchFamily="34" charset="-120"/>
              </a:rPr>
              <a:t>and operate</a:t>
            </a:r>
            <a:endParaRPr lang="en-US" sz="3500" dirty="0"/>
          </a:p>
        </p:txBody>
      </p:sp>
      <p:sp>
        <p:nvSpPr>
          <p:cNvPr id="27" name="Shape 24"/>
          <p:cNvSpPr/>
          <p:nvPr/>
        </p:nvSpPr>
        <p:spPr>
          <a:xfrm>
            <a:off x="548640" y="2734056"/>
            <a:ext cx="11094415" cy="0"/>
          </a:xfrm>
          <a:prstGeom prst="line">
            <a:avLst/>
          </a:prstGeom>
          <a:noFill/>
          <a:ln w="12700">
            <a:solidFill>
              <a:srgbClr val="102426"/>
            </a:solidFill>
            <a:prstDash val="solid"/>
          </a:ln>
        </p:spPr>
      </p:sp>
      <p:sp>
        <p:nvSpPr>
          <p:cNvPr id="28" name="ocean:frame"/>
          <p:cNvSpPr/>
          <p:nvPr/>
        </p:nvSpPr>
        <p:spPr>
          <a:xfrm>
            <a:off x="548640" y="3044952"/>
            <a:ext cx="3515258" cy="3127248"/>
          </a:xfrm>
          <a:custGeom>
            <a:avLst/>
            <a:gdLst/>
            <a:ahLst/>
            <a:cxnLst/>
            <a:rect l="l" t="t" r="r" b="b"/>
            <a:pathLst>
              <a:path w="3515258" h="3127248">
                <a:moveTo>
                  <a:pt x="114300" y="0"/>
                </a:moveTo>
                <a:lnTo>
                  <a:pt x="3400958" y="0"/>
                </a:lnTo>
                <a:quadBezTo>
                  <a:pt x="3515258" y="0"/>
                  <a:pt x="3515258" y="114300"/>
                </a:quadBezTo>
                <a:lnTo>
                  <a:pt x="3515258" y="2898648"/>
                </a:lnTo>
                <a:lnTo>
                  <a:pt x="3286658" y="3127248"/>
                </a:lnTo>
                <a:lnTo>
                  <a:pt x="114300" y="3127248"/>
                </a:lnTo>
                <a:quadBezTo>
                  <a:pt x="0" y="3127248"/>
                  <a:pt x="0" y="3012948"/>
                </a:quadBezTo>
                <a:lnTo>
                  <a:pt x="0" y="114300"/>
                </a:lnTo>
                <a:quadBezTo>
                  <a:pt x="0" y="0"/>
                  <a:pt x="114300" y="0"/>
                </a:quadBezTo>
                <a:close/>
              </a:path>
            </a:pathLst>
          </a:custGeom>
          <a:ln w="9525">
            <a:solidFill>
              <a:srgbClr val="102426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3743858" y="3282696"/>
            <a:ext cx="82550" cy="82550"/>
          </a:xfrm>
          <a:prstGeom prst="diamond">
            <a:avLst/>
          </a:prstGeom>
          <a:solidFill>
            <a:srgbClr val="102426"/>
          </a:solidFill>
          <a:ln w="12700">
            <a:solidFill>
              <a:srgbClr val="102426"/>
            </a:solidFill>
            <a:prstDash val="solid"/>
          </a:ln>
        </p:spPr>
      </p:sp>
      <p:sp>
        <p:nvSpPr>
          <p:cNvPr id="30" name="ocean:label"/>
          <p:cNvSpPr/>
          <p:nvPr/>
        </p:nvSpPr>
        <p:spPr>
          <a:xfrm>
            <a:off x="777240" y="324612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2"/>
              </a:lnSpc>
              <a:buNone/>
            </a:pPr>
            <a:r>
              <a:rPr lang="en-US" sz="1050" spc="263" kern="0" dirty="0">
                <a:solidFill>
                  <a:srgbClr val="102426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01</a:t>
            </a:r>
            <a:endParaRPr lang="en-US" sz="1050" dirty="0"/>
          </a:p>
        </p:txBody>
      </p:sp>
      <p:sp>
        <p:nvSpPr>
          <p:cNvPr id="31" name="ocean:section"/>
          <p:cNvSpPr/>
          <p:nvPr/>
        </p:nvSpPr>
        <p:spPr>
          <a:xfrm>
            <a:off x="777240" y="3703320"/>
            <a:ext cx="30580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200" spc="-22" kern="0" dirty="0">
                <a:solidFill>
                  <a:srgbClr val="102426"/>
                </a:solidFill>
                <a:latin typeface="Stack Sans Headline Medium" pitchFamily="34" charset="0"/>
                <a:ea typeface="Stack Sans Headline Medium" pitchFamily="34" charset="-122"/>
                <a:cs typeface="Stack Sans Headline Medium" pitchFamily="34" charset="-120"/>
              </a:rPr>
              <a:t>Develop</a:t>
            </a:r>
            <a:endParaRPr lang="en-US" sz="2200" dirty="0"/>
          </a:p>
        </p:txBody>
      </p:sp>
      <p:sp>
        <p:nvSpPr>
          <p:cNvPr id="32" name="ocean:body"/>
          <p:cNvSpPr/>
          <p:nvPr/>
        </p:nvSpPr>
        <p:spPr>
          <a:xfrm>
            <a:off x="777240" y="4645152"/>
            <a:ext cx="3058058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02426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Site screening, utility review and</a:t>
            </a:r>
            <a:endParaRPr lang="en-US" sz="130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02426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customer strategy.</a:t>
            </a:r>
            <a:endParaRPr lang="en-US" sz="1300" dirty="0"/>
          </a:p>
        </p:txBody>
      </p:sp>
      <p:sp>
        <p:nvSpPr>
          <p:cNvPr id="33" name="ocean:frame"/>
          <p:cNvSpPr/>
          <p:nvPr/>
        </p:nvSpPr>
        <p:spPr>
          <a:xfrm>
            <a:off x="4338218" y="3044952"/>
            <a:ext cx="3515258" cy="3127248"/>
          </a:xfrm>
          <a:custGeom>
            <a:avLst/>
            <a:gdLst/>
            <a:ahLst/>
            <a:cxnLst/>
            <a:rect l="l" t="t" r="r" b="b"/>
            <a:pathLst>
              <a:path w="3515258" h="3127248">
                <a:moveTo>
                  <a:pt x="114300" y="0"/>
                </a:moveTo>
                <a:lnTo>
                  <a:pt x="3400958" y="0"/>
                </a:lnTo>
                <a:quadBezTo>
                  <a:pt x="3515258" y="0"/>
                  <a:pt x="3515258" y="114300"/>
                </a:quadBezTo>
                <a:lnTo>
                  <a:pt x="3515258" y="2898648"/>
                </a:lnTo>
                <a:lnTo>
                  <a:pt x="3286658" y="3127248"/>
                </a:lnTo>
                <a:lnTo>
                  <a:pt x="114300" y="3127248"/>
                </a:lnTo>
                <a:quadBezTo>
                  <a:pt x="0" y="3127248"/>
                  <a:pt x="0" y="3012948"/>
                </a:quadBezTo>
                <a:lnTo>
                  <a:pt x="0" y="114300"/>
                </a:lnTo>
                <a:quadBezTo>
                  <a:pt x="0" y="0"/>
                  <a:pt x="114300" y="0"/>
                </a:quadBezTo>
                <a:close/>
              </a:path>
            </a:pathLst>
          </a:custGeom>
          <a:ln w="9525">
            <a:solidFill>
              <a:srgbClr val="102426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7533437" y="3282696"/>
            <a:ext cx="82550" cy="82550"/>
          </a:xfrm>
          <a:prstGeom prst="diamond">
            <a:avLst/>
          </a:prstGeom>
          <a:solidFill>
            <a:srgbClr val="102426"/>
          </a:solidFill>
          <a:ln w="12700">
            <a:solidFill>
              <a:srgbClr val="102426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7393737" y="3282696"/>
            <a:ext cx="82550" cy="82550"/>
          </a:xfrm>
          <a:prstGeom prst="diamond">
            <a:avLst/>
          </a:prstGeom>
          <a:solidFill>
            <a:srgbClr val="102426"/>
          </a:solidFill>
          <a:ln w="12700">
            <a:solidFill>
              <a:srgbClr val="102426"/>
            </a:solidFill>
            <a:prstDash val="solid"/>
          </a:ln>
        </p:spPr>
      </p:sp>
      <p:sp>
        <p:nvSpPr>
          <p:cNvPr id="36" name="ocean:label"/>
          <p:cNvSpPr/>
          <p:nvPr/>
        </p:nvSpPr>
        <p:spPr>
          <a:xfrm>
            <a:off x="4566818" y="324612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2"/>
              </a:lnSpc>
              <a:buNone/>
            </a:pPr>
            <a:r>
              <a:rPr lang="en-US" sz="1050" spc="263" kern="0" dirty="0">
                <a:solidFill>
                  <a:srgbClr val="102426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02</a:t>
            </a:r>
            <a:endParaRPr lang="en-US" sz="1050" dirty="0"/>
          </a:p>
        </p:txBody>
      </p:sp>
      <p:sp>
        <p:nvSpPr>
          <p:cNvPr id="37" name="ocean:section"/>
          <p:cNvSpPr/>
          <p:nvPr/>
        </p:nvSpPr>
        <p:spPr>
          <a:xfrm>
            <a:off x="4566818" y="3703320"/>
            <a:ext cx="30580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200" spc="-22" kern="0" dirty="0">
                <a:solidFill>
                  <a:srgbClr val="102426"/>
                </a:solidFill>
                <a:latin typeface="Stack Sans Headline Medium" pitchFamily="34" charset="0"/>
                <a:ea typeface="Stack Sans Headline Medium" pitchFamily="34" charset="-122"/>
                <a:cs typeface="Stack Sans Headline Medium" pitchFamily="34" charset="-120"/>
              </a:rPr>
              <a:t>Build</a:t>
            </a:r>
            <a:endParaRPr lang="en-US" sz="2200" dirty="0"/>
          </a:p>
        </p:txBody>
      </p:sp>
      <p:sp>
        <p:nvSpPr>
          <p:cNvPr id="38" name="ocean:body"/>
          <p:cNvSpPr/>
          <p:nvPr/>
        </p:nvSpPr>
        <p:spPr>
          <a:xfrm>
            <a:off x="4566818" y="4645152"/>
            <a:ext cx="3058058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02426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Solar, storage, EVSE and site</a:t>
            </a:r>
            <a:endParaRPr lang="en-US" sz="130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02426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infrastructure.</a:t>
            </a:r>
            <a:endParaRPr lang="en-US" sz="1300" dirty="0"/>
          </a:p>
        </p:txBody>
      </p:sp>
      <p:sp>
        <p:nvSpPr>
          <p:cNvPr id="39" name="ocean:frame"/>
          <p:cNvSpPr/>
          <p:nvPr/>
        </p:nvSpPr>
        <p:spPr>
          <a:xfrm>
            <a:off x="8127797" y="3044952"/>
            <a:ext cx="3515258" cy="3127248"/>
          </a:xfrm>
          <a:custGeom>
            <a:avLst/>
            <a:gdLst/>
            <a:ahLst/>
            <a:cxnLst/>
            <a:rect l="l" t="t" r="r" b="b"/>
            <a:pathLst>
              <a:path w="3515258" h="3127248">
                <a:moveTo>
                  <a:pt x="114300" y="0"/>
                </a:moveTo>
                <a:lnTo>
                  <a:pt x="3400958" y="0"/>
                </a:lnTo>
                <a:quadBezTo>
                  <a:pt x="3515258" y="0"/>
                  <a:pt x="3515258" y="114300"/>
                </a:quadBezTo>
                <a:lnTo>
                  <a:pt x="3515258" y="2898648"/>
                </a:lnTo>
                <a:lnTo>
                  <a:pt x="3286658" y="3127248"/>
                </a:lnTo>
                <a:lnTo>
                  <a:pt x="114300" y="3127248"/>
                </a:lnTo>
                <a:quadBezTo>
                  <a:pt x="0" y="3127248"/>
                  <a:pt x="0" y="3012948"/>
                </a:quadBezTo>
                <a:lnTo>
                  <a:pt x="0" y="114300"/>
                </a:lnTo>
                <a:quadBezTo>
                  <a:pt x="0" y="0"/>
                  <a:pt x="114300" y="0"/>
                </a:quadBezTo>
                <a:close/>
              </a:path>
            </a:pathLst>
          </a:custGeom>
          <a:ln w="9525">
            <a:solidFill>
              <a:srgbClr val="102426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11323015" y="3282696"/>
            <a:ext cx="82550" cy="82550"/>
          </a:xfrm>
          <a:prstGeom prst="diamond">
            <a:avLst/>
          </a:prstGeom>
          <a:solidFill>
            <a:srgbClr val="102426"/>
          </a:solidFill>
          <a:ln w="12700">
            <a:solidFill>
              <a:srgbClr val="102426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11183315" y="3282696"/>
            <a:ext cx="82550" cy="82550"/>
          </a:xfrm>
          <a:prstGeom prst="diamond">
            <a:avLst/>
          </a:prstGeom>
          <a:solidFill>
            <a:srgbClr val="102426"/>
          </a:solidFill>
          <a:ln w="12700">
            <a:solidFill>
              <a:srgbClr val="102426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11043615" y="3282696"/>
            <a:ext cx="82550" cy="82550"/>
          </a:xfrm>
          <a:prstGeom prst="diamond">
            <a:avLst/>
          </a:prstGeom>
          <a:solidFill>
            <a:srgbClr val="102426"/>
          </a:solidFill>
          <a:ln w="12700">
            <a:solidFill>
              <a:srgbClr val="102426"/>
            </a:solidFill>
            <a:prstDash val="solid"/>
          </a:ln>
        </p:spPr>
      </p:sp>
      <p:sp>
        <p:nvSpPr>
          <p:cNvPr id="43" name="ocean:label"/>
          <p:cNvSpPr/>
          <p:nvPr/>
        </p:nvSpPr>
        <p:spPr>
          <a:xfrm>
            <a:off x="8356397" y="324612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2"/>
              </a:lnSpc>
              <a:buNone/>
            </a:pPr>
            <a:r>
              <a:rPr lang="en-US" sz="1050" spc="263" kern="0" dirty="0">
                <a:solidFill>
                  <a:srgbClr val="102426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03</a:t>
            </a:r>
            <a:endParaRPr lang="en-US" sz="1050" dirty="0"/>
          </a:p>
        </p:txBody>
      </p:sp>
      <p:sp>
        <p:nvSpPr>
          <p:cNvPr id="44" name="ocean:section"/>
          <p:cNvSpPr/>
          <p:nvPr/>
        </p:nvSpPr>
        <p:spPr>
          <a:xfrm>
            <a:off x="8356397" y="3703320"/>
            <a:ext cx="30580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200" spc="-22" kern="0" dirty="0">
                <a:solidFill>
                  <a:srgbClr val="102426"/>
                </a:solidFill>
                <a:latin typeface="Stack Sans Headline Medium" pitchFamily="34" charset="0"/>
                <a:ea typeface="Stack Sans Headline Medium" pitchFamily="34" charset="-122"/>
                <a:cs typeface="Stack Sans Headline Medium" pitchFamily="34" charset="-120"/>
              </a:rPr>
              <a:t>Operate</a:t>
            </a:r>
            <a:endParaRPr lang="en-US" sz="2200" dirty="0"/>
          </a:p>
        </p:txBody>
      </p:sp>
      <p:sp>
        <p:nvSpPr>
          <p:cNvPr id="45" name="ocean:body"/>
          <p:cNvSpPr/>
          <p:nvPr/>
        </p:nvSpPr>
        <p:spPr>
          <a:xfrm>
            <a:off x="8356397" y="4645152"/>
            <a:ext cx="3058058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02426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Monitoring, O&amp;M, billing and reporting.</a:t>
            </a:r>
            <a:endParaRPr lang="en-US" sz="130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102426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Ocean controls the integration layer.</a:t>
            </a:r>
            <a:endParaRPr lang="en-US" sz="1300" dirty="0"/>
          </a:p>
        </p:txBody>
      </p:sp>
      <p:sp>
        <p:nvSpPr>
          <p:cNvPr id="46" name="ocean:footer"/>
          <p:cNvSpPr/>
          <p:nvPr/>
        </p:nvSpPr>
        <p:spPr>
          <a:xfrm>
            <a:off x="548640" y="641908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spc="225" kern="0" dirty="0">
                <a:solidFill>
                  <a:srgbClr val="102426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OCEAN RCS · CONFIDENTIAL · FOR DISCUSSION ONLY · DRAFT · DO NOT USE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D5CCA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cean:environment" descr="/home/user/workspace/audit/repo/assets/environments/env_sprig_map_light_sof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ocean:logo-graphic" descr="/home/user/workspace/audit/repo/assets/logos/png/logo_graphic_sa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87455" y="406400"/>
            <a:ext cx="355600" cy="355600"/>
          </a:xfrm>
          <a:prstGeom prst="rect">
            <a:avLst/>
          </a:prstGeom>
        </p:spPr>
      </p:pic>
      <p:sp>
        <p:nvSpPr>
          <p:cNvPr id="4" name="ocean:metric"/>
          <p:cNvSpPr/>
          <p:nvPr/>
        </p:nvSpPr>
        <p:spPr>
          <a:xfrm>
            <a:off x="512064" y="1737360"/>
            <a:ext cx="3657600" cy="152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00"/>
              </a:lnSpc>
              <a:buNone/>
            </a:pPr>
            <a:r>
              <a:rPr lang="en-US" sz="12000" spc="-480" kern="0" dirty="0">
                <a:solidFill>
                  <a:srgbClr val="618C7C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02</a:t>
            </a:r>
            <a:endParaRPr lang="en-US" sz="12000" dirty="0"/>
          </a:p>
        </p:txBody>
      </p:sp>
      <p:sp>
        <p:nvSpPr>
          <p:cNvPr id="5" name="ocean:headline"/>
          <p:cNvSpPr/>
          <p:nvPr/>
        </p:nvSpPr>
        <p:spPr>
          <a:xfrm>
            <a:off x="548640" y="356616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4400" spc="-88" kern="0" dirty="0">
                <a:solidFill>
                  <a:srgbClr val="618C7C"/>
                </a:solidFill>
                <a:latin typeface="Stack Sans Headline Medium" pitchFamily="34" charset="0"/>
                <a:ea typeface="Stack Sans Headline Medium" pitchFamily="34" charset="-122"/>
                <a:cs typeface="Stack Sans Headline Medium" pitchFamily="34" charset="-120"/>
              </a:rPr>
              <a:t>Parallel lanes,</a:t>
            </a:r>
            <a:endParaRPr lang="en-US" sz="4400" dirty="0"/>
          </a:p>
          <a:p>
            <a:pPr algn="l" indent="0" marL="0">
              <a:lnSpc>
                <a:spcPts val="4800"/>
              </a:lnSpc>
              <a:buNone/>
            </a:pPr>
            <a:r>
              <a:rPr lang="en-US" sz="4400" spc="-88" kern="0" dirty="0">
                <a:solidFill>
                  <a:srgbClr val="618C7C"/>
                </a:solidFill>
                <a:latin typeface="Stack Sans Headline Medium" pitchFamily="34" charset="0"/>
                <a:ea typeface="Stack Sans Headline Medium" pitchFamily="34" charset="-122"/>
                <a:cs typeface="Stack Sans Headline Medium" pitchFamily="34" charset="-120"/>
              </a:rPr>
              <a:t>protected stages</a:t>
            </a:r>
            <a:endParaRPr lang="en-US" sz="4400" dirty="0"/>
          </a:p>
        </p:txBody>
      </p:sp>
      <p:sp>
        <p:nvSpPr>
          <p:cNvPr id="7" name="ocean:footer"/>
          <p:cNvSpPr/>
          <p:nvPr/>
        </p:nvSpPr>
        <p:spPr>
          <a:xfrm>
            <a:off x="548640" y="641908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spc="225" kern="0" dirty="0">
                <a:solidFill>
                  <a:srgbClr val="0B1617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OCEAN RCS · CONFIDENTIAL · FOR DISCUSSION ONLY · DRAFT · DO NOT USE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D5CCA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cean:header"/>
          <p:cNvSpPr/>
          <p:nvPr/>
        </p:nvSpPr>
        <p:spPr>
          <a:xfrm>
            <a:off x="548640" y="329184"/>
            <a:ext cx="11094415" cy="609600"/>
          </a:xfrm>
          <a:prstGeom prst="rect">
            <a:avLst/>
          </a:prstGeom>
          <a:ln w="12700">
            <a:solidFill>
              <a:srgbClr val="1B4039"/>
            </a:solidFill>
            <a:prstDash val="solid"/>
          </a:ln>
        </p:spPr>
      </p:sp>
      <p:pic>
        <p:nvPicPr>
          <p:cNvPr id="3" name="ocean:logo-horizontal" descr="/home/user/workspace/audit/repo/assets/logos/png/logo_horizontal_ced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440" y="494284"/>
            <a:ext cx="1000657" cy="2794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2644140" y="329184"/>
            <a:ext cx="0" cy="609600"/>
          </a:xfrm>
          <a:prstGeom prst="line">
            <a:avLst/>
          </a:prstGeom>
          <a:noFill/>
          <a:ln w="12700">
            <a:solidFill>
              <a:srgbClr val="1B4039"/>
            </a:solidFill>
            <a:prstDash val="solid"/>
          </a:ln>
        </p:spPr>
      </p:sp>
      <p:sp>
        <p:nvSpPr>
          <p:cNvPr id="5" name="ocean:header"/>
          <p:cNvSpPr/>
          <p:nvPr/>
        </p:nvSpPr>
        <p:spPr>
          <a:xfrm>
            <a:off x="2783840" y="420624"/>
            <a:ext cx="70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spc="225" kern="0" dirty="0">
                <a:solidFill>
                  <a:srgbClr val="1B4039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PAGE</a:t>
            </a:r>
            <a:endParaRPr lang="en-US" sz="900" dirty="0"/>
          </a:p>
        </p:txBody>
      </p:sp>
      <p:sp>
        <p:nvSpPr>
          <p:cNvPr id="6" name="ocean:header"/>
          <p:cNvSpPr/>
          <p:nvPr/>
        </p:nvSpPr>
        <p:spPr>
          <a:xfrm>
            <a:off x="2783840" y="630936"/>
            <a:ext cx="70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225" kern="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07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3533140" y="329184"/>
            <a:ext cx="0" cy="609600"/>
          </a:xfrm>
          <a:prstGeom prst="line">
            <a:avLst/>
          </a:prstGeom>
          <a:noFill/>
          <a:ln w="12700">
            <a:solidFill>
              <a:srgbClr val="1B4039"/>
            </a:solidFill>
            <a:prstDash val="solid"/>
          </a:ln>
        </p:spPr>
      </p:sp>
      <p:sp>
        <p:nvSpPr>
          <p:cNvPr id="8" name="ocean:header"/>
          <p:cNvSpPr/>
          <p:nvPr/>
        </p:nvSpPr>
        <p:spPr>
          <a:xfrm>
            <a:off x="3751072" y="551688"/>
            <a:ext cx="80775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108" kern="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PLATFORM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641126" y="515112"/>
            <a:ext cx="692429" cy="237744"/>
          </a:xfrm>
          <a:prstGeom prst="rect">
            <a:avLst/>
          </a:prstGeom>
          <a:solidFill>
            <a:srgbClr val="1B4039"/>
          </a:solidFill>
          <a:ln w="12700">
            <a:solidFill>
              <a:srgbClr val="1B4039"/>
            </a:solidFill>
            <a:prstDash val="solid"/>
          </a:ln>
        </p:spPr>
      </p:sp>
      <p:sp>
        <p:nvSpPr>
          <p:cNvPr id="10" name="ocean:header"/>
          <p:cNvSpPr/>
          <p:nvPr/>
        </p:nvSpPr>
        <p:spPr>
          <a:xfrm>
            <a:off x="4705134" y="551688"/>
            <a:ext cx="69242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108" kern="0" dirty="0">
                <a:solidFill>
                  <a:srgbClr val="D5CCA0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PIPELINE</a:t>
            </a:r>
            <a:endParaRPr lang="en-US" sz="900" dirty="0"/>
          </a:p>
        </p:txBody>
      </p:sp>
      <p:sp>
        <p:nvSpPr>
          <p:cNvPr id="11" name="ocean:header"/>
          <p:cNvSpPr/>
          <p:nvPr/>
        </p:nvSpPr>
        <p:spPr>
          <a:xfrm>
            <a:off x="5543868" y="551688"/>
            <a:ext cx="66088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108" kern="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CAPITAL</a:t>
            </a:r>
            <a:endParaRPr lang="en-US" sz="900" dirty="0"/>
          </a:p>
        </p:txBody>
      </p:sp>
      <p:sp>
        <p:nvSpPr>
          <p:cNvPr id="12" name="ocean:header"/>
          <p:cNvSpPr/>
          <p:nvPr/>
        </p:nvSpPr>
        <p:spPr>
          <a:xfrm>
            <a:off x="6351054" y="551688"/>
            <a:ext cx="91885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108" kern="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NEXT STEPS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7312355" y="329184"/>
            <a:ext cx="0" cy="609600"/>
          </a:xfrm>
          <a:prstGeom prst="line">
            <a:avLst/>
          </a:prstGeom>
          <a:noFill/>
          <a:ln w="12700">
            <a:solidFill>
              <a:srgbClr val="1B4039"/>
            </a:solidFill>
            <a:prstDash val="solid"/>
          </a:ln>
        </p:spPr>
      </p:sp>
      <p:sp>
        <p:nvSpPr>
          <p:cNvPr id="14" name="ocean:header"/>
          <p:cNvSpPr/>
          <p:nvPr/>
        </p:nvSpPr>
        <p:spPr>
          <a:xfrm>
            <a:off x="7477455" y="420624"/>
            <a:ext cx="18211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spc="225" kern="0" dirty="0">
                <a:solidFill>
                  <a:srgbClr val="1B4039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INVESTOR DECK</a:t>
            </a:r>
            <a:endParaRPr lang="en-US" sz="900" dirty="0"/>
          </a:p>
        </p:txBody>
      </p:sp>
      <p:sp>
        <p:nvSpPr>
          <p:cNvPr id="15" name="ocean:header"/>
          <p:cNvSpPr/>
          <p:nvPr/>
        </p:nvSpPr>
        <p:spPr>
          <a:xfrm>
            <a:off x="7477455" y="630936"/>
            <a:ext cx="18211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225" kern="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OCEAN RCS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9407855" y="329184"/>
            <a:ext cx="0" cy="609600"/>
          </a:xfrm>
          <a:prstGeom prst="line">
            <a:avLst/>
          </a:prstGeom>
          <a:noFill/>
          <a:ln w="12700">
            <a:solidFill>
              <a:srgbClr val="1B4039"/>
            </a:solidFill>
            <a:prstDash val="solid"/>
          </a:ln>
        </p:spPr>
      </p:sp>
      <p:sp>
        <p:nvSpPr>
          <p:cNvPr id="17" name="ocean:header"/>
          <p:cNvSpPr/>
          <p:nvPr/>
        </p:nvSpPr>
        <p:spPr>
          <a:xfrm>
            <a:off x="9453575" y="542544"/>
            <a:ext cx="46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4"/>
              </a:lnSpc>
              <a:buNone/>
            </a:pPr>
            <a:r>
              <a:rPr lang="en-US" sz="1100" b="1" spc="110" kern="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01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9966655" y="329184"/>
            <a:ext cx="0" cy="609600"/>
          </a:xfrm>
          <a:prstGeom prst="line">
            <a:avLst/>
          </a:prstGeom>
          <a:noFill/>
          <a:ln w="12700">
            <a:solidFill>
              <a:srgbClr val="1B4039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9966655" y="329184"/>
            <a:ext cx="558800" cy="609600"/>
          </a:xfrm>
          <a:prstGeom prst="rect">
            <a:avLst/>
          </a:prstGeom>
          <a:solidFill>
            <a:srgbClr val="1B4039"/>
          </a:solidFill>
          <a:ln w="12700">
            <a:solidFill>
              <a:srgbClr val="1B4039"/>
            </a:solidFill>
            <a:prstDash val="solid"/>
          </a:ln>
        </p:spPr>
      </p:sp>
      <p:sp>
        <p:nvSpPr>
          <p:cNvPr id="20" name="ocean:header"/>
          <p:cNvSpPr/>
          <p:nvPr/>
        </p:nvSpPr>
        <p:spPr>
          <a:xfrm>
            <a:off x="10012375" y="542544"/>
            <a:ext cx="46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4"/>
              </a:lnSpc>
              <a:buNone/>
            </a:pPr>
            <a:r>
              <a:rPr lang="en-US" sz="1100" b="1" spc="110" kern="0" dirty="0">
                <a:solidFill>
                  <a:srgbClr val="D5CCA0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02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10525455" y="329184"/>
            <a:ext cx="0" cy="609600"/>
          </a:xfrm>
          <a:prstGeom prst="line">
            <a:avLst/>
          </a:prstGeom>
          <a:noFill/>
          <a:ln w="12700">
            <a:solidFill>
              <a:srgbClr val="1B4039"/>
            </a:solidFill>
            <a:prstDash val="solid"/>
          </a:ln>
        </p:spPr>
      </p:sp>
      <p:sp>
        <p:nvSpPr>
          <p:cNvPr id="22" name="ocean:header"/>
          <p:cNvSpPr/>
          <p:nvPr/>
        </p:nvSpPr>
        <p:spPr>
          <a:xfrm>
            <a:off x="10571175" y="542544"/>
            <a:ext cx="46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4"/>
              </a:lnSpc>
              <a:buNone/>
            </a:pPr>
            <a:r>
              <a:rPr lang="en-US" sz="1100" b="1" spc="110" kern="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03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11084255" y="329184"/>
            <a:ext cx="0" cy="609600"/>
          </a:xfrm>
          <a:prstGeom prst="line">
            <a:avLst/>
          </a:prstGeom>
          <a:noFill/>
          <a:ln w="12700">
            <a:solidFill>
              <a:srgbClr val="1B4039"/>
            </a:solidFill>
            <a:prstDash val="solid"/>
          </a:ln>
        </p:spPr>
      </p:sp>
      <p:sp>
        <p:nvSpPr>
          <p:cNvPr id="24" name="ocean:header"/>
          <p:cNvSpPr/>
          <p:nvPr/>
        </p:nvSpPr>
        <p:spPr>
          <a:xfrm>
            <a:off x="11129975" y="542544"/>
            <a:ext cx="46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4"/>
              </a:lnSpc>
              <a:buNone/>
            </a:pPr>
            <a:r>
              <a:rPr lang="en-US" sz="1100" b="1" spc="110" kern="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04</a:t>
            </a:r>
            <a:endParaRPr lang="en-US" sz="1100" dirty="0"/>
          </a:p>
        </p:txBody>
      </p:sp>
      <p:sp>
        <p:nvSpPr>
          <p:cNvPr id="25" name="ocean:label"/>
          <p:cNvSpPr/>
          <p:nvPr/>
        </p:nvSpPr>
        <p:spPr>
          <a:xfrm>
            <a:off x="548640" y="1335024"/>
            <a:ext cx="6309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4"/>
              </a:lnSpc>
              <a:buNone/>
            </a:pPr>
            <a:r>
              <a:rPr lang="en-US" sz="1100" b="1" spc="275" kern="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02 PIPELINE</a:t>
            </a:r>
            <a:endParaRPr lang="en-US" sz="1100" dirty="0"/>
          </a:p>
        </p:txBody>
      </p:sp>
      <p:sp>
        <p:nvSpPr>
          <p:cNvPr id="26" name="ocean:headline"/>
          <p:cNvSpPr/>
          <p:nvPr/>
        </p:nvSpPr>
        <p:spPr>
          <a:xfrm>
            <a:off x="530352" y="1572768"/>
            <a:ext cx="634593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500" spc="-35" kern="0" dirty="0">
                <a:solidFill>
                  <a:srgbClr val="1B4039"/>
                </a:solidFill>
                <a:latin typeface="Stack Sans Headline Medium" pitchFamily="34" charset="0"/>
                <a:ea typeface="Stack Sans Headline Medium" pitchFamily="34" charset="-122"/>
                <a:cs typeface="Stack Sans Headline Medium" pitchFamily="34" charset="-120"/>
              </a:rPr>
              <a:t>A mobility hub is</a:t>
            </a:r>
            <a:endParaRPr lang="en-US" sz="3500" dirty="0"/>
          </a:p>
          <a:p>
            <a:pPr algn="l" indent="0" marL="0">
              <a:lnSpc>
                <a:spcPts val="3900"/>
              </a:lnSpc>
              <a:buNone/>
            </a:pPr>
            <a:r>
              <a:rPr lang="en-US" sz="3500" spc="-35" kern="0" dirty="0">
                <a:solidFill>
                  <a:srgbClr val="1B4039"/>
                </a:solidFill>
                <a:latin typeface="Stack Sans Headline Medium" pitchFamily="34" charset="0"/>
                <a:ea typeface="Stack Sans Headline Medium" pitchFamily="34" charset="-122"/>
                <a:cs typeface="Stack Sans Headline Medium" pitchFamily="34" charset="-120"/>
              </a:rPr>
              <a:t>more than charging</a:t>
            </a:r>
            <a:endParaRPr lang="en-US" sz="3500" dirty="0"/>
          </a:p>
        </p:txBody>
      </p:sp>
      <p:sp>
        <p:nvSpPr>
          <p:cNvPr id="27" name="ocean:lede"/>
          <p:cNvSpPr/>
          <p:nvPr/>
        </p:nvSpPr>
        <p:spPr>
          <a:xfrm>
            <a:off x="7040880" y="1572768"/>
            <a:ext cx="4602175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b="1" spc="263" kern="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SITE FORMATS CAN COMBINE ENERGY, MOBILITY,</a:t>
            </a:r>
            <a:endParaRPr lang="en-US" sz="1050" dirty="0"/>
          </a:p>
          <a:p>
            <a:pPr algn="l" indent="0" marL="0">
              <a:lnSpc>
                <a:spcPts val="1700"/>
              </a:lnSpc>
              <a:buNone/>
            </a:pPr>
            <a:r>
              <a:rPr lang="en-US" sz="1050" b="1" spc="263" kern="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RETAIL, FLEET AND SERVICE REVENUE.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548640" y="2734056"/>
            <a:ext cx="11094415" cy="0"/>
          </a:xfrm>
          <a:prstGeom prst="line">
            <a:avLst/>
          </a:prstGeom>
          <a:noFill/>
          <a:ln w="12700">
            <a:solidFill>
              <a:srgbClr val="1B4039"/>
            </a:solidFill>
            <a:prstDash val="solid"/>
          </a:ln>
        </p:spPr>
      </p:sp>
      <p:pic>
        <p:nvPicPr>
          <p:cNvPr id="29" name="ocean:photo" descr="/home/user/workspace/audit/repo/output/.cache/fit/mobility-hub-15c8a0038a3749fc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044952"/>
            <a:ext cx="6446520" cy="2834640"/>
          </a:xfrm>
          <a:prstGeom prst="rect">
            <a:avLst/>
          </a:prstGeom>
        </p:spPr>
      </p:pic>
      <p:sp>
        <p:nvSpPr>
          <p:cNvPr id="30" name="Shape 26"/>
          <p:cNvSpPr/>
          <p:nvPr/>
        </p:nvSpPr>
        <p:spPr>
          <a:xfrm flipV="1">
            <a:off x="544068" y="3040380"/>
            <a:ext cx="279400" cy="279400"/>
          </a:xfrm>
          <a:prstGeom prst="rtTriangle">
            <a:avLst/>
          </a:prstGeom>
          <a:solidFill>
            <a:srgbClr val="D5CCA0"/>
          </a:solidFill>
          <a:ln w="12700">
            <a:solidFill>
              <a:srgbClr val="D5CCA0"/>
            </a:solidFill>
            <a:prstDash val="solid"/>
          </a:ln>
        </p:spPr>
      </p:sp>
      <p:sp>
        <p:nvSpPr>
          <p:cNvPr id="31" name="ocean:frame"/>
          <p:cNvSpPr/>
          <p:nvPr/>
        </p:nvSpPr>
        <p:spPr>
          <a:xfrm>
            <a:off x="7223760" y="3044952"/>
            <a:ext cx="4419295" cy="640080"/>
          </a:xfrm>
          <a:custGeom>
            <a:avLst/>
            <a:gdLst/>
            <a:ahLst/>
            <a:cxnLst/>
            <a:rect l="l" t="t" r="r" b="b"/>
            <a:pathLst>
              <a:path w="4419295" h="640080">
                <a:moveTo>
                  <a:pt x="76200" y="0"/>
                </a:moveTo>
                <a:lnTo>
                  <a:pt x="4343095" y="0"/>
                </a:lnTo>
                <a:quadBezTo>
                  <a:pt x="4419295" y="0"/>
                  <a:pt x="4419295" y="76200"/>
                </a:quadBezTo>
                <a:lnTo>
                  <a:pt x="4419295" y="487680"/>
                </a:lnTo>
                <a:lnTo>
                  <a:pt x="4266895" y="640080"/>
                </a:lnTo>
                <a:lnTo>
                  <a:pt x="76200" y="640080"/>
                </a:lnTo>
                <a:quadBezTo>
                  <a:pt x="0" y="640080"/>
                  <a:pt x="0" y="563880"/>
                </a:quadBezTo>
                <a:lnTo>
                  <a:pt x="0" y="76200"/>
                </a:lnTo>
                <a:quadBezTo>
                  <a:pt x="0" y="0"/>
                  <a:pt x="76200" y="0"/>
                </a:quadBezTo>
                <a:close/>
              </a:path>
            </a:pathLst>
          </a:custGeom>
          <a:ln w="9525">
            <a:solidFill>
              <a:srgbClr val="1B4039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11387023" y="3172968"/>
            <a:ext cx="82550" cy="82550"/>
          </a:xfrm>
          <a:prstGeom prst="diamond">
            <a:avLst/>
          </a:prstGeom>
          <a:solidFill>
            <a:srgbClr val="1B4039"/>
          </a:solidFill>
          <a:ln w="12700">
            <a:solidFill>
              <a:srgbClr val="1B4039"/>
            </a:solidFill>
            <a:prstDash val="solid"/>
          </a:ln>
        </p:spPr>
      </p:sp>
      <p:sp>
        <p:nvSpPr>
          <p:cNvPr id="33" name="ocean:label"/>
          <p:cNvSpPr/>
          <p:nvPr/>
        </p:nvSpPr>
        <p:spPr>
          <a:xfrm>
            <a:off x="7406640" y="3136392"/>
            <a:ext cx="332201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8"/>
              </a:lnSpc>
              <a:buNone/>
            </a:pPr>
            <a:r>
              <a:rPr lang="en-US" sz="950" spc="238" kern="0" dirty="0">
                <a:solidFill>
                  <a:srgbClr val="1B4039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CHARGING</a:t>
            </a:r>
            <a:endParaRPr lang="en-US" sz="950" dirty="0"/>
          </a:p>
        </p:txBody>
      </p:sp>
      <p:sp>
        <p:nvSpPr>
          <p:cNvPr id="34" name="ocean:body"/>
          <p:cNvSpPr/>
          <p:nvPr/>
        </p:nvSpPr>
        <p:spPr>
          <a:xfrm>
            <a:off x="7406640" y="3355848"/>
            <a:ext cx="4053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36"/>
              </a:lnSpc>
              <a:buNone/>
            </a:pPr>
            <a:r>
              <a:rPr lang="en-US" sz="1400" b="1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Public DC fast charging</a:t>
            </a:r>
            <a:endParaRPr lang="en-US" sz="1400" dirty="0"/>
          </a:p>
        </p:txBody>
      </p:sp>
      <p:sp>
        <p:nvSpPr>
          <p:cNvPr id="35" name="ocean:frame"/>
          <p:cNvSpPr/>
          <p:nvPr/>
        </p:nvSpPr>
        <p:spPr>
          <a:xfrm>
            <a:off x="7223760" y="3776472"/>
            <a:ext cx="4419295" cy="640080"/>
          </a:xfrm>
          <a:custGeom>
            <a:avLst/>
            <a:gdLst/>
            <a:ahLst/>
            <a:cxnLst/>
            <a:rect l="l" t="t" r="r" b="b"/>
            <a:pathLst>
              <a:path w="4419295" h="640080">
                <a:moveTo>
                  <a:pt x="76200" y="0"/>
                </a:moveTo>
                <a:lnTo>
                  <a:pt x="4343095" y="0"/>
                </a:lnTo>
                <a:quadBezTo>
                  <a:pt x="4419295" y="0"/>
                  <a:pt x="4419295" y="76200"/>
                </a:quadBezTo>
                <a:lnTo>
                  <a:pt x="4419295" y="487680"/>
                </a:lnTo>
                <a:lnTo>
                  <a:pt x="4266895" y="640080"/>
                </a:lnTo>
                <a:lnTo>
                  <a:pt x="76200" y="640080"/>
                </a:lnTo>
                <a:quadBezTo>
                  <a:pt x="0" y="640080"/>
                  <a:pt x="0" y="563880"/>
                </a:quadBezTo>
                <a:lnTo>
                  <a:pt x="0" y="76200"/>
                </a:lnTo>
                <a:quadBezTo>
                  <a:pt x="0" y="0"/>
                  <a:pt x="76200" y="0"/>
                </a:quadBezTo>
                <a:close/>
              </a:path>
            </a:pathLst>
          </a:custGeom>
          <a:ln w="9525">
            <a:solidFill>
              <a:srgbClr val="1B4039"/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11387023" y="3904488"/>
            <a:ext cx="82550" cy="82550"/>
          </a:xfrm>
          <a:prstGeom prst="diamond">
            <a:avLst/>
          </a:prstGeom>
          <a:solidFill>
            <a:srgbClr val="1B4039"/>
          </a:solidFill>
          <a:ln w="12700">
            <a:solidFill>
              <a:srgbClr val="1B4039"/>
            </a:solidFill>
            <a:prstDash val="solid"/>
          </a:ln>
        </p:spPr>
      </p:sp>
      <p:sp>
        <p:nvSpPr>
          <p:cNvPr id="37" name="Shape 33"/>
          <p:cNvSpPr/>
          <p:nvPr/>
        </p:nvSpPr>
        <p:spPr>
          <a:xfrm>
            <a:off x="11247323" y="3904488"/>
            <a:ext cx="82550" cy="82550"/>
          </a:xfrm>
          <a:prstGeom prst="diamond">
            <a:avLst/>
          </a:prstGeom>
          <a:solidFill>
            <a:srgbClr val="1B4039"/>
          </a:solidFill>
          <a:ln w="12700">
            <a:solidFill>
              <a:srgbClr val="1B4039"/>
            </a:solidFill>
            <a:prstDash val="solid"/>
          </a:ln>
        </p:spPr>
      </p:sp>
      <p:sp>
        <p:nvSpPr>
          <p:cNvPr id="38" name="ocean:label"/>
          <p:cNvSpPr/>
          <p:nvPr/>
        </p:nvSpPr>
        <p:spPr>
          <a:xfrm>
            <a:off x="7406640" y="3867912"/>
            <a:ext cx="332201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8"/>
              </a:lnSpc>
              <a:buNone/>
            </a:pPr>
            <a:r>
              <a:rPr lang="en-US" sz="950" spc="238" kern="0" dirty="0">
                <a:solidFill>
                  <a:srgbClr val="1B4039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FLEET</a:t>
            </a:r>
            <a:endParaRPr lang="en-US" sz="950" dirty="0"/>
          </a:p>
        </p:txBody>
      </p:sp>
      <p:sp>
        <p:nvSpPr>
          <p:cNvPr id="39" name="ocean:body"/>
          <p:cNvSpPr/>
          <p:nvPr/>
        </p:nvSpPr>
        <p:spPr>
          <a:xfrm>
            <a:off x="7406640" y="4087368"/>
            <a:ext cx="4053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36"/>
              </a:lnSpc>
              <a:buNone/>
            </a:pPr>
            <a:r>
              <a:rPr lang="en-US" sz="1400" b="1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Charging and staging</a:t>
            </a:r>
            <a:endParaRPr lang="en-US" sz="1400" dirty="0"/>
          </a:p>
        </p:txBody>
      </p:sp>
      <p:sp>
        <p:nvSpPr>
          <p:cNvPr id="40" name="ocean:frame"/>
          <p:cNvSpPr/>
          <p:nvPr/>
        </p:nvSpPr>
        <p:spPr>
          <a:xfrm>
            <a:off x="7223760" y="4507992"/>
            <a:ext cx="4419295" cy="640080"/>
          </a:xfrm>
          <a:custGeom>
            <a:avLst/>
            <a:gdLst/>
            <a:ahLst/>
            <a:cxnLst/>
            <a:rect l="l" t="t" r="r" b="b"/>
            <a:pathLst>
              <a:path w="4419295" h="640080">
                <a:moveTo>
                  <a:pt x="76200" y="0"/>
                </a:moveTo>
                <a:lnTo>
                  <a:pt x="4343095" y="0"/>
                </a:lnTo>
                <a:quadBezTo>
                  <a:pt x="4419295" y="0"/>
                  <a:pt x="4419295" y="76200"/>
                </a:quadBezTo>
                <a:lnTo>
                  <a:pt x="4419295" y="487680"/>
                </a:lnTo>
                <a:lnTo>
                  <a:pt x="4266895" y="640080"/>
                </a:lnTo>
                <a:lnTo>
                  <a:pt x="76200" y="640080"/>
                </a:lnTo>
                <a:quadBezTo>
                  <a:pt x="0" y="640080"/>
                  <a:pt x="0" y="563880"/>
                </a:quadBezTo>
                <a:lnTo>
                  <a:pt x="0" y="76200"/>
                </a:lnTo>
                <a:quadBezTo>
                  <a:pt x="0" y="0"/>
                  <a:pt x="76200" y="0"/>
                </a:quadBezTo>
                <a:close/>
              </a:path>
            </a:pathLst>
          </a:custGeom>
          <a:ln w="9525">
            <a:solidFill>
              <a:srgbClr val="1B4039"/>
            </a:solidFill>
            <a:prstDash val="solid"/>
          </a:ln>
        </p:spPr>
      </p:sp>
      <p:sp>
        <p:nvSpPr>
          <p:cNvPr id="41" name="Shape 37"/>
          <p:cNvSpPr/>
          <p:nvPr/>
        </p:nvSpPr>
        <p:spPr>
          <a:xfrm>
            <a:off x="11387023" y="4636008"/>
            <a:ext cx="82550" cy="82550"/>
          </a:xfrm>
          <a:prstGeom prst="diamond">
            <a:avLst/>
          </a:prstGeom>
          <a:solidFill>
            <a:srgbClr val="1B4039"/>
          </a:solidFill>
          <a:ln w="12700">
            <a:solidFill>
              <a:srgbClr val="1B4039"/>
            </a:solidFill>
            <a:prstDash val="solid"/>
          </a:ln>
        </p:spPr>
      </p:sp>
      <p:sp>
        <p:nvSpPr>
          <p:cNvPr id="42" name="Shape 38"/>
          <p:cNvSpPr/>
          <p:nvPr/>
        </p:nvSpPr>
        <p:spPr>
          <a:xfrm>
            <a:off x="11247323" y="4636008"/>
            <a:ext cx="82550" cy="82550"/>
          </a:xfrm>
          <a:prstGeom prst="diamond">
            <a:avLst/>
          </a:prstGeom>
          <a:solidFill>
            <a:srgbClr val="1B4039"/>
          </a:solidFill>
          <a:ln w="12700">
            <a:solidFill>
              <a:srgbClr val="1B4039"/>
            </a:solidFill>
            <a:prstDash val="solid"/>
          </a:ln>
        </p:spPr>
      </p:sp>
      <p:sp>
        <p:nvSpPr>
          <p:cNvPr id="43" name="Shape 39"/>
          <p:cNvSpPr/>
          <p:nvPr/>
        </p:nvSpPr>
        <p:spPr>
          <a:xfrm>
            <a:off x="11107623" y="4636008"/>
            <a:ext cx="82550" cy="82550"/>
          </a:xfrm>
          <a:prstGeom prst="diamond">
            <a:avLst/>
          </a:prstGeom>
          <a:solidFill>
            <a:srgbClr val="1B4039"/>
          </a:solidFill>
          <a:ln w="12700">
            <a:solidFill>
              <a:srgbClr val="1B4039"/>
            </a:solidFill>
            <a:prstDash val="solid"/>
          </a:ln>
        </p:spPr>
      </p:sp>
      <p:sp>
        <p:nvSpPr>
          <p:cNvPr id="44" name="ocean:label"/>
          <p:cNvSpPr/>
          <p:nvPr/>
        </p:nvSpPr>
        <p:spPr>
          <a:xfrm>
            <a:off x="7406640" y="4599432"/>
            <a:ext cx="332201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8"/>
              </a:lnSpc>
              <a:buNone/>
            </a:pPr>
            <a:r>
              <a:rPr lang="en-US" sz="950" spc="238" kern="0" dirty="0">
                <a:solidFill>
                  <a:srgbClr val="1B4039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ENERGY</a:t>
            </a:r>
            <a:endParaRPr lang="en-US" sz="950" dirty="0"/>
          </a:p>
        </p:txBody>
      </p:sp>
      <p:sp>
        <p:nvSpPr>
          <p:cNvPr id="45" name="ocean:body"/>
          <p:cNvSpPr/>
          <p:nvPr/>
        </p:nvSpPr>
        <p:spPr>
          <a:xfrm>
            <a:off x="7406640" y="4818888"/>
            <a:ext cx="4053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36"/>
              </a:lnSpc>
              <a:buNone/>
            </a:pPr>
            <a:r>
              <a:rPr lang="en-US" sz="1400" b="1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Solar canopy and BESS</a:t>
            </a:r>
            <a:endParaRPr lang="en-US" sz="1400" dirty="0"/>
          </a:p>
        </p:txBody>
      </p:sp>
      <p:sp>
        <p:nvSpPr>
          <p:cNvPr id="46" name="ocean:frame"/>
          <p:cNvSpPr/>
          <p:nvPr/>
        </p:nvSpPr>
        <p:spPr>
          <a:xfrm>
            <a:off x="7223760" y="5239512"/>
            <a:ext cx="4419295" cy="640080"/>
          </a:xfrm>
          <a:custGeom>
            <a:avLst/>
            <a:gdLst/>
            <a:ahLst/>
            <a:cxnLst/>
            <a:rect l="l" t="t" r="r" b="b"/>
            <a:pathLst>
              <a:path w="4419295" h="640080">
                <a:moveTo>
                  <a:pt x="76200" y="0"/>
                </a:moveTo>
                <a:lnTo>
                  <a:pt x="4343095" y="0"/>
                </a:lnTo>
                <a:quadBezTo>
                  <a:pt x="4419295" y="0"/>
                  <a:pt x="4419295" y="76200"/>
                </a:quadBezTo>
                <a:lnTo>
                  <a:pt x="4419295" y="487680"/>
                </a:lnTo>
                <a:lnTo>
                  <a:pt x="4266895" y="640080"/>
                </a:lnTo>
                <a:lnTo>
                  <a:pt x="76200" y="640080"/>
                </a:lnTo>
                <a:quadBezTo>
                  <a:pt x="0" y="640080"/>
                  <a:pt x="0" y="563880"/>
                </a:quadBezTo>
                <a:lnTo>
                  <a:pt x="0" y="76200"/>
                </a:lnTo>
                <a:quadBezTo>
                  <a:pt x="0" y="0"/>
                  <a:pt x="76200" y="0"/>
                </a:quadBezTo>
                <a:close/>
              </a:path>
            </a:pathLst>
          </a:custGeom>
          <a:ln w="9525">
            <a:solidFill>
              <a:srgbClr val="1B4039"/>
            </a:solidFill>
            <a:prstDash val="solid"/>
          </a:ln>
        </p:spPr>
      </p:sp>
      <p:sp>
        <p:nvSpPr>
          <p:cNvPr id="47" name="Shape 43"/>
          <p:cNvSpPr/>
          <p:nvPr/>
        </p:nvSpPr>
        <p:spPr>
          <a:xfrm>
            <a:off x="11387023" y="5367528"/>
            <a:ext cx="82550" cy="82550"/>
          </a:xfrm>
          <a:prstGeom prst="diamond">
            <a:avLst/>
          </a:prstGeom>
          <a:solidFill>
            <a:srgbClr val="1B4039"/>
          </a:solidFill>
          <a:ln w="12700">
            <a:solidFill>
              <a:srgbClr val="1B4039"/>
            </a:solidFill>
            <a:prstDash val="solid"/>
          </a:ln>
        </p:spPr>
      </p:sp>
      <p:sp>
        <p:nvSpPr>
          <p:cNvPr id="48" name="Shape 44"/>
          <p:cNvSpPr/>
          <p:nvPr/>
        </p:nvSpPr>
        <p:spPr>
          <a:xfrm>
            <a:off x="11247323" y="5367528"/>
            <a:ext cx="82550" cy="82550"/>
          </a:xfrm>
          <a:prstGeom prst="diamond">
            <a:avLst/>
          </a:prstGeom>
          <a:solidFill>
            <a:srgbClr val="1B4039"/>
          </a:solidFill>
          <a:ln w="12700">
            <a:solidFill>
              <a:srgbClr val="1B4039"/>
            </a:solidFill>
            <a:prstDash val="solid"/>
          </a:ln>
        </p:spPr>
      </p:sp>
      <p:sp>
        <p:nvSpPr>
          <p:cNvPr id="49" name="Shape 45"/>
          <p:cNvSpPr/>
          <p:nvPr/>
        </p:nvSpPr>
        <p:spPr>
          <a:xfrm>
            <a:off x="11107623" y="5367528"/>
            <a:ext cx="82550" cy="82550"/>
          </a:xfrm>
          <a:prstGeom prst="diamond">
            <a:avLst/>
          </a:prstGeom>
          <a:solidFill>
            <a:srgbClr val="1B4039"/>
          </a:solidFill>
          <a:ln w="12700">
            <a:solidFill>
              <a:srgbClr val="1B4039"/>
            </a:solidFill>
            <a:prstDash val="solid"/>
          </a:ln>
        </p:spPr>
      </p:sp>
      <p:sp>
        <p:nvSpPr>
          <p:cNvPr id="50" name="Shape 46"/>
          <p:cNvSpPr/>
          <p:nvPr/>
        </p:nvSpPr>
        <p:spPr>
          <a:xfrm>
            <a:off x="10967923" y="5367528"/>
            <a:ext cx="82550" cy="82550"/>
          </a:xfrm>
          <a:prstGeom prst="diamond">
            <a:avLst/>
          </a:prstGeom>
          <a:solidFill>
            <a:srgbClr val="1B4039"/>
          </a:solidFill>
          <a:ln w="12700">
            <a:solidFill>
              <a:srgbClr val="1B4039"/>
            </a:solidFill>
            <a:prstDash val="solid"/>
          </a:ln>
        </p:spPr>
      </p:sp>
      <p:sp>
        <p:nvSpPr>
          <p:cNvPr id="51" name="ocean:label"/>
          <p:cNvSpPr/>
          <p:nvPr/>
        </p:nvSpPr>
        <p:spPr>
          <a:xfrm>
            <a:off x="7406640" y="5330952"/>
            <a:ext cx="332201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8"/>
              </a:lnSpc>
              <a:buNone/>
            </a:pPr>
            <a:r>
              <a:rPr lang="en-US" sz="950" spc="238" kern="0" dirty="0">
                <a:solidFill>
                  <a:srgbClr val="1B4039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SERVICES</a:t>
            </a:r>
            <a:endParaRPr lang="en-US" sz="950" dirty="0"/>
          </a:p>
        </p:txBody>
      </p:sp>
      <p:sp>
        <p:nvSpPr>
          <p:cNvPr id="52" name="ocean:body"/>
          <p:cNvSpPr/>
          <p:nvPr/>
        </p:nvSpPr>
        <p:spPr>
          <a:xfrm>
            <a:off x="7406640" y="5550408"/>
            <a:ext cx="4053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36"/>
              </a:lnSpc>
              <a:buNone/>
            </a:pPr>
            <a:r>
              <a:rPr lang="en-US" sz="1400" b="1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Retail, amenities, wash</a:t>
            </a:r>
            <a:endParaRPr lang="en-US" sz="1400" dirty="0"/>
          </a:p>
        </p:txBody>
      </p:sp>
      <p:sp>
        <p:nvSpPr>
          <p:cNvPr id="53" name="ocean:body"/>
          <p:cNvSpPr/>
          <p:nvPr/>
        </p:nvSpPr>
        <p:spPr>
          <a:xfrm>
            <a:off x="548640" y="5971032"/>
            <a:ext cx="6446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8"/>
              </a:lnSpc>
              <a:buNone/>
            </a:pPr>
            <a:r>
              <a:rPr lang="en-US" sz="120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Representative image: infrastructure concept, not an Ocean site.</a:t>
            </a:r>
            <a:endParaRPr lang="en-US" sz="1200" dirty="0"/>
          </a:p>
        </p:txBody>
      </p:sp>
      <p:sp>
        <p:nvSpPr>
          <p:cNvPr id="54" name="ocean:footer"/>
          <p:cNvSpPr/>
          <p:nvPr/>
        </p:nvSpPr>
        <p:spPr>
          <a:xfrm>
            <a:off x="548640" y="641908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spc="225" kern="0" dirty="0">
                <a:solidFill>
                  <a:srgbClr val="1B4039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OCEAN RCS · CONFIDENTIAL · FOR DISCUSSION ONLY · DRAFT · DO NOT USE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D5CCA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cean:header"/>
          <p:cNvSpPr/>
          <p:nvPr/>
        </p:nvSpPr>
        <p:spPr>
          <a:xfrm>
            <a:off x="548640" y="329184"/>
            <a:ext cx="11094415" cy="609600"/>
          </a:xfrm>
          <a:prstGeom prst="rect">
            <a:avLst/>
          </a:prstGeom>
          <a:ln w="12700">
            <a:solidFill>
              <a:srgbClr val="1B4039"/>
            </a:solidFill>
            <a:prstDash val="solid"/>
          </a:ln>
        </p:spPr>
      </p:sp>
      <p:pic>
        <p:nvPicPr>
          <p:cNvPr id="3" name="ocean:logo-horizontal" descr="/home/user/workspace/audit/repo/assets/logos/png/logo_horizontal_ced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440" y="494284"/>
            <a:ext cx="1000657" cy="2794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2644140" y="329184"/>
            <a:ext cx="0" cy="609600"/>
          </a:xfrm>
          <a:prstGeom prst="line">
            <a:avLst/>
          </a:prstGeom>
          <a:noFill/>
          <a:ln w="12700">
            <a:solidFill>
              <a:srgbClr val="1B4039"/>
            </a:solidFill>
            <a:prstDash val="solid"/>
          </a:ln>
        </p:spPr>
      </p:sp>
      <p:sp>
        <p:nvSpPr>
          <p:cNvPr id="5" name="ocean:header"/>
          <p:cNvSpPr/>
          <p:nvPr/>
        </p:nvSpPr>
        <p:spPr>
          <a:xfrm>
            <a:off x="2783840" y="420624"/>
            <a:ext cx="70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spc="225" kern="0" dirty="0">
                <a:solidFill>
                  <a:srgbClr val="1B4039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PAGE</a:t>
            </a:r>
            <a:endParaRPr lang="en-US" sz="900" dirty="0"/>
          </a:p>
        </p:txBody>
      </p:sp>
      <p:sp>
        <p:nvSpPr>
          <p:cNvPr id="6" name="ocean:header"/>
          <p:cNvSpPr/>
          <p:nvPr/>
        </p:nvSpPr>
        <p:spPr>
          <a:xfrm>
            <a:off x="2783840" y="630936"/>
            <a:ext cx="70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225" kern="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08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3533140" y="329184"/>
            <a:ext cx="0" cy="609600"/>
          </a:xfrm>
          <a:prstGeom prst="line">
            <a:avLst/>
          </a:prstGeom>
          <a:noFill/>
          <a:ln w="12700">
            <a:solidFill>
              <a:srgbClr val="1B4039"/>
            </a:solidFill>
            <a:prstDash val="solid"/>
          </a:ln>
        </p:spPr>
      </p:sp>
      <p:sp>
        <p:nvSpPr>
          <p:cNvPr id="8" name="ocean:header"/>
          <p:cNvSpPr/>
          <p:nvPr/>
        </p:nvSpPr>
        <p:spPr>
          <a:xfrm>
            <a:off x="3751072" y="551688"/>
            <a:ext cx="80775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108" kern="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PLATFORM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641126" y="515112"/>
            <a:ext cx="692429" cy="237744"/>
          </a:xfrm>
          <a:prstGeom prst="rect">
            <a:avLst/>
          </a:prstGeom>
          <a:solidFill>
            <a:srgbClr val="1B4039"/>
          </a:solidFill>
          <a:ln w="12700">
            <a:solidFill>
              <a:srgbClr val="1B4039"/>
            </a:solidFill>
            <a:prstDash val="solid"/>
          </a:ln>
        </p:spPr>
      </p:sp>
      <p:sp>
        <p:nvSpPr>
          <p:cNvPr id="10" name="ocean:header"/>
          <p:cNvSpPr/>
          <p:nvPr/>
        </p:nvSpPr>
        <p:spPr>
          <a:xfrm>
            <a:off x="4705134" y="551688"/>
            <a:ext cx="69242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108" kern="0" dirty="0">
                <a:solidFill>
                  <a:srgbClr val="D5CCA0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PIPELINE</a:t>
            </a:r>
            <a:endParaRPr lang="en-US" sz="900" dirty="0"/>
          </a:p>
        </p:txBody>
      </p:sp>
      <p:sp>
        <p:nvSpPr>
          <p:cNvPr id="11" name="ocean:header"/>
          <p:cNvSpPr/>
          <p:nvPr/>
        </p:nvSpPr>
        <p:spPr>
          <a:xfrm>
            <a:off x="5543868" y="551688"/>
            <a:ext cx="66088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108" kern="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CAPITAL</a:t>
            </a:r>
            <a:endParaRPr lang="en-US" sz="900" dirty="0"/>
          </a:p>
        </p:txBody>
      </p:sp>
      <p:sp>
        <p:nvSpPr>
          <p:cNvPr id="12" name="ocean:header"/>
          <p:cNvSpPr/>
          <p:nvPr/>
        </p:nvSpPr>
        <p:spPr>
          <a:xfrm>
            <a:off x="6351054" y="551688"/>
            <a:ext cx="91885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108" kern="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NEXT STEPS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7312355" y="329184"/>
            <a:ext cx="0" cy="609600"/>
          </a:xfrm>
          <a:prstGeom prst="line">
            <a:avLst/>
          </a:prstGeom>
          <a:noFill/>
          <a:ln w="12700">
            <a:solidFill>
              <a:srgbClr val="1B4039"/>
            </a:solidFill>
            <a:prstDash val="solid"/>
          </a:ln>
        </p:spPr>
      </p:sp>
      <p:sp>
        <p:nvSpPr>
          <p:cNvPr id="14" name="ocean:header"/>
          <p:cNvSpPr/>
          <p:nvPr/>
        </p:nvSpPr>
        <p:spPr>
          <a:xfrm>
            <a:off x="7477455" y="420624"/>
            <a:ext cx="18211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spc="225" kern="0" dirty="0">
                <a:solidFill>
                  <a:srgbClr val="1B4039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INVESTOR DECK</a:t>
            </a:r>
            <a:endParaRPr lang="en-US" sz="900" dirty="0"/>
          </a:p>
        </p:txBody>
      </p:sp>
      <p:sp>
        <p:nvSpPr>
          <p:cNvPr id="15" name="ocean:header"/>
          <p:cNvSpPr/>
          <p:nvPr/>
        </p:nvSpPr>
        <p:spPr>
          <a:xfrm>
            <a:off x="7477455" y="630936"/>
            <a:ext cx="18211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225" kern="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OCEAN RCS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9407855" y="329184"/>
            <a:ext cx="0" cy="609600"/>
          </a:xfrm>
          <a:prstGeom prst="line">
            <a:avLst/>
          </a:prstGeom>
          <a:noFill/>
          <a:ln w="12700">
            <a:solidFill>
              <a:srgbClr val="1B4039"/>
            </a:solidFill>
            <a:prstDash val="solid"/>
          </a:ln>
        </p:spPr>
      </p:sp>
      <p:sp>
        <p:nvSpPr>
          <p:cNvPr id="17" name="ocean:header"/>
          <p:cNvSpPr/>
          <p:nvPr/>
        </p:nvSpPr>
        <p:spPr>
          <a:xfrm>
            <a:off x="9453575" y="542544"/>
            <a:ext cx="46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4"/>
              </a:lnSpc>
              <a:buNone/>
            </a:pPr>
            <a:r>
              <a:rPr lang="en-US" sz="1100" b="1" spc="110" kern="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01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9966655" y="329184"/>
            <a:ext cx="0" cy="609600"/>
          </a:xfrm>
          <a:prstGeom prst="line">
            <a:avLst/>
          </a:prstGeom>
          <a:noFill/>
          <a:ln w="12700">
            <a:solidFill>
              <a:srgbClr val="1B4039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9966655" y="329184"/>
            <a:ext cx="558800" cy="609600"/>
          </a:xfrm>
          <a:prstGeom prst="rect">
            <a:avLst/>
          </a:prstGeom>
          <a:solidFill>
            <a:srgbClr val="1B4039"/>
          </a:solidFill>
          <a:ln w="12700">
            <a:solidFill>
              <a:srgbClr val="1B4039"/>
            </a:solidFill>
            <a:prstDash val="solid"/>
          </a:ln>
        </p:spPr>
      </p:sp>
      <p:sp>
        <p:nvSpPr>
          <p:cNvPr id="20" name="ocean:header"/>
          <p:cNvSpPr/>
          <p:nvPr/>
        </p:nvSpPr>
        <p:spPr>
          <a:xfrm>
            <a:off x="10012375" y="542544"/>
            <a:ext cx="46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4"/>
              </a:lnSpc>
              <a:buNone/>
            </a:pPr>
            <a:r>
              <a:rPr lang="en-US" sz="1100" b="1" spc="110" kern="0" dirty="0">
                <a:solidFill>
                  <a:srgbClr val="D5CCA0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02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10525455" y="329184"/>
            <a:ext cx="0" cy="609600"/>
          </a:xfrm>
          <a:prstGeom prst="line">
            <a:avLst/>
          </a:prstGeom>
          <a:noFill/>
          <a:ln w="12700">
            <a:solidFill>
              <a:srgbClr val="1B4039"/>
            </a:solidFill>
            <a:prstDash val="solid"/>
          </a:ln>
        </p:spPr>
      </p:sp>
      <p:sp>
        <p:nvSpPr>
          <p:cNvPr id="22" name="ocean:header"/>
          <p:cNvSpPr/>
          <p:nvPr/>
        </p:nvSpPr>
        <p:spPr>
          <a:xfrm>
            <a:off x="10571175" y="542544"/>
            <a:ext cx="46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4"/>
              </a:lnSpc>
              <a:buNone/>
            </a:pPr>
            <a:r>
              <a:rPr lang="en-US" sz="1100" b="1" spc="110" kern="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03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11084255" y="329184"/>
            <a:ext cx="0" cy="609600"/>
          </a:xfrm>
          <a:prstGeom prst="line">
            <a:avLst/>
          </a:prstGeom>
          <a:noFill/>
          <a:ln w="12700">
            <a:solidFill>
              <a:srgbClr val="1B4039"/>
            </a:solidFill>
            <a:prstDash val="solid"/>
          </a:ln>
        </p:spPr>
      </p:sp>
      <p:sp>
        <p:nvSpPr>
          <p:cNvPr id="24" name="ocean:header"/>
          <p:cNvSpPr/>
          <p:nvPr/>
        </p:nvSpPr>
        <p:spPr>
          <a:xfrm>
            <a:off x="11129975" y="542544"/>
            <a:ext cx="46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4"/>
              </a:lnSpc>
              <a:buNone/>
            </a:pPr>
            <a:r>
              <a:rPr lang="en-US" sz="1100" b="1" spc="110" kern="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04</a:t>
            </a:r>
            <a:endParaRPr lang="en-US" sz="1100" dirty="0"/>
          </a:p>
        </p:txBody>
      </p:sp>
      <p:sp>
        <p:nvSpPr>
          <p:cNvPr id="25" name="ocean:label"/>
          <p:cNvSpPr/>
          <p:nvPr/>
        </p:nvSpPr>
        <p:spPr>
          <a:xfrm>
            <a:off x="548640" y="1335024"/>
            <a:ext cx="6309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4"/>
              </a:lnSpc>
              <a:buNone/>
            </a:pPr>
            <a:r>
              <a:rPr lang="en-US" sz="1100" b="1" spc="275" kern="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02 PIPELINE</a:t>
            </a:r>
            <a:endParaRPr lang="en-US" sz="1100" dirty="0"/>
          </a:p>
        </p:txBody>
      </p:sp>
      <p:sp>
        <p:nvSpPr>
          <p:cNvPr id="26" name="ocean:headline"/>
          <p:cNvSpPr/>
          <p:nvPr/>
        </p:nvSpPr>
        <p:spPr>
          <a:xfrm>
            <a:off x="530352" y="1572768"/>
            <a:ext cx="634593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500" spc="-35" kern="0" dirty="0">
                <a:solidFill>
                  <a:srgbClr val="1B4039"/>
                </a:solidFill>
                <a:latin typeface="Stack Sans Headline Medium" pitchFamily="34" charset="0"/>
                <a:ea typeface="Stack Sans Headline Medium" pitchFamily="34" charset="-122"/>
                <a:cs typeface="Stack Sans Headline Medium" pitchFamily="34" charset="-120"/>
              </a:rPr>
              <a:t>Several project lanes</a:t>
            </a:r>
            <a:endParaRPr lang="en-US" sz="3500" dirty="0"/>
          </a:p>
          <a:p>
            <a:pPr algn="l" indent="0" marL="0">
              <a:lnSpc>
                <a:spcPts val="3900"/>
              </a:lnSpc>
              <a:buNone/>
            </a:pPr>
            <a:r>
              <a:rPr lang="en-US" sz="3500" spc="-35" kern="0" dirty="0">
                <a:solidFill>
                  <a:srgbClr val="1B4039"/>
                </a:solidFill>
                <a:latin typeface="Stack Sans Headline Medium" pitchFamily="34" charset="0"/>
                <a:ea typeface="Stack Sans Headline Medium" pitchFamily="34" charset="-122"/>
                <a:cs typeface="Stack Sans Headline Medium" pitchFamily="34" charset="-120"/>
              </a:rPr>
              <a:t>move at once</a:t>
            </a:r>
            <a:endParaRPr lang="en-US" sz="3500" dirty="0"/>
          </a:p>
        </p:txBody>
      </p:sp>
      <p:sp>
        <p:nvSpPr>
          <p:cNvPr id="27" name="ocean:lede"/>
          <p:cNvSpPr/>
          <p:nvPr/>
        </p:nvSpPr>
        <p:spPr>
          <a:xfrm>
            <a:off x="7040880" y="1572768"/>
            <a:ext cx="4602175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b="1" spc="263" kern="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OCEAN DOES NOT WAIT TO COMPLETE ONE LANE</a:t>
            </a:r>
            <a:endParaRPr lang="en-US" sz="1050" dirty="0"/>
          </a:p>
          <a:p>
            <a:pPr algn="l" indent="0" marL="0">
              <a:lnSpc>
                <a:spcPts val="1700"/>
              </a:lnSpc>
              <a:buNone/>
            </a:pPr>
            <a:r>
              <a:rPr lang="en-US" sz="1050" b="1" spc="263" kern="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BEFORE ADVANCING ANOTHER.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548640" y="2734056"/>
            <a:ext cx="11094415" cy="0"/>
          </a:xfrm>
          <a:prstGeom prst="line">
            <a:avLst/>
          </a:prstGeom>
          <a:noFill/>
          <a:ln w="12700">
            <a:solidFill>
              <a:srgbClr val="1B4039"/>
            </a:solidFill>
            <a:prstDash val="solid"/>
          </a:ln>
        </p:spPr>
      </p:sp>
      <p:graphicFrame>
        <p:nvGraphicFramePr>
          <p:cNvPr id="9" name="ocean: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044952"/>
          <a:ext cx="11094415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7802575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spc="225" kern="0" dirty="0">
                          <a:solidFill>
                            <a:srgbClr val="1B4039"/>
                          </a:solidFill>
                          <a:latin typeface="Stack Sans Headline" pitchFamily="34" charset="0"/>
                          <a:ea typeface="Stack Sans Headline" pitchFamily="34" charset="-122"/>
                          <a:cs typeface="Stack Sans Headline" pitchFamily="34" charset="-120"/>
                        </a:rPr>
                        <a:t>LANE</a:t>
                      </a:r>
                      <a:endParaRPr lang="en-US" sz="900" dirty="0">
                        <a:latin typeface="Stack Sans Headline" charset="0"/>
                        <a:ea typeface="Stack Sans Headline" charset="0"/>
                        <a:cs typeface="Stack Sans Headline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1B40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CCA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spc="225" kern="0" dirty="0">
                          <a:solidFill>
                            <a:srgbClr val="1B4039"/>
                          </a:solidFill>
                          <a:latin typeface="Stack Sans Headline" pitchFamily="34" charset="0"/>
                          <a:ea typeface="Stack Sans Headline" pitchFamily="34" charset="-122"/>
                          <a:cs typeface="Stack Sans Headline" pitchFamily="34" charset="-120"/>
                        </a:rPr>
                        <a:t>WHAT GOVERNS ADVANCEMENT</a:t>
                      </a:r>
                      <a:endParaRPr lang="en-US" sz="900" dirty="0">
                        <a:latin typeface="Stack Sans Headline" charset="0"/>
                        <a:ea typeface="Stack Sans Headline" charset="0"/>
                        <a:cs typeface="Stack Sans Headline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1B403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CCA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4039"/>
                          </a:solidFill>
                          <a:latin typeface="Stack Sans Headline" pitchFamily="34" charset="0"/>
                          <a:ea typeface="Stack Sans Headline" pitchFamily="34" charset="-122"/>
                          <a:cs typeface="Stack Sans Headline" pitchFamily="34" charset="-120"/>
                        </a:rPr>
                        <a:t>Energy EPC</a:t>
                      </a:r>
                      <a:endParaRPr lang="en-US" sz="1300" dirty="0">
                        <a:latin typeface="Stack Sans Headline" charset="0"/>
                        <a:ea typeface="Stack Sans Headline" charset="0"/>
                        <a:cs typeface="Stack Sans Headline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618C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CCA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4039"/>
                          </a:solidFill>
                          <a:latin typeface="Stack Sans Headline" pitchFamily="34" charset="0"/>
                          <a:ea typeface="Stack Sans Headline" pitchFamily="34" charset="-122"/>
                          <a:cs typeface="Stack Sans Headline" pitchFamily="34" charset="-120"/>
                        </a:rPr>
                        <a:t>Screen · control · validate · fund · build · operate · monetize</a:t>
                      </a:r>
                      <a:endParaRPr lang="en-US" sz="1300" dirty="0">
                        <a:latin typeface="Stack Sans Headline" charset="0"/>
                        <a:ea typeface="Stack Sans Headline" charset="0"/>
                        <a:cs typeface="Stack Sans Headline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618C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CCA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4039"/>
                          </a:solidFill>
                          <a:latin typeface="Stack Sans Headline" pitchFamily="34" charset="0"/>
                          <a:ea typeface="Stack Sans Headline" pitchFamily="34" charset="-122"/>
                          <a:cs typeface="Stack Sans Headline" pitchFamily="34" charset="-120"/>
                        </a:rPr>
                        <a:t>Third-party EVSE</a:t>
                      </a:r>
                      <a:endParaRPr lang="en-US" sz="1300" dirty="0">
                        <a:latin typeface="Stack Sans Headline" charset="0"/>
                        <a:ea typeface="Stack Sans Headline" charset="0"/>
                        <a:cs typeface="Stack Sans Headline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618C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CCA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4039"/>
                          </a:solidFill>
                          <a:latin typeface="Stack Sans Headline" pitchFamily="34" charset="0"/>
                          <a:ea typeface="Stack Sans Headline" pitchFamily="34" charset="-122"/>
                          <a:cs typeface="Stack Sans Headline" pitchFamily="34" charset="-120"/>
                        </a:rPr>
                        <a:t>The same evidence-based gates, applied independently</a:t>
                      </a:r>
                      <a:endParaRPr lang="en-US" sz="1300" dirty="0">
                        <a:latin typeface="Stack Sans Headline" charset="0"/>
                        <a:ea typeface="Stack Sans Headline" charset="0"/>
                        <a:cs typeface="Stack Sans Headline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618C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CCA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4039"/>
                          </a:solidFill>
                          <a:latin typeface="Stack Sans Headline" pitchFamily="34" charset="0"/>
                          <a:ea typeface="Stack Sans Headline" pitchFamily="34" charset="-122"/>
                          <a:cs typeface="Stack Sans Headline" pitchFamily="34" charset="-120"/>
                        </a:rPr>
                        <a:t>Mobility hubs</a:t>
                      </a:r>
                      <a:endParaRPr lang="en-US" sz="1300" dirty="0">
                        <a:latin typeface="Stack Sans Headline" charset="0"/>
                        <a:ea typeface="Stack Sans Headline" charset="0"/>
                        <a:cs typeface="Stack Sans Headline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618C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CCA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4039"/>
                          </a:solidFill>
                          <a:latin typeface="Stack Sans Headline" pitchFamily="34" charset="0"/>
                          <a:ea typeface="Stack Sans Headline" pitchFamily="34" charset="-122"/>
                          <a:cs typeface="Stack Sans Headline" pitchFamily="34" charset="-120"/>
                        </a:rPr>
                        <a:t>Site readiness</a:t>
                      </a:r>
                      <a:endParaRPr lang="en-US" sz="1300" dirty="0">
                        <a:latin typeface="Stack Sans Headline" charset="0"/>
                        <a:ea typeface="Stack Sans Headline" charset="0"/>
                        <a:cs typeface="Stack Sans Headline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618C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CCA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4039"/>
                          </a:solidFill>
                          <a:latin typeface="Stack Sans Headline" pitchFamily="34" charset="0"/>
                          <a:ea typeface="Stack Sans Headline" pitchFamily="34" charset="-122"/>
                          <a:cs typeface="Stack Sans Headline" pitchFamily="34" charset="-120"/>
                        </a:rPr>
                        <a:t>Fleet and car wash hubs</a:t>
                      </a:r>
                      <a:endParaRPr lang="en-US" sz="1300" dirty="0">
                        <a:latin typeface="Stack Sans Headline" charset="0"/>
                        <a:ea typeface="Stack Sans Headline" charset="0"/>
                        <a:cs typeface="Stack Sans Headline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618C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CCA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4039"/>
                          </a:solidFill>
                          <a:latin typeface="Stack Sans Headline" pitchFamily="34" charset="0"/>
                          <a:ea typeface="Stack Sans Headline" pitchFamily="34" charset="-122"/>
                          <a:cs typeface="Stack Sans Headline" pitchFamily="34" charset="-120"/>
                        </a:rPr>
                        <a:t>Customer demand and operating requirements</a:t>
                      </a:r>
                      <a:endParaRPr lang="en-US" sz="1300" dirty="0">
                        <a:latin typeface="Stack Sans Headline" charset="0"/>
                        <a:ea typeface="Stack Sans Headline" charset="0"/>
                        <a:cs typeface="Stack Sans Headline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618C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CCA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4039"/>
                          </a:solidFill>
                          <a:latin typeface="Stack Sans Headline" pitchFamily="34" charset="0"/>
                          <a:ea typeface="Stack Sans Headline" pitchFamily="34" charset="-122"/>
                          <a:cs typeface="Stack Sans Headline" pitchFamily="34" charset="-120"/>
                        </a:rPr>
                        <a:t>Modular compute</a:t>
                      </a:r>
                      <a:endParaRPr lang="en-US" sz="1300" dirty="0">
                        <a:latin typeface="Stack Sans Headline" charset="0"/>
                        <a:ea typeface="Stack Sans Headline" charset="0"/>
                        <a:cs typeface="Stack Sans Headline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618C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CCA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4039"/>
                          </a:solidFill>
                          <a:latin typeface="Stack Sans Headline" pitchFamily="34" charset="0"/>
                          <a:ea typeface="Stack Sans Headline" pitchFamily="34" charset="-122"/>
                          <a:cs typeface="Stack Sans Headline" pitchFamily="34" charset="-120"/>
                        </a:rPr>
                        <a:t>Qualified power, fiber and demand</a:t>
                      </a:r>
                      <a:endParaRPr lang="en-US" sz="1300" dirty="0">
                        <a:latin typeface="Stack Sans Headline" charset="0"/>
                        <a:ea typeface="Stack Sans Headline" charset="0"/>
                        <a:cs typeface="Stack Sans Headline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618C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CCA0"/>
                    </a:solidFill>
                  </a:tcPr>
                </a:tc>
              </a:tr>
            </a:tbl>
          </a:graphicData>
        </a:graphic>
      </p:graphicFrame>
      <p:sp>
        <p:nvSpPr>
          <p:cNvPr id="30" name="ocean:footnote"/>
          <p:cNvSpPr/>
          <p:nvPr/>
        </p:nvSpPr>
        <p:spPr>
          <a:xfrm>
            <a:off x="548640" y="6144768"/>
            <a:ext cx="1109441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spc="225" kern="0" dirty="0">
                <a:solidFill>
                  <a:srgbClr val="1B4039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EACH ASSET RECEIVES CAPITAL ONLY AFTER TECHNICAL, COMMERCIAL, UTILITY AND FINANCING GATES CLEAR.</a:t>
            </a:r>
            <a:endParaRPr lang="en-US" sz="900" dirty="0"/>
          </a:p>
        </p:txBody>
      </p:sp>
      <p:sp>
        <p:nvSpPr>
          <p:cNvPr id="31" name="ocean:footer"/>
          <p:cNvSpPr/>
          <p:nvPr/>
        </p:nvSpPr>
        <p:spPr>
          <a:xfrm>
            <a:off x="548640" y="641908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spc="225" kern="0" dirty="0">
                <a:solidFill>
                  <a:srgbClr val="1B4039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OCEAN RCS · CONFIDENTIAL · FOR DISCUSSION ONLY · DRAFT · DO NOT USE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D5CCA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cean:header"/>
          <p:cNvSpPr/>
          <p:nvPr/>
        </p:nvSpPr>
        <p:spPr>
          <a:xfrm>
            <a:off x="548640" y="329184"/>
            <a:ext cx="11094415" cy="609600"/>
          </a:xfrm>
          <a:prstGeom prst="rect">
            <a:avLst/>
          </a:prstGeom>
          <a:ln w="12700">
            <a:solidFill>
              <a:srgbClr val="1B4039"/>
            </a:solidFill>
            <a:prstDash val="solid"/>
          </a:ln>
        </p:spPr>
      </p:sp>
      <p:pic>
        <p:nvPicPr>
          <p:cNvPr id="3" name="ocean:logo-horizontal" descr="/home/user/workspace/audit/repo/assets/logos/png/logo_horizontal_ced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440" y="494284"/>
            <a:ext cx="1000657" cy="2794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2644140" y="329184"/>
            <a:ext cx="0" cy="609600"/>
          </a:xfrm>
          <a:prstGeom prst="line">
            <a:avLst/>
          </a:prstGeom>
          <a:noFill/>
          <a:ln w="12700">
            <a:solidFill>
              <a:srgbClr val="1B4039"/>
            </a:solidFill>
            <a:prstDash val="solid"/>
          </a:ln>
        </p:spPr>
      </p:sp>
      <p:sp>
        <p:nvSpPr>
          <p:cNvPr id="5" name="ocean:header"/>
          <p:cNvSpPr/>
          <p:nvPr/>
        </p:nvSpPr>
        <p:spPr>
          <a:xfrm>
            <a:off x="2783840" y="420624"/>
            <a:ext cx="70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spc="225" kern="0" dirty="0">
                <a:solidFill>
                  <a:srgbClr val="1B4039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PAGE</a:t>
            </a:r>
            <a:endParaRPr lang="en-US" sz="900" dirty="0"/>
          </a:p>
        </p:txBody>
      </p:sp>
      <p:sp>
        <p:nvSpPr>
          <p:cNvPr id="6" name="ocean:header"/>
          <p:cNvSpPr/>
          <p:nvPr/>
        </p:nvSpPr>
        <p:spPr>
          <a:xfrm>
            <a:off x="2783840" y="630936"/>
            <a:ext cx="70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225" kern="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09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3533140" y="329184"/>
            <a:ext cx="0" cy="609600"/>
          </a:xfrm>
          <a:prstGeom prst="line">
            <a:avLst/>
          </a:prstGeom>
          <a:noFill/>
          <a:ln w="12700">
            <a:solidFill>
              <a:srgbClr val="1B4039"/>
            </a:solidFill>
            <a:prstDash val="solid"/>
          </a:ln>
        </p:spPr>
      </p:sp>
      <p:sp>
        <p:nvSpPr>
          <p:cNvPr id="8" name="ocean:header"/>
          <p:cNvSpPr/>
          <p:nvPr/>
        </p:nvSpPr>
        <p:spPr>
          <a:xfrm>
            <a:off x="3751072" y="551688"/>
            <a:ext cx="80775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108" kern="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PLATFORM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641126" y="515112"/>
            <a:ext cx="692429" cy="237744"/>
          </a:xfrm>
          <a:prstGeom prst="rect">
            <a:avLst/>
          </a:prstGeom>
          <a:solidFill>
            <a:srgbClr val="1B4039"/>
          </a:solidFill>
          <a:ln w="12700">
            <a:solidFill>
              <a:srgbClr val="1B4039"/>
            </a:solidFill>
            <a:prstDash val="solid"/>
          </a:ln>
        </p:spPr>
      </p:sp>
      <p:sp>
        <p:nvSpPr>
          <p:cNvPr id="10" name="ocean:header"/>
          <p:cNvSpPr/>
          <p:nvPr/>
        </p:nvSpPr>
        <p:spPr>
          <a:xfrm>
            <a:off x="4705134" y="551688"/>
            <a:ext cx="69242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108" kern="0" dirty="0">
                <a:solidFill>
                  <a:srgbClr val="D5CCA0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PIPELINE</a:t>
            </a:r>
            <a:endParaRPr lang="en-US" sz="900" dirty="0"/>
          </a:p>
        </p:txBody>
      </p:sp>
      <p:sp>
        <p:nvSpPr>
          <p:cNvPr id="11" name="ocean:header"/>
          <p:cNvSpPr/>
          <p:nvPr/>
        </p:nvSpPr>
        <p:spPr>
          <a:xfrm>
            <a:off x="5543868" y="551688"/>
            <a:ext cx="66088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108" kern="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CAPITAL</a:t>
            </a:r>
            <a:endParaRPr lang="en-US" sz="900" dirty="0"/>
          </a:p>
        </p:txBody>
      </p:sp>
      <p:sp>
        <p:nvSpPr>
          <p:cNvPr id="12" name="ocean:header"/>
          <p:cNvSpPr/>
          <p:nvPr/>
        </p:nvSpPr>
        <p:spPr>
          <a:xfrm>
            <a:off x="6351054" y="551688"/>
            <a:ext cx="91885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108" kern="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NEXT STEPS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7312355" y="329184"/>
            <a:ext cx="0" cy="609600"/>
          </a:xfrm>
          <a:prstGeom prst="line">
            <a:avLst/>
          </a:prstGeom>
          <a:noFill/>
          <a:ln w="12700">
            <a:solidFill>
              <a:srgbClr val="1B4039"/>
            </a:solidFill>
            <a:prstDash val="solid"/>
          </a:ln>
        </p:spPr>
      </p:sp>
      <p:sp>
        <p:nvSpPr>
          <p:cNvPr id="14" name="ocean:header"/>
          <p:cNvSpPr/>
          <p:nvPr/>
        </p:nvSpPr>
        <p:spPr>
          <a:xfrm>
            <a:off x="7477455" y="420624"/>
            <a:ext cx="18211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spc="225" kern="0" dirty="0">
                <a:solidFill>
                  <a:srgbClr val="1B4039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INVESTOR DECK</a:t>
            </a:r>
            <a:endParaRPr lang="en-US" sz="900" dirty="0"/>
          </a:p>
        </p:txBody>
      </p:sp>
      <p:sp>
        <p:nvSpPr>
          <p:cNvPr id="15" name="ocean:header"/>
          <p:cNvSpPr/>
          <p:nvPr/>
        </p:nvSpPr>
        <p:spPr>
          <a:xfrm>
            <a:off x="7477455" y="630936"/>
            <a:ext cx="18211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225" kern="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OCEAN RCS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9407855" y="329184"/>
            <a:ext cx="0" cy="609600"/>
          </a:xfrm>
          <a:prstGeom prst="line">
            <a:avLst/>
          </a:prstGeom>
          <a:noFill/>
          <a:ln w="12700">
            <a:solidFill>
              <a:srgbClr val="1B4039"/>
            </a:solidFill>
            <a:prstDash val="solid"/>
          </a:ln>
        </p:spPr>
      </p:sp>
      <p:sp>
        <p:nvSpPr>
          <p:cNvPr id="17" name="ocean:header"/>
          <p:cNvSpPr/>
          <p:nvPr/>
        </p:nvSpPr>
        <p:spPr>
          <a:xfrm>
            <a:off x="9453575" y="542544"/>
            <a:ext cx="46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4"/>
              </a:lnSpc>
              <a:buNone/>
            </a:pPr>
            <a:r>
              <a:rPr lang="en-US" sz="1100" b="1" spc="110" kern="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01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9966655" y="329184"/>
            <a:ext cx="0" cy="609600"/>
          </a:xfrm>
          <a:prstGeom prst="line">
            <a:avLst/>
          </a:prstGeom>
          <a:noFill/>
          <a:ln w="12700">
            <a:solidFill>
              <a:srgbClr val="1B4039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9966655" y="329184"/>
            <a:ext cx="558800" cy="609600"/>
          </a:xfrm>
          <a:prstGeom prst="rect">
            <a:avLst/>
          </a:prstGeom>
          <a:solidFill>
            <a:srgbClr val="1B4039"/>
          </a:solidFill>
          <a:ln w="12700">
            <a:solidFill>
              <a:srgbClr val="1B4039"/>
            </a:solidFill>
            <a:prstDash val="solid"/>
          </a:ln>
        </p:spPr>
      </p:sp>
      <p:sp>
        <p:nvSpPr>
          <p:cNvPr id="20" name="ocean:header"/>
          <p:cNvSpPr/>
          <p:nvPr/>
        </p:nvSpPr>
        <p:spPr>
          <a:xfrm>
            <a:off x="10012375" y="542544"/>
            <a:ext cx="46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4"/>
              </a:lnSpc>
              <a:buNone/>
            </a:pPr>
            <a:r>
              <a:rPr lang="en-US" sz="1100" b="1" spc="110" kern="0" dirty="0">
                <a:solidFill>
                  <a:srgbClr val="D5CCA0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02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10525455" y="329184"/>
            <a:ext cx="0" cy="609600"/>
          </a:xfrm>
          <a:prstGeom prst="line">
            <a:avLst/>
          </a:prstGeom>
          <a:noFill/>
          <a:ln w="12700">
            <a:solidFill>
              <a:srgbClr val="1B4039"/>
            </a:solidFill>
            <a:prstDash val="solid"/>
          </a:ln>
        </p:spPr>
      </p:sp>
      <p:sp>
        <p:nvSpPr>
          <p:cNvPr id="22" name="ocean:header"/>
          <p:cNvSpPr/>
          <p:nvPr/>
        </p:nvSpPr>
        <p:spPr>
          <a:xfrm>
            <a:off x="10571175" y="542544"/>
            <a:ext cx="46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4"/>
              </a:lnSpc>
              <a:buNone/>
            </a:pPr>
            <a:r>
              <a:rPr lang="en-US" sz="1100" b="1" spc="110" kern="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03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11084255" y="329184"/>
            <a:ext cx="0" cy="609600"/>
          </a:xfrm>
          <a:prstGeom prst="line">
            <a:avLst/>
          </a:prstGeom>
          <a:noFill/>
          <a:ln w="12700">
            <a:solidFill>
              <a:srgbClr val="1B4039"/>
            </a:solidFill>
            <a:prstDash val="solid"/>
          </a:ln>
        </p:spPr>
      </p:sp>
      <p:sp>
        <p:nvSpPr>
          <p:cNvPr id="24" name="ocean:header"/>
          <p:cNvSpPr/>
          <p:nvPr/>
        </p:nvSpPr>
        <p:spPr>
          <a:xfrm>
            <a:off x="11129975" y="542544"/>
            <a:ext cx="46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4"/>
              </a:lnSpc>
              <a:buNone/>
            </a:pPr>
            <a:r>
              <a:rPr lang="en-US" sz="1100" b="1" spc="110" kern="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04</a:t>
            </a:r>
            <a:endParaRPr lang="en-US" sz="1100" dirty="0"/>
          </a:p>
        </p:txBody>
      </p:sp>
      <p:sp>
        <p:nvSpPr>
          <p:cNvPr id="25" name="ocean:label"/>
          <p:cNvSpPr/>
          <p:nvPr/>
        </p:nvSpPr>
        <p:spPr>
          <a:xfrm>
            <a:off x="548640" y="1335024"/>
            <a:ext cx="6309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4"/>
              </a:lnSpc>
              <a:buNone/>
            </a:pPr>
            <a:r>
              <a:rPr lang="en-US" sz="1100" b="1" spc="275" kern="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02 PIPELINE</a:t>
            </a:r>
            <a:endParaRPr lang="en-US" sz="1100" dirty="0"/>
          </a:p>
        </p:txBody>
      </p:sp>
      <p:sp>
        <p:nvSpPr>
          <p:cNvPr id="26" name="ocean:headline"/>
          <p:cNvSpPr/>
          <p:nvPr/>
        </p:nvSpPr>
        <p:spPr>
          <a:xfrm>
            <a:off x="530352" y="1572768"/>
            <a:ext cx="634593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500" spc="-35" kern="0" dirty="0">
                <a:solidFill>
                  <a:srgbClr val="1B4039"/>
                </a:solidFill>
                <a:latin typeface="Stack Sans Headline Medium" pitchFamily="34" charset="0"/>
                <a:ea typeface="Stack Sans Headline Medium" pitchFamily="34" charset="-122"/>
                <a:cs typeface="Stack Sans Headline Medium" pitchFamily="34" charset="-120"/>
              </a:rPr>
              <a:t>Capital is deployed</a:t>
            </a:r>
            <a:endParaRPr lang="en-US" sz="3500" dirty="0"/>
          </a:p>
          <a:p>
            <a:pPr algn="l" indent="0" marL="0">
              <a:lnSpc>
                <a:spcPts val="3900"/>
              </a:lnSpc>
              <a:buNone/>
            </a:pPr>
            <a:r>
              <a:rPr lang="en-US" sz="3500" spc="-35" kern="0" dirty="0">
                <a:solidFill>
                  <a:srgbClr val="1B4039"/>
                </a:solidFill>
                <a:latin typeface="Stack Sans Headline Medium" pitchFamily="34" charset="0"/>
                <a:ea typeface="Stack Sans Headline Medium" pitchFamily="34" charset="-122"/>
                <a:cs typeface="Stack Sans Headline Medium" pitchFamily="34" charset="-120"/>
              </a:rPr>
              <a:t>in protected stages</a:t>
            </a:r>
            <a:endParaRPr lang="en-US" sz="3500" dirty="0"/>
          </a:p>
        </p:txBody>
      </p:sp>
      <p:sp>
        <p:nvSpPr>
          <p:cNvPr id="27" name="ocean:lede"/>
          <p:cNvSpPr/>
          <p:nvPr/>
        </p:nvSpPr>
        <p:spPr>
          <a:xfrm>
            <a:off x="7040880" y="1572768"/>
            <a:ext cx="4602175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b="1" spc="263" kern="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INVESTOR PROTECTIONS AND ASSET-LEVEL</a:t>
            </a:r>
            <a:endParaRPr lang="en-US" sz="1050" dirty="0"/>
          </a:p>
          <a:p>
            <a:pPr algn="l" indent="0" marL="0">
              <a:lnSpc>
                <a:spcPts val="1700"/>
              </a:lnSpc>
              <a:buNone/>
            </a:pPr>
            <a:r>
              <a:rPr lang="en-US" sz="1050" b="1" spc="263" kern="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CONTROLS ARE IN PLACE BEFORE PROJECT</a:t>
            </a:r>
            <a:endParaRPr lang="en-US" sz="1050" dirty="0"/>
          </a:p>
          <a:p>
            <a:pPr algn="l" indent="0" marL="0">
              <a:lnSpc>
                <a:spcPts val="1700"/>
              </a:lnSpc>
              <a:buNone/>
            </a:pPr>
            <a:r>
              <a:rPr lang="en-US" sz="1050" b="1" spc="263" kern="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FUNDING.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548640" y="2734056"/>
            <a:ext cx="11094415" cy="0"/>
          </a:xfrm>
          <a:prstGeom prst="line">
            <a:avLst/>
          </a:prstGeom>
          <a:noFill/>
          <a:ln w="12700">
            <a:solidFill>
              <a:srgbClr val="1B4039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548640" y="3547872"/>
            <a:ext cx="11094415" cy="0"/>
          </a:xfrm>
          <a:prstGeom prst="line">
            <a:avLst/>
          </a:prstGeom>
          <a:noFill/>
          <a:ln w="12700">
            <a:solidFill>
              <a:srgbClr val="1B4039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548640" y="3490722"/>
            <a:ext cx="114300" cy="114300"/>
          </a:xfrm>
          <a:prstGeom prst="diamond">
            <a:avLst/>
          </a:prstGeom>
          <a:solidFill>
            <a:srgbClr val="1B4039"/>
          </a:solidFill>
          <a:ln w="12700">
            <a:solidFill>
              <a:srgbClr val="1B4039"/>
            </a:solidFill>
            <a:prstDash val="solid"/>
          </a:ln>
        </p:spPr>
      </p:sp>
      <p:sp>
        <p:nvSpPr>
          <p:cNvPr id="31" name="ocean:label"/>
          <p:cNvSpPr/>
          <p:nvPr/>
        </p:nvSpPr>
        <p:spPr>
          <a:xfrm>
            <a:off x="548640" y="3044952"/>
            <a:ext cx="2567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1000" b="1" spc="250" kern="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01 · CONTROL</a:t>
            </a:r>
            <a:endParaRPr lang="en-US" sz="1000" dirty="0"/>
          </a:p>
        </p:txBody>
      </p:sp>
      <p:sp>
        <p:nvSpPr>
          <p:cNvPr id="32" name="ocean:section"/>
          <p:cNvSpPr/>
          <p:nvPr/>
        </p:nvSpPr>
        <p:spPr>
          <a:xfrm>
            <a:off x="548640" y="3822192"/>
            <a:ext cx="25678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spc="-20" kern="0" dirty="0">
                <a:solidFill>
                  <a:srgbClr val="1B4039"/>
                </a:solidFill>
                <a:latin typeface="Stack Sans Headline Medium" pitchFamily="34" charset="0"/>
                <a:ea typeface="Stack Sans Headline Medium" pitchFamily="34" charset="-122"/>
                <a:cs typeface="Stack Sans Headline Medium" pitchFamily="34" charset="-120"/>
              </a:rPr>
              <a:t>Site or customer</a:t>
            </a:r>
            <a:endParaRPr lang="en-US" sz="20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2000" spc="-20" kern="0" dirty="0">
                <a:solidFill>
                  <a:srgbClr val="1B4039"/>
                </a:solidFill>
                <a:latin typeface="Stack Sans Headline Medium" pitchFamily="34" charset="0"/>
                <a:ea typeface="Stack Sans Headline Medium" pitchFamily="34" charset="-122"/>
                <a:cs typeface="Stack Sans Headline Medium" pitchFamily="34" charset="-120"/>
              </a:rPr>
              <a:t>control</a:t>
            </a:r>
            <a:endParaRPr lang="en-US" sz="2000" dirty="0"/>
          </a:p>
        </p:txBody>
      </p:sp>
      <p:sp>
        <p:nvSpPr>
          <p:cNvPr id="33" name="ocean:body"/>
          <p:cNvSpPr/>
          <p:nvPr/>
        </p:nvSpPr>
        <p:spPr>
          <a:xfrm>
            <a:off x="548640" y="4645152"/>
            <a:ext cx="256786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Secure the site or the customer</a:t>
            </a:r>
            <a:endParaRPr lang="en-US" sz="130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before spending capital.</a:t>
            </a:r>
            <a:endParaRPr lang="en-US" sz="1300" dirty="0"/>
          </a:p>
        </p:txBody>
      </p:sp>
      <p:sp>
        <p:nvSpPr>
          <p:cNvPr id="34" name="Shape 31"/>
          <p:cNvSpPr/>
          <p:nvPr/>
        </p:nvSpPr>
        <p:spPr>
          <a:xfrm>
            <a:off x="3390824" y="3490722"/>
            <a:ext cx="114300" cy="114300"/>
          </a:xfrm>
          <a:prstGeom prst="diamond">
            <a:avLst/>
          </a:prstGeom>
          <a:solidFill>
            <a:srgbClr val="1B4039"/>
          </a:solidFill>
          <a:ln w="12700">
            <a:solidFill>
              <a:srgbClr val="1B4039"/>
            </a:solidFill>
            <a:prstDash val="solid"/>
          </a:ln>
        </p:spPr>
      </p:sp>
      <p:sp>
        <p:nvSpPr>
          <p:cNvPr id="35" name="ocean:label"/>
          <p:cNvSpPr/>
          <p:nvPr/>
        </p:nvSpPr>
        <p:spPr>
          <a:xfrm>
            <a:off x="3390824" y="3044952"/>
            <a:ext cx="2567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1000" b="1" spc="250" kern="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02 · VALIDATE</a:t>
            </a:r>
            <a:endParaRPr lang="en-US" sz="1000" dirty="0"/>
          </a:p>
        </p:txBody>
      </p:sp>
      <p:sp>
        <p:nvSpPr>
          <p:cNvPr id="36" name="ocean:section"/>
          <p:cNvSpPr/>
          <p:nvPr/>
        </p:nvSpPr>
        <p:spPr>
          <a:xfrm>
            <a:off x="3390824" y="3822192"/>
            <a:ext cx="25678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spc="-20" kern="0" dirty="0">
                <a:solidFill>
                  <a:srgbClr val="1B4039"/>
                </a:solidFill>
                <a:latin typeface="Stack Sans Headline Medium" pitchFamily="34" charset="0"/>
                <a:ea typeface="Stack Sans Headline Medium" pitchFamily="34" charset="-122"/>
                <a:cs typeface="Stack Sans Headline Medium" pitchFamily="34" charset="-120"/>
              </a:rPr>
              <a:t>Utility and permits</a:t>
            </a:r>
            <a:endParaRPr lang="en-US" sz="2000" dirty="0"/>
          </a:p>
        </p:txBody>
      </p:sp>
      <p:sp>
        <p:nvSpPr>
          <p:cNvPr id="37" name="ocean:body"/>
          <p:cNvSpPr/>
          <p:nvPr/>
        </p:nvSpPr>
        <p:spPr>
          <a:xfrm>
            <a:off x="3390824" y="4645152"/>
            <a:ext cx="256786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Confirm the utility path and the</a:t>
            </a:r>
            <a:endParaRPr lang="en-US" sz="130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permits.</a:t>
            </a:r>
            <a:endParaRPr lang="en-US" sz="1300" dirty="0"/>
          </a:p>
        </p:txBody>
      </p:sp>
      <p:sp>
        <p:nvSpPr>
          <p:cNvPr id="38" name="Shape 35"/>
          <p:cNvSpPr/>
          <p:nvPr/>
        </p:nvSpPr>
        <p:spPr>
          <a:xfrm>
            <a:off x="6233008" y="3490722"/>
            <a:ext cx="114300" cy="114300"/>
          </a:xfrm>
          <a:prstGeom prst="diamond">
            <a:avLst/>
          </a:prstGeom>
          <a:solidFill>
            <a:srgbClr val="1B4039"/>
          </a:solidFill>
          <a:ln w="12700">
            <a:solidFill>
              <a:srgbClr val="1B4039"/>
            </a:solidFill>
            <a:prstDash val="solid"/>
          </a:ln>
        </p:spPr>
      </p:sp>
      <p:sp>
        <p:nvSpPr>
          <p:cNvPr id="39" name="ocean:label"/>
          <p:cNvSpPr/>
          <p:nvPr/>
        </p:nvSpPr>
        <p:spPr>
          <a:xfrm>
            <a:off x="6233008" y="3044952"/>
            <a:ext cx="2567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1000" b="1" spc="250" kern="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03 · APPROVE</a:t>
            </a:r>
            <a:endParaRPr lang="en-US" sz="1000" dirty="0"/>
          </a:p>
        </p:txBody>
      </p:sp>
      <p:sp>
        <p:nvSpPr>
          <p:cNvPr id="40" name="ocean:section"/>
          <p:cNvSpPr/>
          <p:nvPr/>
        </p:nvSpPr>
        <p:spPr>
          <a:xfrm>
            <a:off x="6233008" y="3822192"/>
            <a:ext cx="25678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spc="-20" kern="0" dirty="0">
                <a:solidFill>
                  <a:srgbClr val="1B4039"/>
                </a:solidFill>
                <a:latin typeface="Stack Sans Headline Medium" pitchFamily="34" charset="0"/>
                <a:ea typeface="Stack Sans Headline Medium" pitchFamily="34" charset="-122"/>
                <a:cs typeface="Stack Sans Headline Medium" pitchFamily="34" charset="-120"/>
              </a:rPr>
              <a:t>Financing and</a:t>
            </a:r>
            <a:endParaRPr lang="en-US" sz="20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2000" spc="-20" kern="0" dirty="0">
                <a:solidFill>
                  <a:srgbClr val="1B4039"/>
                </a:solidFill>
                <a:latin typeface="Stack Sans Headline Medium" pitchFamily="34" charset="0"/>
                <a:ea typeface="Stack Sans Headline Medium" pitchFamily="34" charset="-122"/>
                <a:cs typeface="Stack Sans Headline Medium" pitchFamily="34" charset="-120"/>
              </a:rPr>
              <a:t>collateral</a:t>
            </a:r>
            <a:endParaRPr lang="en-US" sz="2000" dirty="0"/>
          </a:p>
        </p:txBody>
      </p:sp>
      <p:sp>
        <p:nvSpPr>
          <p:cNvPr id="41" name="ocean:body"/>
          <p:cNvSpPr/>
          <p:nvPr/>
        </p:nvSpPr>
        <p:spPr>
          <a:xfrm>
            <a:off x="6233008" y="4645152"/>
            <a:ext cx="256786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Approve financing and collateral.</a:t>
            </a:r>
            <a:endParaRPr lang="en-US" sz="1300" dirty="0"/>
          </a:p>
        </p:txBody>
      </p:sp>
      <p:sp>
        <p:nvSpPr>
          <p:cNvPr id="42" name="Shape 39"/>
          <p:cNvSpPr/>
          <p:nvPr/>
        </p:nvSpPr>
        <p:spPr>
          <a:xfrm>
            <a:off x="9075191" y="3490722"/>
            <a:ext cx="114300" cy="114300"/>
          </a:xfrm>
          <a:prstGeom prst="diamond">
            <a:avLst/>
          </a:prstGeom>
          <a:solidFill>
            <a:srgbClr val="1B4039"/>
          </a:solidFill>
          <a:ln w="12700">
            <a:solidFill>
              <a:srgbClr val="1B4039"/>
            </a:solidFill>
            <a:prstDash val="solid"/>
          </a:ln>
        </p:spPr>
      </p:sp>
      <p:sp>
        <p:nvSpPr>
          <p:cNvPr id="43" name="ocean:label"/>
          <p:cNvSpPr/>
          <p:nvPr/>
        </p:nvSpPr>
        <p:spPr>
          <a:xfrm>
            <a:off x="9075191" y="3044952"/>
            <a:ext cx="2567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1000" b="1" spc="250" kern="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04 · EXECUTE</a:t>
            </a:r>
            <a:endParaRPr lang="en-US" sz="1000" dirty="0"/>
          </a:p>
        </p:txBody>
      </p:sp>
      <p:sp>
        <p:nvSpPr>
          <p:cNvPr id="44" name="ocean:section"/>
          <p:cNvSpPr/>
          <p:nvPr/>
        </p:nvSpPr>
        <p:spPr>
          <a:xfrm>
            <a:off x="9075191" y="3822192"/>
            <a:ext cx="25678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spc="-20" kern="0" dirty="0">
                <a:solidFill>
                  <a:srgbClr val="1B4039"/>
                </a:solidFill>
                <a:latin typeface="Stack Sans Headline Medium" pitchFamily="34" charset="0"/>
                <a:ea typeface="Stack Sans Headline Medium" pitchFamily="34" charset="-122"/>
                <a:cs typeface="Stack Sans Headline Medium" pitchFamily="34" charset="-120"/>
              </a:rPr>
              <a:t>Build and operate</a:t>
            </a:r>
            <a:endParaRPr lang="en-US" sz="2000" dirty="0"/>
          </a:p>
        </p:txBody>
      </p:sp>
      <p:sp>
        <p:nvSpPr>
          <p:cNvPr id="45" name="ocean:body"/>
          <p:cNvSpPr/>
          <p:nvPr/>
        </p:nvSpPr>
        <p:spPr>
          <a:xfrm>
            <a:off x="9075191" y="4645152"/>
            <a:ext cx="256786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B4039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Build, operate and expand.</a:t>
            </a:r>
            <a:endParaRPr lang="en-US" sz="1300" dirty="0"/>
          </a:p>
        </p:txBody>
      </p:sp>
      <p:sp>
        <p:nvSpPr>
          <p:cNvPr id="46" name="ocean:footnote"/>
          <p:cNvSpPr/>
          <p:nvPr/>
        </p:nvSpPr>
        <p:spPr>
          <a:xfrm>
            <a:off x="548640" y="6144768"/>
            <a:ext cx="1109441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spc="225" kern="0" dirty="0">
                <a:solidFill>
                  <a:srgbClr val="1B4039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OPPORTUNISTIC EQUIPMENT: TITLE, CONDITION, SERVICEABILITY AND SITE FIT VERIFIED BEFORE PURCHASE.</a:t>
            </a:r>
            <a:endParaRPr lang="en-US" sz="900" dirty="0"/>
          </a:p>
        </p:txBody>
      </p:sp>
      <p:sp>
        <p:nvSpPr>
          <p:cNvPr id="47" name="ocean:footer"/>
          <p:cNvSpPr/>
          <p:nvPr/>
        </p:nvSpPr>
        <p:spPr>
          <a:xfrm>
            <a:off x="548640" y="641908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spc="225" kern="0" dirty="0">
                <a:solidFill>
                  <a:srgbClr val="1B4039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OCEAN RCS · CONFIDENTIAL · FOR DISCUSSION ONLY · DRAFT · DO NOT USE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6E73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cean:environment" descr="/home/user/workspace/audit/repo/assets/environments/env_olive_map_dark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ocean:logo-graphic" descr="/home/user/workspace/audit/repo/assets/logos/png/logo_graphic_honeyde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87455" y="406400"/>
            <a:ext cx="355600" cy="355600"/>
          </a:xfrm>
          <a:prstGeom prst="rect">
            <a:avLst/>
          </a:prstGeom>
        </p:spPr>
      </p:pic>
      <p:sp>
        <p:nvSpPr>
          <p:cNvPr id="4" name="ocean:metric"/>
          <p:cNvSpPr/>
          <p:nvPr/>
        </p:nvSpPr>
        <p:spPr>
          <a:xfrm>
            <a:off x="512064" y="1737360"/>
            <a:ext cx="3657600" cy="152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800"/>
              </a:lnSpc>
              <a:buNone/>
            </a:pPr>
            <a:r>
              <a:rPr lang="en-US" sz="12000" spc="-480" kern="0" dirty="0">
                <a:solidFill>
                  <a:srgbClr val="F3FBF8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03</a:t>
            </a:r>
            <a:endParaRPr lang="en-US" sz="12000" dirty="0"/>
          </a:p>
        </p:txBody>
      </p:sp>
      <p:sp>
        <p:nvSpPr>
          <p:cNvPr id="5" name="ocean:headline"/>
          <p:cNvSpPr/>
          <p:nvPr/>
        </p:nvSpPr>
        <p:spPr>
          <a:xfrm>
            <a:off x="548640" y="356616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4400" spc="-88" kern="0" dirty="0">
                <a:solidFill>
                  <a:srgbClr val="F3FBF8"/>
                </a:solidFill>
                <a:latin typeface="Stack Sans Headline Medium" pitchFamily="34" charset="0"/>
                <a:ea typeface="Stack Sans Headline Medium" pitchFamily="34" charset="-122"/>
                <a:cs typeface="Stack Sans Headline Medium" pitchFamily="34" charset="-120"/>
              </a:rPr>
              <a:t>Contracted revenue first,</a:t>
            </a:r>
            <a:endParaRPr lang="en-US" sz="4400" dirty="0"/>
          </a:p>
          <a:p>
            <a:pPr algn="l" indent="0" marL="0">
              <a:lnSpc>
                <a:spcPts val="4800"/>
              </a:lnSpc>
              <a:buNone/>
            </a:pPr>
            <a:r>
              <a:rPr lang="en-US" sz="4400" spc="-88" kern="0" dirty="0">
                <a:solidFill>
                  <a:srgbClr val="F3FBF8"/>
                </a:solidFill>
                <a:latin typeface="Stack Sans Headline Medium" pitchFamily="34" charset="0"/>
                <a:ea typeface="Stack Sans Headline Medium" pitchFamily="34" charset="-122"/>
                <a:cs typeface="Stack Sans Headline Medium" pitchFamily="34" charset="-120"/>
              </a:rPr>
              <a:t>optionality second</a:t>
            </a:r>
            <a:endParaRPr lang="en-US" sz="4400" dirty="0"/>
          </a:p>
        </p:txBody>
      </p:sp>
      <p:sp>
        <p:nvSpPr>
          <p:cNvPr id="6" name="ocean:subhead"/>
          <p:cNvSpPr/>
          <p:nvPr/>
        </p:nvSpPr>
        <p:spPr>
          <a:xfrm>
            <a:off x="548640" y="50749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00" b="1" spc="275" kern="0" dirty="0">
                <a:solidFill>
                  <a:srgbClr val="F3FBF8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BASE-CASE UNDERWRITING DEPENDS ON CUSTOMER CONTRACTS, SITE-SPECIFIC MODELS AND CONFIRMED</a:t>
            </a:r>
            <a:endParaRPr lang="en-US" sz="11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100" b="1" spc="275" kern="0" dirty="0">
                <a:solidFill>
                  <a:srgbClr val="F3FBF8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ECONOMICS.</a:t>
            </a:r>
            <a:endParaRPr lang="en-US" sz="1100" dirty="0"/>
          </a:p>
        </p:txBody>
      </p:sp>
      <p:sp>
        <p:nvSpPr>
          <p:cNvPr id="7" name="ocean:footer"/>
          <p:cNvSpPr/>
          <p:nvPr/>
        </p:nvSpPr>
        <p:spPr>
          <a:xfrm>
            <a:off x="548640" y="641908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spc="225" kern="0" dirty="0">
                <a:solidFill>
                  <a:srgbClr val="F3FBF8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OCEAN RCS · CONFIDENTIAL · FOR DISCUSSION ONLY · DRAFT · DO NOT USE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cean:header"/>
          <p:cNvSpPr/>
          <p:nvPr/>
        </p:nvSpPr>
        <p:spPr>
          <a:xfrm>
            <a:off x="548640" y="329184"/>
            <a:ext cx="11094415" cy="609600"/>
          </a:xfrm>
          <a:prstGeom prst="rect">
            <a:avLst/>
          </a:prstGeom>
          <a:ln w="12700">
            <a:solidFill>
              <a:srgbClr val="6E734C"/>
            </a:solidFill>
            <a:prstDash val="solid"/>
          </a:ln>
        </p:spPr>
      </p:sp>
      <p:pic>
        <p:nvPicPr>
          <p:cNvPr id="3" name="ocean:logo-horizontal" descr="/home/user/workspace/audit/repo/assets/logos/png/logo_horizontal_oli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440" y="494284"/>
            <a:ext cx="1000657" cy="2794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2644140" y="329184"/>
            <a:ext cx="0" cy="609600"/>
          </a:xfrm>
          <a:prstGeom prst="line">
            <a:avLst/>
          </a:prstGeom>
          <a:noFill/>
          <a:ln w="12700">
            <a:solidFill>
              <a:srgbClr val="6E734C"/>
            </a:solidFill>
            <a:prstDash val="solid"/>
          </a:ln>
        </p:spPr>
      </p:sp>
      <p:sp>
        <p:nvSpPr>
          <p:cNvPr id="5" name="ocean:header"/>
          <p:cNvSpPr/>
          <p:nvPr/>
        </p:nvSpPr>
        <p:spPr>
          <a:xfrm>
            <a:off x="2783840" y="420624"/>
            <a:ext cx="70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spc="225" kern="0" dirty="0">
                <a:solidFill>
                  <a:srgbClr val="6E734C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PAGE</a:t>
            </a:r>
            <a:endParaRPr lang="en-US" sz="900" dirty="0"/>
          </a:p>
        </p:txBody>
      </p:sp>
      <p:sp>
        <p:nvSpPr>
          <p:cNvPr id="6" name="ocean:header"/>
          <p:cNvSpPr/>
          <p:nvPr/>
        </p:nvSpPr>
        <p:spPr>
          <a:xfrm>
            <a:off x="2783840" y="630936"/>
            <a:ext cx="70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225" kern="0" dirty="0">
                <a:solidFill>
                  <a:srgbClr val="6E734C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11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3533140" y="329184"/>
            <a:ext cx="0" cy="609600"/>
          </a:xfrm>
          <a:prstGeom prst="line">
            <a:avLst/>
          </a:prstGeom>
          <a:noFill/>
          <a:ln w="12700">
            <a:solidFill>
              <a:srgbClr val="6E734C"/>
            </a:solidFill>
            <a:prstDash val="solid"/>
          </a:ln>
        </p:spPr>
      </p:sp>
      <p:sp>
        <p:nvSpPr>
          <p:cNvPr id="8" name="ocean:header"/>
          <p:cNvSpPr/>
          <p:nvPr/>
        </p:nvSpPr>
        <p:spPr>
          <a:xfrm>
            <a:off x="3751072" y="551688"/>
            <a:ext cx="80775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108" kern="0" dirty="0">
                <a:solidFill>
                  <a:srgbClr val="6E734C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PLATFORM</a:t>
            </a:r>
            <a:endParaRPr lang="en-US" sz="900" dirty="0"/>
          </a:p>
        </p:txBody>
      </p:sp>
      <p:sp>
        <p:nvSpPr>
          <p:cNvPr id="9" name="ocean:header"/>
          <p:cNvSpPr/>
          <p:nvPr/>
        </p:nvSpPr>
        <p:spPr>
          <a:xfrm>
            <a:off x="4705134" y="551688"/>
            <a:ext cx="69242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108" kern="0" dirty="0">
                <a:solidFill>
                  <a:srgbClr val="6E734C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PIPELINE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479860" y="515112"/>
            <a:ext cx="660883" cy="237744"/>
          </a:xfrm>
          <a:prstGeom prst="rect">
            <a:avLst/>
          </a:prstGeom>
          <a:solidFill>
            <a:srgbClr val="6E734C"/>
          </a:solidFill>
          <a:ln w="12700">
            <a:solidFill>
              <a:srgbClr val="6E734C"/>
            </a:solidFill>
            <a:prstDash val="solid"/>
          </a:ln>
        </p:spPr>
      </p:sp>
      <p:sp>
        <p:nvSpPr>
          <p:cNvPr id="11" name="ocean:header"/>
          <p:cNvSpPr/>
          <p:nvPr/>
        </p:nvSpPr>
        <p:spPr>
          <a:xfrm>
            <a:off x="5543868" y="551688"/>
            <a:ext cx="66088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108" kern="0" dirty="0">
                <a:solidFill>
                  <a:srgbClr val="F3FBF8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CAPITAL</a:t>
            </a:r>
            <a:endParaRPr lang="en-US" sz="900" dirty="0"/>
          </a:p>
        </p:txBody>
      </p:sp>
      <p:sp>
        <p:nvSpPr>
          <p:cNvPr id="12" name="ocean:header"/>
          <p:cNvSpPr/>
          <p:nvPr/>
        </p:nvSpPr>
        <p:spPr>
          <a:xfrm>
            <a:off x="6351054" y="551688"/>
            <a:ext cx="91885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108" kern="0" dirty="0">
                <a:solidFill>
                  <a:srgbClr val="6E734C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NEXT STEPS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7312355" y="329184"/>
            <a:ext cx="0" cy="609600"/>
          </a:xfrm>
          <a:prstGeom prst="line">
            <a:avLst/>
          </a:prstGeom>
          <a:noFill/>
          <a:ln w="12700">
            <a:solidFill>
              <a:srgbClr val="6E734C"/>
            </a:solidFill>
            <a:prstDash val="solid"/>
          </a:ln>
        </p:spPr>
      </p:sp>
      <p:sp>
        <p:nvSpPr>
          <p:cNvPr id="14" name="ocean:header"/>
          <p:cNvSpPr/>
          <p:nvPr/>
        </p:nvSpPr>
        <p:spPr>
          <a:xfrm>
            <a:off x="7477455" y="420624"/>
            <a:ext cx="18211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spc="225" kern="0" dirty="0">
                <a:solidFill>
                  <a:srgbClr val="6E734C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INVESTOR DECK</a:t>
            </a:r>
            <a:endParaRPr lang="en-US" sz="900" dirty="0"/>
          </a:p>
        </p:txBody>
      </p:sp>
      <p:sp>
        <p:nvSpPr>
          <p:cNvPr id="15" name="ocean:header"/>
          <p:cNvSpPr/>
          <p:nvPr/>
        </p:nvSpPr>
        <p:spPr>
          <a:xfrm>
            <a:off x="7477455" y="630936"/>
            <a:ext cx="18211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225" kern="0" dirty="0">
                <a:solidFill>
                  <a:srgbClr val="6E734C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OCEAN RCS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9407855" y="329184"/>
            <a:ext cx="0" cy="609600"/>
          </a:xfrm>
          <a:prstGeom prst="line">
            <a:avLst/>
          </a:prstGeom>
          <a:noFill/>
          <a:ln w="12700">
            <a:solidFill>
              <a:srgbClr val="6E734C"/>
            </a:solidFill>
            <a:prstDash val="solid"/>
          </a:ln>
        </p:spPr>
      </p:sp>
      <p:sp>
        <p:nvSpPr>
          <p:cNvPr id="17" name="ocean:header"/>
          <p:cNvSpPr/>
          <p:nvPr/>
        </p:nvSpPr>
        <p:spPr>
          <a:xfrm>
            <a:off x="9453575" y="542544"/>
            <a:ext cx="46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4"/>
              </a:lnSpc>
              <a:buNone/>
            </a:pPr>
            <a:r>
              <a:rPr lang="en-US" sz="1100" b="1" spc="110" kern="0" dirty="0">
                <a:solidFill>
                  <a:srgbClr val="6E734C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01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9966655" y="329184"/>
            <a:ext cx="0" cy="609600"/>
          </a:xfrm>
          <a:prstGeom prst="line">
            <a:avLst/>
          </a:prstGeom>
          <a:noFill/>
          <a:ln w="12700">
            <a:solidFill>
              <a:srgbClr val="6E734C"/>
            </a:solidFill>
            <a:prstDash val="solid"/>
          </a:ln>
        </p:spPr>
      </p:sp>
      <p:sp>
        <p:nvSpPr>
          <p:cNvPr id="19" name="ocean:header"/>
          <p:cNvSpPr/>
          <p:nvPr/>
        </p:nvSpPr>
        <p:spPr>
          <a:xfrm>
            <a:off x="10012375" y="542544"/>
            <a:ext cx="46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4"/>
              </a:lnSpc>
              <a:buNone/>
            </a:pPr>
            <a:r>
              <a:rPr lang="en-US" sz="1100" b="1" spc="110" kern="0" dirty="0">
                <a:solidFill>
                  <a:srgbClr val="6E734C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02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10525455" y="329184"/>
            <a:ext cx="0" cy="609600"/>
          </a:xfrm>
          <a:prstGeom prst="line">
            <a:avLst/>
          </a:prstGeom>
          <a:noFill/>
          <a:ln w="12700">
            <a:solidFill>
              <a:srgbClr val="6E734C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0525455" y="329184"/>
            <a:ext cx="558800" cy="609600"/>
          </a:xfrm>
          <a:prstGeom prst="rect">
            <a:avLst/>
          </a:prstGeom>
          <a:solidFill>
            <a:srgbClr val="6E734C"/>
          </a:solidFill>
          <a:ln w="12700">
            <a:solidFill>
              <a:srgbClr val="6E734C"/>
            </a:solidFill>
            <a:prstDash val="solid"/>
          </a:ln>
        </p:spPr>
      </p:sp>
      <p:sp>
        <p:nvSpPr>
          <p:cNvPr id="22" name="ocean:header"/>
          <p:cNvSpPr/>
          <p:nvPr/>
        </p:nvSpPr>
        <p:spPr>
          <a:xfrm>
            <a:off x="10571175" y="542544"/>
            <a:ext cx="46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4"/>
              </a:lnSpc>
              <a:buNone/>
            </a:pPr>
            <a:r>
              <a:rPr lang="en-US" sz="1100" b="1" spc="110" kern="0" dirty="0">
                <a:solidFill>
                  <a:srgbClr val="F3FBF8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03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11084255" y="329184"/>
            <a:ext cx="0" cy="609600"/>
          </a:xfrm>
          <a:prstGeom prst="line">
            <a:avLst/>
          </a:prstGeom>
          <a:noFill/>
          <a:ln w="12700">
            <a:solidFill>
              <a:srgbClr val="6E734C"/>
            </a:solidFill>
            <a:prstDash val="solid"/>
          </a:ln>
        </p:spPr>
      </p:sp>
      <p:sp>
        <p:nvSpPr>
          <p:cNvPr id="24" name="ocean:header"/>
          <p:cNvSpPr/>
          <p:nvPr/>
        </p:nvSpPr>
        <p:spPr>
          <a:xfrm>
            <a:off x="11129975" y="542544"/>
            <a:ext cx="46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4"/>
              </a:lnSpc>
              <a:buNone/>
            </a:pPr>
            <a:r>
              <a:rPr lang="en-US" sz="1100" b="1" spc="110" kern="0" dirty="0">
                <a:solidFill>
                  <a:srgbClr val="6E734C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04</a:t>
            </a:r>
            <a:endParaRPr lang="en-US" sz="1100" dirty="0"/>
          </a:p>
        </p:txBody>
      </p:sp>
      <p:sp>
        <p:nvSpPr>
          <p:cNvPr id="25" name="ocean:label"/>
          <p:cNvSpPr/>
          <p:nvPr/>
        </p:nvSpPr>
        <p:spPr>
          <a:xfrm>
            <a:off x="548640" y="1335024"/>
            <a:ext cx="6309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4"/>
              </a:lnSpc>
              <a:buNone/>
            </a:pPr>
            <a:r>
              <a:rPr lang="en-US" sz="1100" b="1" spc="275" kern="0" dirty="0">
                <a:solidFill>
                  <a:srgbClr val="6E734C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03 CAPITAL</a:t>
            </a:r>
            <a:endParaRPr lang="en-US" sz="1100" dirty="0"/>
          </a:p>
        </p:txBody>
      </p:sp>
      <p:sp>
        <p:nvSpPr>
          <p:cNvPr id="26" name="ocean:headline"/>
          <p:cNvSpPr/>
          <p:nvPr/>
        </p:nvSpPr>
        <p:spPr>
          <a:xfrm>
            <a:off x="530352" y="1572768"/>
            <a:ext cx="634593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500" spc="-35" kern="0" dirty="0">
                <a:solidFill>
                  <a:srgbClr val="6E734C"/>
                </a:solidFill>
                <a:latin typeface="Stack Sans Headline Medium" pitchFamily="34" charset="0"/>
                <a:ea typeface="Stack Sans Headline Medium" pitchFamily="34" charset="-122"/>
                <a:cs typeface="Stack Sans Headline Medium" pitchFamily="34" charset="-120"/>
              </a:rPr>
              <a:t>Revenue begins with</a:t>
            </a:r>
            <a:endParaRPr lang="en-US" sz="3500" dirty="0"/>
          </a:p>
          <a:p>
            <a:pPr algn="l" indent="0" marL="0">
              <a:lnSpc>
                <a:spcPts val="3900"/>
              </a:lnSpc>
              <a:buNone/>
            </a:pPr>
            <a:r>
              <a:rPr lang="en-US" sz="3500" spc="-35" kern="0" dirty="0">
                <a:solidFill>
                  <a:srgbClr val="6E734C"/>
                </a:solidFill>
                <a:latin typeface="Stack Sans Headline Medium" pitchFamily="34" charset="0"/>
                <a:ea typeface="Stack Sans Headline Medium" pitchFamily="34" charset="-122"/>
                <a:cs typeface="Stack Sans Headline Medium" pitchFamily="34" charset="-120"/>
              </a:rPr>
              <a:t>contracted work</a:t>
            </a:r>
            <a:endParaRPr lang="en-US" sz="3500" dirty="0"/>
          </a:p>
        </p:txBody>
      </p:sp>
      <p:sp>
        <p:nvSpPr>
          <p:cNvPr id="27" name="Shape 24"/>
          <p:cNvSpPr/>
          <p:nvPr/>
        </p:nvSpPr>
        <p:spPr>
          <a:xfrm>
            <a:off x="548640" y="2734056"/>
            <a:ext cx="11094415" cy="0"/>
          </a:xfrm>
          <a:prstGeom prst="line">
            <a:avLst/>
          </a:prstGeom>
          <a:noFill/>
          <a:ln w="12700">
            <a:solidFill>
              <a:srgbClr val="6E734C"/>
            </a:solidFill>
            <a:prstDash val="solid"/>
          </a:ln>
        </p:spPr>
      </p:sp>
      <p:sp>
        <p:nvSpPr>
          <p:cNvPr id="28" name="ocean:frame"/>
          <p:cNvSpPr/>
          <p:nvPr/>
        </p:nvSpPr>
        <p:spPr>
          <a:xfrm>
            <a:off x="548640" y="3044952"/>
            <a:ext cx="3515258" cy="3127248"/>
          </a:xfrm>
          <a:custGeom>
            <a:avLst/>
            <a:gdLst/>
            <a:ahLst/>
            <a:cxnLst/>
            <a:rect l="l" t="t" r="r" b="b"/>
            <a:pathLst>
              <a:path w="3515258" h="3127248">
                <a:moveTo>
                  <a:pt x="114300" y="0"/>
                </a:moveTo>
                <a:lnTo>
                  <a:pt x="3400958" y="0"/>
                </a:lnTo>
                <a:quadBezTo>
                  <a:pt x="3515258" y="0"/>
                  <a:pt x="3515258" y="114300"/>
                </a:quadBezTo>
                <a:lnTo>
                  <a:pt x="3515258" y="2898648"/>
                </a:lnTo>
                <a:lnTo>
                  <a:pt x="3286658" y="3127248"/>
                </a:lnTo>
                <a:lnTo>
                  <a:pt x="114300" y="3127248"/>
                </a:lnTo>
                <a:quadBezTo>
                  <a:pt x="0" y="3127248"/>
                  <a:pt x="0" y="3012948"/>
                </a:quadBezTo>
                <a:lnTo>
                  <a:pt x="0" y="114300"/>
                </a:lnTo>
                <a:quadBezTo>
                  <a:pt x="0" y="0"/>
                  <a:pt x="114300" y="0"/>
                </a:quadBezTo>
                <a:close/>
              </a:path>
            </a:pathLst>
          </a:custGeom>
          <a:ln w="9525">
            <a:solidFill>
              <a:srgbClr val="6E734C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3743858" y="3282696"/>
            <a:ext cx="82550" cy="82550"/>
          </a:xfrm>
          <a:prstGeom prst="diamond">
            <a:avLst/>
          </a:prstGeom>
          <a:solidFill>
            <a:srgbClr val="6E734C"/>
          </a:solidFill>
          <a:ln w="12700">
            <a:solidFill>
              <a:srgbClr val="6E734C"/>
            </a:solidFill>
            <a:prstDash val="solid"/>
          </a:ln>
        </p:spPr>
      </p:sp>
      <p:sp>
        <p:nvSpPr>
          <p:cNvPr id="30" name="ocean:label"/>
          <p:cNvSpPr/>
          <p:nvPr/>
        </p:nvSpPr>
        <p:spPr>
          <a:xfrm>
            <a:off x="777240" y="324612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2"/>
              </a:lnSpc>
              <a:buNone/>
            </a:pPr>
            <a:r>
              <a:rPr lang="en-US" sz="1050" spc="263" kern="0" dirty="0">
                <a:solidFill>
                  <a:srgbClr val="6E734C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01</a:t>
            </a:r>
            <a:endParaRPr lang="en-US" sz="1050" dirty="0"/>
          </a:p>
        </p:txBody>
      </p:sp>
      <p:sp>
        <p:nvSpPr>
          <p:cNvPr id="31" name="ocean:section"/>
          <p:cNvSpPr/>
          <p:nvPr/>
        </p:nvSpPr>
        <p:spPr>
          <a:xfrm>
            <a:off x="777240" y="3703320"/>
            <a:ext cx="30580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200" spc="-22" kern="0" dirty="0">
                <a:solidFill>
                  <a:srgbClr val="6E734C"/>
                </a:solidFill>
                <a:latin typeface="Stack Sans Headline Medium" pitchFamily="34" charset="0"/>
                <a:ea typeface="Stack Sans Headline Medium" pitchFamily="34" charset="-122"/>
                <a:cs typeface="Stack Sans Headline Medium" pitchFamily="34" charset="-120"/>
              </a:rPr>
              <a:t>Base revenue</a:t>
            </a:r>
            <a:endParaRPr lang="en-US" sz="2200" dirty="0"/>
          </a:p>
        </p:txBody>
      </p:sp>
      <p:sp>
        <p:nvSpPr>
          <p:cNvPr id="32" name="ocean:body"/>
          <p:cNvSpPr/>
          <p:nvPr/>
        </p:nvSpPr>
        <p:spPr>
          <a:xfrm>
            <a:off x="777240" y="4645152"/>
            <a:ext cx="3058058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6E734C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EPC margin, O&amp;M, monitoring, solar and</a:t>
            </a:r>
            <a:endParaRPr lang="en-US" sz="130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6E734C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BESS value.</a:t>
            </a:r>
            <a:endParaRPr lang="en-US" sz="1300" dirty="0"/>
          </a:p>
        </p:txBody>
      </p:sp>
      <p:sp>
        <p:nvSpPr>
          <p:cNvPr id="33" name="ocean:frame"/>
          <p:cNvSpPr/>
          <p:nvPr/>
        </p:nvSpPr>
        <p:spPr>
          <a:xfrm>
            <a:off x="4338218" y="3044952"/>
            <a:ext cx="3515258" cy="3127248"/>
          </a:xfrm>
          <a:custGeom>
            <a:avLst/>
            <a:gdLst/>
            <a:ahLst/>
            <a:cxnLst/>
            <a:rect l="l" t="t" r="r" b="b"/>
            <a:pathLst>
              <a:path w="3515258" h="3127248">
                <a:moveTo>
                  <a:pt x="114300" y="0"/>
                </a:moveTo>
                <a:lnTo>
                  <a:pt x="3400958" y="0"/>
                </a:lnTo>
                <a:quadBezTo>
                  <a:pt x="3515258" y="0"/>
                  <a:pt x="3515258" y="114300"/>
                </a:quadBezTo>
                <a:lnTo>
                  <a:pt x="3515258" y="2898648"/>
                </a:lnTo>
                <a:lnTo>
                  <a:pt x="3286658" y="3127248"/>
                </a:lnTo>
                <a:lnTo>
                  <a:pt x="114300" y="3127248"/>
                </a:lnTo>
                <a:quadBezTo>
                  <a:pt x="0" y="3127248"/>
                  <a:pt x="0" y="3012948"/>
                </a:quadBezTo>
                <a:lnTo>
                  <a:pt x="0" y="114300"/>
                </a:lnTo>
                <a:quadBezTo>
                  <a:pt x="0" y="0"/>
                  <a:pt x="114300" y="0"/>
                </a:quadBezTo>
                <a:close/>
              </a:path>
            </a:pathLst>
          </a:custGeom>
          <a:ln w="9525">
            <a:solidFill>
              <a:srgbClr val="6E734C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7533437" y="3282696"/>
            <a:ext cx="82550" cy="82550"/>
          </a:xfrm>
          <a:prstGeom prst="diamond">
            <a:avLst/>
          </a:prstGeom>
          <a:solidFill>
            <a:srgbClr val="6E734C"/>
          </a:solidFill>
          <a:ln w="12700">
            <a:solidFill>
              <a:srgbClr val="6E734C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7393737" y="3282696"/>
            <a:ext cx="82550" cy="82550"/>
          </a:xfrm>
          <a:prstGeom prst="diamond">
            <a:avLst/>
          </a:prstGeom>
          <a:solidFill>
            <a:srgbClr val="6E734C"/>
          </a:solidFill>
          <a:ln w="12700">
            <a:solidFill>
              <a:srgbClr val="6E734C"/>
            </a:solidFill>
            <a:prstDash val="solid"/>
          </a:ln>
        </p:spPr>
      </p:sp>
      <p:sp>
        <p:nvSpPr>
          <p:cNvPr id="36" name="ocean:label"/>
          <p:cNvSpPr/>
          <p:nvPr/>
        </p:nvSpPr>
        <p:spPr>
          <a:xfrm>
            <a:off x="4566818" y="324612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2"/>
              </a:lnSpc>
              <a:buNone/>
            </a:pPr>
            <a:r>
              <a:rPr lang="en-US" sz="1050" spc="263" kern="0" dirty="0">
                <a:solidFill>
                  <a:srgbClr val="6E734C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02</a:t>
            </a:r>
            <a:endParaRPr lang="en-US" sz="1050" dirty="0"/>
          </a:p>
        </p:txBody>
      </p:sp>
      <p:sp>
        <p:nvSpPr>
          <p:cNvPr id="37" name="ocean:section"/>
          <p:cNvSpPr/>
          <p:nvPr/>
        </p:nvSpPr>
        <p:spPr>
          <a:xfrm>
            <a:off x="4566818" y="3703320"/>
            <a:ext cx="30580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200" spc="-22" kern="0" dirty="0">
                <a:solidFill>
                  <a:srgbClr val="6E734C"/>
                </a:solidFill>
                <a:latin typeface="Stack Sans Headline Medium" pitchFamily="34" charset="0"/>
                <a:ea typeface="Stack Sans Headline Medium" pitchFamily="34" charset="-122"/>
                <a:cs typeface="Stack Sans Headline Medium" pitchFamily="34" charset="-120"/>
              </a:rPr>
              <a:t>Contracted expansion</a:t>
            </a:r>
            <a:endParaRPr lang="en-US" sz="2200" dirty="0"/>
          </a:p>
        </p:txBody>
      </p:sp>
      <p:sp>
        <p:nvSpPr>
          <p:cNvPr id="38" name="ocean:body"/>
          <p:cNvSpPr/>
          <p:nvPr/>
        </p:nvSpPr>
        <p:spPr>
          <a:xfrm>
            <a:off x="4566818" y="4645152"/>
            <a:ext cx="3058058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6E734C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Fleet charging, site services and</a:t>
            </a:r>
            <a:endParaRPr lang="en-US" sz="130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6E734C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memberships.</a:t>
            </a:r>
            <a:endParaRPr lang="en-US" sz="1300" dirty="0"/>
          </a:p>
        </p:txBody>
      </p:sp>
      <p:sp>
        <p:nvSpPr>
          <p:cNvPr id="39" name="ocean:frame"/>
          <p:cNvSpPr/>
          <p:nvPr/>
        </p:nvSpPr>
        <p:spPr>
          <a:xfrm>
            <a:off x="8127797" y="3044952"/>
            <a:ext cx="3515258" cy="3127248"/>
          </a:xfrm>
          <a:custGeom>
            <a:avLst/>
            <a:gdLst/>
            <a:ahLst/>
            <a:cxnLst/>
            <a:rect l="l" t="t" r="r" b="b"/>
            <a:pathLst>
              <a:path w="3515258" h="3127248">
                <a:moveTo>
                  <a:pt x="114300" y="0"/>
                </a:moveTo>
                <a:lnTo>
                  <a:pt x="3400958" y="0"/>
                </a:lnTo>
                <a:quadBezTo>
                  <a:pt x="3515258" y="0"/>
                  <a:pt x="3515258" y="114300"/>
                </a:quadBezTo>
                <a:lnTo>
                  <a:pt x="3515258" y="2898648"/>
                </a:lnTo>
                <a:lnTo>
                  <a:pt x="3286658" y="3127248"/>
                </a:lnTo>
                <a:lnTo>
                  <a:pt x="114300" y="3127248"/>
                </a:lnTo>
                <a:quadBezTo>
                  <a:pt x="0" y="3127248"/>
                  <a:pt x="0" y="3012948"/>
                </a:quadBezTo>
                <a:lnTo>
                  <a:pt x="0" y="114300"/>
                </a:lnTo>
                <a:quadBezTo>
                  <a:pt x="0" y="0"/>
                  <a:pt x="114300" y="0"/>
                </a:quadBezTo>
                <a:close/>
              </a:path>
            </a:pathLst>
          </a:custGeom>
          <a:ln w="9525">
            <a:solidFill>
              <a:srgbClr val="6E734C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11323015" y="3282696"/>
            <a:ext cx="82550" cy="82550"/>
          </a:xfrm>
          <a:prstGeom prst="diamond">
            <a:avLst/>
          </a:prstGeom>
          <a:solidFill>
            <a:srgbClr val="6E734C"/>
          </a:solidFill>
          <a:ln w="12700">
            <a:solidFill>
              <a:srgbClr val="6E734C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11183315" y="3282696"/>
            <a:ext cx="82550" cy="82550"/>
          </a:xfrm>
          <a:prstGeom prst="diamond">
            <a:avLst/>
          </a:prstGeom>
          <a:solidFill>
            <a:srgbClr val="6E734C"/>
          </a:solidFill>
          <a:ln w="12700">
            <a:solidFill>
              <a:srgbClr val="6E734C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11043615" y="3282696"/>
            <a:ext cx="82550" cy="82550"/>
          </a:xfrm>
          <a:prstGeom prst="diamond">
            <a:avLst/>
          </a:prstGeom>
          <a:solidFill>
            <a:srgbClr val="6E734C"/>
          </a:solidFill>
          <a:ln w="12700">
            <a:solidFill>
              <a:srgbClr val="6E734C"/>
            </a:solidFill>
            <a:prstDash val="solid"/>
          </a:ln>
        </p:spPr>
      </p:sp>
      <p:sp>
        <p:nvSpPr>
          <p:cNvPr id="43" name="ocean:label"/>
          <p:cNvSpPr/>
          <p:nvPr/>
        </p:nvSpPr>
        <p:spPr>
          <a:xfrm>
            <a:off x="8356397" y="324612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2"/>
              </a:lnSpc>
              <a:buNone/>
            </a:pPr>
            <a:r>
              <a:rPr lang="en-US" sz="1050" spc="263" kern="0" dirty="0">
                <a:solidFill>
                  <a:srgbClr val="6E734C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03</a:t>
            </a:r>
            <a:endParaRPr lang="en-US" sz="1050" dirty="0"/>
          </a:p>
        </p:txBody>
      </p:sp>
      <p:sp>
        <p:nvSpPr>
          <p:cNvPr id="44" name="ocean:section"/>
          <p:cNvSpPr/>
          <p:nvPr/>
        </p:nvSpPr>
        <p:spPr>
          <a:xfrm>
            <a:off x="8356397" y="3703320"/>
            <a:ext cx="30580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200" spc="-22" kern="0" dirty="0">
                <a:solidFill>
                  <a:srgbClr val="6E734C"/>
                </a:solidFill>
                <a:latin typeface="Stack Sans Headline Medium" pitchFamily="34" charset="0"/>
                <a:ea typeface="Stack Sans Headline Medium" pitchFamily="34" charset="-122"/>
                <a:cs typeface="Stack Sans Headline Medium" pitchFamily="34" charset="-120"/>
              </a:rPr>
              <a:t>Optionality</a:t>
            </a:r>
            <a:endParaRPr lang="en-US" sz="2200" dirty="0"/>
          </a:p>
        </p:txBody>
      </p:sp>
      <p:sp>
        <p:nvSpPr>
          <p:cNvPr id="45" name="ocean:body"/>
          <p:cNvSpPr/>
          <p:nvPr/>
        </p:nvSpPr>
        <p:spPr>
          <a:xfrm>
            <a:off x="8356397" y="4645152"/>
            <a:ext cx="3058058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6E734C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Advertising, compute and future fleet</a:t>
            </a:r>
            <a:endParaRPr lang="en-US" sz="130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6E734C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services.</a:t>
            </a:r>
            <a:pPr algn="l"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6E734C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 </a:t>
            </a:r>
            <a:pPr algn="l"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6E734C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Excluded from the base</a:t>
            </a:r>
            <a:endParaRPr lang="en-US" sz="1300" dirty="0"/>
          </a:p>
          <a:p>
            <a:pPr algn="l"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6E734C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case.</a:t>
            </a:r>
            <a:endParaRPr lang="en-US" sz="1300" dirty="0"/>
          </a:p>
        </p:txBody>
      </p:sp>
      <p:sp>
        <p:nvSpPr>
          <p:cNvPr id="46" name="ocean:footer"/>
          <p:cNvSpPr/>
          <p:nvPr/>
        </p:nvSpPr>
        <p:spPr>
          <a:xfrm>
            <a:off x="548640" y="641908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spc="225" kern="0" dirty="0">
                <a:solidFill>
                  <a:srgbClr val="6E734C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OCEAN RCS · CONFIDENTIAL · FOR DISCUSSION ONLY · DRAFT · DO NOT USE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cean:header"/>
          <p:cNvSpPr/>
          <p:nvPr/>
        </p:nvSpPr>
        <p:spPr>
          <a:xfrm>
            <a:off x="548640" y="329184"/>
            <a:ext cx="11094415" cy="609600"/>
          </a:xfrm>
          <a:prstGeom prst="rect">
            <a:avLst/>
          </a:prstGeom>
          <a:ln w="12700">
            <a:solidFill>
              <a:srgbClr val="6E734C"/>
            </a:solidFill>
            <a:prstDash val="solid"/>
          </a:ln>
        </p:spPr>
      </p:sp>
      <p:pic>
        <p:nvPicPr>
          <p:cNvPr id="3" name="ocean:logo-horizontal" descr="/home/user/workspace/audit/repo/assets/logos/png/logo_horizontal_oli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440" y="494284"/>
            <a:ext cx="1000657" cy="2794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2644140" y="329184"/>
            <a:ext cx="0" cy="609600"/>
          </a:xfrm>
          <a:prstGeom prst="line">
            <a:avLst/>
          </a:prstGeom>
          <a:noFill/>
          <a:ln w="12700">
            <a:solidFill>
              <a:srgbClr val="6E734C"/>
            </a:solidFill>
            <a:prstDash val="solid"/>
          </a:ln>
        </p:spPr>
      </p:sp>
      <p:sp>
        <p:nvSpPr>
          <p:cNvPr id="5" name="ocean:header"/>
          <p:cNvSpPr/>
          <p:nvPr/>
        </p:nvSpPr>
        <p:spPr>
          <a:xfrm>
            <a:off x="2783840" y="420624"/>
            <a:ext cx="70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spc="225" kern="0" dirty="0">
                <a:solidFill>
                  <a:srgbClr val="6E734C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PAGE</a:t>
            </a:r>
            <a:endParaRPr lang="en-US" sz="900" dirty="0"/>
          </a:p>
        </p:txBody>
      </p:sp>
      <p:sp>
        <p:nvSpPr>
          <p:cNvPr id="6" name="ocean:header"/>
          <p:cNvSpPr/>
          <p:nvPr/>
        </p:nvSpPr>
        <p:spPr>
          <a:xfrm>
            <a:off x="2783840" y="630936"/>
            <a:ext cx="70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225" kern="0" dirty="0">
                <a:solidFill>
                  <a:srgbClr val="6E734C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12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3533140" y="329184"/>
            <a:ext cx="0" cy="609600"/>
          </a:xfrm>
          <a:prstGeom prst="line">
            <a:avLst/>
          </a:prstGeom>
          <a:noFill/>
          <a:ln w="12700">
            <a:solidFill>
              <a:srgbClr val="6E734C"/>
            </a:solidFill>
            <a:prstDash val="solid"/>
          </a:ln>
        </p:spPr>
      </p:sp>
      <p:sp>
        <p:nvSpPr>
          <p:cNvPr id="8" name="ocean:header"/>
          <p:cNvSpPr/>
          <p:nvPr/>
        </p:nvSpPr>
        <p:spPr>
          <a:xfrm>
            <a:off x="3751072" y="551688"/>
            <a:ext cx="80775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108" kern="0" dirty="0">
                <a:solidFill>
                  <a:srgbClr val="6E734C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PLATFORM</a:t>
            </a:r>
            <a:endParaRPr lang="en-US" sz="900" dirty="0"/>
          </a:p>
        </p:txBody>
      </p:sp>
      <p:sp>
        <p:nvSpPr>
          <p:cNvPr id="9" name="ocean:header"/>
          <p:cNvSpPr/>
          <p:nvPr/>
        </p:nvSpPr>
        <p:spPr>
          <a:xfrm>
            <a:off x="4705134" y="551688"/>
            <a:ext cx="69242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108" kern="0" dirty="0">
                <a:solidFill>
                  <a:srgbClr val="6E734C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PIPELINE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479860" y="515112"/>
            <a:ext cx="660883" cy="237744"/>
          </a:xfrm>
          <a:prstGeom prst="rect">
            <a:avLst/>
          </a:prstGeom>
          <a:solidFill>
            <a:srgbClr val="6E734C"/>
          </a:solidFill>
          <a:ln w="12700">
            <a:solidFill>
              <a:srgbClr val="6E734C"/>
            </a:solidFill>
            <a:prstDash val="solid"/>
          </a:ln>
        </p:spPr>
      </p:sp>
      <p:sp>
        <p:nvSpPr>
          <p:cNvPr id="11" name="ocean:header"/>
          <p:cNvSpPr/>
          <p:nvPr/>
        </p:nvSpPr>
        <p:spPr>
          <a:xfrm>
            <a:off x="5543868" y="551688"/>
            <a:ext cx="66088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108" kern="0" dirty="0">
                <a:solidFill>
                  <a:srgbClr val="F3FBF8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CAPITAL</a:t>
            </a:r>
            <a:endParaRPr lang="en-US" sz="900" dirty="0"/>
          </a:p>
        </p:txBody>
      </p:sp>
      <p:sp>
        <p:nvSpPr>
          <p:cNvPr id="12" name="ocean:header"/>
          <p:cNvSpPr/>
          <p:nvPr/>
        </p:nvSpPr>
        <p:spPr>
          <a:xfrm>
            <a:off x="6351054" y="551688"/>
            <a:ext cx="91885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108" kern="0" dirty="0">
                <a:solidFill>
                  <a:srgbClr val="6E734C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NEXT STEPS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7312355" y="329184"/>
            <a:ext cx="0" cy="609600"/>
          </a:xfrm>
          <a:prstGeom prst="line">
            <a:avLst/>
          </a:prstGeom>
          <a:noFill/>
          <a:ln w="12700">
            <a:solidFill>
              <a:srgbClr val="6E734C"/>
            </a:solidFill>
            <a:prstDash val="solid"/>
          </a:ln>
        </p:spPr>
      </p:sp>
      <p:sp>
        <p:nvSpPr>
          <p:cNvPr id="14" name="ocean:header"/>
          <p:cNvSpPr/>
          <p:nvPr/>
        </p:nvSpPr>
        <p:spPr>
          <a:xfrm>
            <a:off x="7477455" y="420624"/>
            <a:ext cx="18211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spc="225" kern="0" dirty="0">
                <a:solidFill>
                  <a:srgbClr val="6E734C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INVESTOR DECK</a:t>
            </a:r>
            <a:endParaRPr lang="en-US" sz="900" dirty="0"/>
          </a:p>
        </p:txBody>
      </p:sp>
      <p:sp>
        <p:nvSpPr>
          <p:cNvPr id="15" name="ocean:header"/>
          <p:cNvSpPr/>
          <p:nvPr/>
        </p:nvSpPr>
        <p:spPr>
          <a:xfrm>
            <a:off x="7477455" y="630936"/>
            <a:ext cx="18211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225" kern="0" dirty="0">
                <a:solidFill>
                  <a:srgbClr val="6E734C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OCEAN RCS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9407855" y="329184"/>
            <a:ext cx="0" cy="609600"/>
          </a:xfrm>
          <a:prstGeom prst="line">
            <a:avLst/>
          </a:prstGeom>
          <a:noFill/>
          <a:ln w="12700">
            <a:solidFill>
              <a:srgbClr val="6E734C"/>
            </a:solidFill>
            <a:prstDash val="solid"/>
          </a:ln>
        </p:spPr>
      </p:sp>
      <p:sp>
        <p:nvSpPr>
          <p:cNvPr id="17" name="ocean:header"/>
          <p:cNvSpPr/>
          <p:nvPr/>
        </p:nvSpPr>
        <p:spPr>
          <a:xfrm>
            <a:off x="9453575" y="542544"/>
            <a:ext cx="46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4"/>
              </a:lnSpc>
              <a:buNone/>
            </a:pPr>
            <a:r>
              <a:rPr lang="en-US" sz="1100" b="1" spc="110" kern="0" dirty="0">
                <a:solidFill>
                  <a:srgbClr val="6E734C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01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9966655" y="329184"/>
            <a:ext cx="0" cy="609600"/>
          </a:xfrm>
          <a:prstGeom prst="line">
            <a:avLst/>
          </a:prstGeom>
          <a:noFill/>
          <a:ln w="12700">
            <a:solidFill>
              <a:srgbClr val="6E734C"/>
            </a:solidFill>
            <a:prstDash val="solid"/>
          </a:ln>
        </p:spPr>
      </p:sp>
      <p:sp>
        <p:nvSpPr>
          <p:cNvPr id="19" name="ocean:header"/>
          <p:cNvSpPr/>
          <p:nvPr/>
        </p:nvSpPr>
        <p:spPr>
          <a:xfrm>
            <a:off x="10012375" y="542544"/>
            <a:ext cx="46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4"/>
              </a:lnSpc>
              <a:buNone/>
            </a:pPr>
            <a:r>
              <a:rPr lang="en-US" sz="1100" b="1" spc="110" kern="0" dirty="0">
                <a:solidFill>
                  <a:srgbClr val="6E734C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02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10525455" y="329184"/>
            <a:ext cx="0" cy="609600"/>
          </a:xfrm>
          <a:prstGeom prst="line">
            <a:avLst/>
          </a:prstGeom>
          <a:noFill/>
          <a:ln w="12700">
            <a:solidFill>
              <a:srgbClr val="6E734C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0525455" y="329184"/>
            <a:ext cx="558800" cy="609600"/>
          </a:xfrm>
          <a:prstGeom prst="rect">
            <a:avLst/>
          </a:prstGeom>
          <a:solidFill>
            <a:srgbClr val="6E734C"/>
          </a:solidFill>
          <a:ln w="12700">
            <a:solidFill>
              <a:srgbClr val="6E734C"/>
            </a:solidFill>
            <a:prstDash val="solid"/>
          </a:ln>
        </p:spPr>
      </p:sp>
      <p:sp>
        <p:nvSpPr>
          <p:cNvPr id="22" name="ocean:header"/>
          <p:cNvSpPr/>
          <p:nvPr/>
        </p:nvSpPr>
        <p:spPr>
          <a:xfrm>
            <a:off x="10571175" y="542544"/>
            <a:ext cx="46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4"/>
              </a:lnSpc>
              <a:buNone/>
            </a:pPr>
            <a:r>
              <a:rPr lang="en-US" sz="1100" b="1" spc="110" kern="0" dirty="0">
                <a:solidFill>
                  <a:srgbClr val="F3FBF8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03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11084255" y="329184"/>
            <a:ext cx="0" cy="609600"/>
          </a:xfrm>
          <a:prstGeom prst="line">
            <a:avLst/>
          </a:prstGeom>
          <a:noFill/>
          <a:ln w="12700">
            <a:solidFill>
              <a:srgbClr val="6E734C"/>
            </a:solidFill>
            <a:prstDash val="solid"/>
          </a:ln>
        </p:spPr>
      </p:sp>
      <p:sp>
        <p:nvSpPr>
          <p:cNvPr id="24" name="ocean:header"/>
          <p:cNvSpPr/>
          <p:nvPr/>
        </p:nvSpPr>
        <p:spPr>
          <a:xfrm>
            <a:off x="11129975" y="542544"/>
            <a:ext cx="46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4"/>
              </a:lnSpc>
              <a:buNone/>
            </a:pPr>
            <a:r>
              <a:rPr lang="en-US" sz="1100" b="1" spc="110" kern="0" dirty="0">
                <a:solidFill>
                  <a:srgbClr val="6E734C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04</a:t>
            </a:r>
            <a:endParaRPr lang="en-US" sz="1100" dirty="0"/>
          </a:p>
        </p:txBody>
      </p:sp>
      <p:sp>
        <p:nvSpPr>
          <p:cNvPr id="25" name="ocean:label"/>
          <p:cNvSpPr/>
          <p:nvPr/>
        </p:nvSpPr>
        <p:spPr>
          <a:xfrm>
            <a:off x="548640" y="1335024"/>
            <a:ext cx="6309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4"/>
              </a:lnSpc>
              <a:buNone/>
            </a:pPr>
            <a:r>
              <a:rPr lang="en-US" sz="1100" b="1" spc="275" kern="0" dirty="0">
                <a:solidFill>
                  <a:srgbClr val="6E734C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03 CAPITAL</a:t>
            </a:r>
            <a:endParaRPr lang="en-US" sz="1100" dirty="0"/>
          </a:p>
        </p:txBody>
      </p:sp>
      <p:sp>
        <p:nvSpPr>
          <p:cNvPr id="26" name="ocean:headline"/>
          <p:cNvSpPr/>
          <p:nvPr/>
        </p:nvSpPr>
        <p:spPr>
          <a:xfrm>
            <a:off x="530352" y="1572768"/>
            <a:ext cx="634593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500" spc="-35" kern="0" dirty="0">
                <a:solidFill>
                  <a:srgbClr val="6E734C"/>
                </a:solidFill>
                <a:latin typeface="Stack Sans Headline Medium" pitchFamily="34" charset="0"/>
                <a:ea typeface="Stack Sans Headline Medium" pitchFamily="34" charset="-122"/>
                <a:cs typeface="Stack Sans Headline Medium" pitchFamily="34" charset="-120"/>
              </a:rPr>
              <a:t>Qualified sites</a:t>
            </a:r>
            <a:endParaRPr lang="en-US" sz="3500" dirty="0"/>
          </a:p>
          <a:p>
            <a:pPr algn="l" indent="0" marL="0">
              <a:lnSpc>
                <a:spcPts val="3900"/>
              </a:lnSpc>
              <a:buNone/>
            </a:pPr>
            <a:r>
              <a:rPr lang="en-US" sz="3500" spc="-35" kern="0" dirty="0">
                <a:solidFill>
                  <a:srgbClr val="6E734C"/>
                </a:solidFill>
                <a:latin typeface="Stack Sans Headline Medium" pitchFamily="34" charset="0"/>
                <a:ea typeface="Stack Sans Headline Medium" pitchFamily="34" charset="-122"/>
                <a:cs typeface="Stack Sans Headline Medium" pitchFamily="34" charset="-120"/>
              </a:rPr>
              <a:t>require evidence</a:t>
            </a:r>
            <a:endParaRPr lang="en-US" sz="3500" dirty="0"/>
          </a:p>
        </p:txBody>
      </p:sp>
      <p:sp>
        <p:nvSpPr>
          <p:cNvPr id="27" name="ocean:lede"/>
          <p:cNvSpPr/>
          <p:nvPr/>
        </p:nvSpPr>
        <p:spPr>
          <a:xfrm>
            <a:off x="7040880" y="1572768"/>
            <a:ext cx="4602175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b="1" spc="263" kern="0" dirty="0">
                <a:solidFill>
                  <a:srgbClr val="6E734C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PHYSICAL, UTILITY, COMMERCIAL AND OPERATING</a:t>
            </a:r>
            <a:endParaRPr lang="en-US" sz="1050" dirty="0"/>
          </a:p>
          <a:p>
            <a:pPr algn="l" indent="0" marL="0">
              <a:lnSpc>
                <a:spcPts val="1700"/>
              </a:lnSpc>
              <a:buNone/>
            </a:pPr>
            <a:r>
              <a:rPr lang="en-US" sz="1050" b="1" spc="263" kern="0" dirty="0">
                <a:solidFill>
                  <a:srgbClr val="6E734C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CONDITIONS MUST SUPPORT DEPLOYMENT.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548640" y="2734056"/>
            <a:ext cx="11094415" cy="0"/>
          </a:xfrm>
          <a:prstGeom prst="line">
            <a:avLst/>
          </a:prstGeom>
          <a:noFill/>
          <a:ln w="12700">
            <a:solidFill>
              <a:srgbClr val="6E734C"/>
            </a:solidFill>
            <a:prstDash val="solid"/>
          </a:ln>
        </p:spPr>
      </p:sp>
      <p:graphicFrame>
        <p:nvGraphicFramePr>
          <p:cNvPr id="13" name="ocean: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044952"/>
          <a:ext cx="11094415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7802575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spc="225" kern="0" dirty="0">
                          <a:solidFill>
                            <a:srgbClr val="6E734C"/>
                          </a:solidFill>
                          <a:latin typeface="Stack Sans Headline" pitchFamily="34" charset="0"/>
                          <a:ea typeface="Stack Sans Headline" pitchFamily="34" charset="-122"/>
                          <a:cs typeface="Stack Sans Headline" pitchFamily="34" charset="-120"/>
                        </a:rPr>
                        <a:t>TEST</a:t>
                      </a:r>
                      <a:endParaRPr lang="en-US" sz="900" dirty="0">
                        <a:latin typeface="Stack Sans Headline" charset="0"/>
                        <a:ea typeface="Stack Sans Headline" charset="0"/>
                        <a:cs typeface="Stack Sans Headline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6E73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spc="225" kern="0" dirty="0">
                          <a:solidFill>
                            <a:srgbClr val="6E734C"/>
                          </a:solidFill>
                          <a:latin typeface="Stack Sans Headline" pitchFamily="34" charset="0"/>
                          <a:ea typeface="Stack Sans Headline" pitchFamily="34" charset="-122"/>
                          <a:cs typeface="Stack Sans Headline" pitchFamily="34" charset="-120"/>
                        </a:rPr>
                        <a:t>EVIDENCE REQUIRED</a:t>
                      </a:r>
                      <a:endParaRPr lang="en-US" sz="900" dirty="0">
                        <a:latin typeface="Stack Sans Headline" charset="0"/>
                        <a:ea typeface="Stack Sans Headline" charset="0"/>
                        <a:cs typeface="Stack Sans Headline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6E73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B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6E734C"/>
                          </a:solidFill>
                          <a:latin typeface="Stack Sans Headline" pitchFamily="34" charset="0"/>
                          <a:ea typeface="Stack Sans Headline" pitchFamily="34" charset="-122"/>
                          <a:cs typeface="Stack Sans Headline" pitchFamily="34" charset="-120"/>
                        </a:rPr>
                        <a:t>Physical site</a:t>
                      </a:r>
                      <a:endParaRPr lang="en-US" sz="1300" dirty="0">
                        <a:latin typeface="Stack Sans Headline" charset="0"/>
                        <a:ea typeface="Stack Sans Headline" charset="0"/>
                        <a:cs typeface="Stack Sans Headline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618C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6E734C"/>
                          </a:solidFill>
                          <a:latin typeface="Stack Sans Headline" pitchFamily="34" charset="0"/>
                          <a:ea typeface="Stack Sans Headline" pitchFamily="34" charset="-122"/>
                          <a:cs typeface="Stack Sans Headline" pitchFamily="34" charset="-120"/>
                        </a:rPr>
                        <a:t>Access, parking, setbacks and a safe service area</a:t>
                      </a:r>
                      <a:endParaRPr lang="en-US" sz="1300" dirty="0">
                        <a:latin typeface="Stack Sans Headline" charset="0"/>
                        <a:ea typeface="Stack Sans Headline" charset="0"/>
                        <a:cs typeface="Stack Sans Headline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618C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B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6E734C"/>
                          </a:solidFill>
                          <a:latin typeface="Stack Sans Headline" pitchFamily="34" charset="0"/>
                          <a:ea typeface="Stack Sans Headline" pitchFamily="34" charset="-122"/>
                          <a:cs typeface="Stack Sans Headline" pitchFamily="34" charset="-120"/>
                        </a:rPr>
                        <a:t>Power and utility</a:t>
                      </a:r>
                      <a:endParaRPr lang="en-US" sz="1300" dirty="0">
                        <a:latin typeface="Stack Sans Headline" charset="0"/>
                        <a:ea typeface="Stack Sans Headline" charset="0"/>
                        <a:cs typeface="Stack Sans Headline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618C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6E734C"/>
                          </a:solidFill>
                          <a:latin typeface="Stack Sans Headline" pitchFamily="34" charset="0"/>
                          <a:ea typeface="Stack Sans Headline" pitchFamily="34" charset="-122"/>
                          <a:cs typeface="Stack Sans Headline" pitchFamily="34" charset="-120"/>
                        </a:rPr>
                        <a:t>Load, interconnection and the utility path</a:t>
                      </a:r>
                      <a:endParaRPr lang="en-US" sz="1300" dirty="0">
                        <a:latin typeface="Stack Sans Headline" charset="0"/>
                        <a:ea typeface="Stack Sans Headline" charset="0"/>
                        <a:cs typeface="Stack Sans Headline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618C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B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6E734C"/>
                          </a:solidFill>
                          <a:latin typeface="Stack Sans Headline" pitchFamily="34" charset="0"/>
                          <a:ea typeface="Stack Sans Headline" pitchFamily="34" charset="-122"/>
                          <a:cs typeface="Stack Sans Headline" pitchFamily="34" charset="-120"/>
                        </a:rPr>
                        <a:t>Commercial demand</a:t>
                      </a:r>
                      <a:endParaRPr lang="en-US" sz="1300" dirty="0">
                        <a:latin typeface="Stack Sans Headline" charset="0"/>
                        <a:ea typeface="Stack Sans Headline" charset="0"/>
                        <a:cs typeface="Stack Sans Headline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618C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6E734C"/>
                          </a:solidFill>
                          <a:latin typeface="Stack Sans Headline" pitchFamily="34" charset="0"/>
                          <a:ea typeface="Stack Sans Headline" pitchFamily="34" charset="-122"/>
                          <a:cs typeface="Stack Sans Headline" pitchFamily="34" charset="-120"/>
                        </a:rPr>
                        <a:t>Charging, fleet, tenant or compute use</a:t>
                      </a:r>
                      <a:endParaRPr lang="en-US" sz="1300" dirty="0">
                        <a:latin typeface="Stack Sans Headline" charset="0"/>
                        <a:ea typeface="Stack Sans Headline" charset="0"/>
                        <a:cs typeface="Stack Sans Headline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618C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B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6E734C"/>
                          </a:solidFill>
                          <a:latin typeface="Stack Sans Headline" pitchFamily="34" charset="0"/>
                          <a:ea typeface="Stack Sans Headline" pitchFamily="34" charset="-122"/>
                          <a:cs typeface="Stack Sans Headline" pitchFamily="34" charset="-120"/>
                        </a:rPr>
                        <a:t>Construction scope</a:t>
                      </a:r>
                      <a:endParaRPr lang="en-US" sz="1300" dirty="0">
                        <a:latin typeface="Stack Sans Headline" charset="0"/>
                        <a:ea typeface="Stack Sans Headline" charset="0"/>
                        <a:cs typeface="Stack Sans Headline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618C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6E734C"/>
                          </a:solidFill>
                          <a:latin typeface="Stack Sans Headline" pitchFamily="34" charset="0"/>
                          <a:ea typeface="Stack Sans Headline" pitchFamily="34" charset="-122"/>
                          <a:cs typeface="Stack Sans Headline" pitchFamily="34" charset="-120"/>
                        </a:rPr>
                        <a:t>Civil, electrical and site-cost clarity</a:t>
                      </a:r>
                      <a:endParaRPr lang="en-US" sz="1300" dirty="0">
                        <a:latin typeface="Stack Sans Headline" charset="0"/>
                        <a:ea typeface="Stack Sans Headline" charset="0"/>
                        <a:cs typeface="Stack Sans Headline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618C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B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6E734C"/>
                          </a:solidFill>
                          <a:latin typeface="Stack Sans Headline" pitchFamily="34" charset="0"/>
                          <a:ea typeface="Stack Sans Headline" pitchFamily="34" charset="-122"/>
                          <a:cs typeface="Stack Sans Headline" pitchFamily="34" charset="-120"/>
                        </a:rPr>
                        <a:t>Operating model</a:t>
                      </a:r>
                      <a:endParaRPr lang="en-US" sz="1300" dirty="0">
                        <a:latin typeface="Stack Sans Headline" charset="0"/>
                        <a:ea typeface="Stack Sans Headline" charset="0"/>
                        <a:cs typeface="Stack Sans Headline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618C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B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6E734C"/>
                          </a:solidFill>
                          <a:latin typeface="Stack Sans Headline" pitchFamily="34" charset="0"/>
                          <a:ea typeface="Stack Sans Headline" pitchFamily="34" charset="-122"/>
                          <a:cs typeface="Stack Sans Headline" pitchFamily="34" charset="-120"/>
                        </a:rPr>
                        <a:t>O&amp;M, billing, access and support plan</a:t>
                      </a:r>
                      <a:endParaRPr lang="en-US" sz="1300" dirty="0">
                        <a:latin typeface="Stack Sans Headline" charset="0"/>
                        <a:ea typeface="Stack Sans Headline" charset="0"/>
                        <a:cs typeface="Stack Sans Headline" charset="0"/>
                      </a:endParaRPr>
                    </a:p>
                  </a:txBody>
                  <a:tcPr marL="0" marR="91440" marT="54864" marB="54864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618C7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BF8"/>
                    </a:solidFill>
                  </a:tcPr>
                </a:tc>
              </a:tr>
            </a:tbl>
          </a:graphicData>
        </a:graphic>
      </p:graphicFrame>
      <p:sp>
        <p:nvSpPr>
          <p:cNvPr id="30" name="ocean:footnote"/>
          <p:cNvSpPr/>
          <p:nvPr/>
        </p:nvSpPr>
        <p:spPr>
          <a:xfrm>
            <a:off x="548640" y="6144768"/>
            <a:ext cx="1109441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spc="225" kern="0" dirty="0">
                <a:solidFill>
                  <a:srgbClr val="6E734C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FORWARD-LOOKING AND SUBJECT TO DILIGENCE; NOT A GUARANTEE OF RETURNS.</a:t>
            </a:r>
            <a:endParaRPr lang="en-US" sz="900" dirty="0"/>
          </a:p>
        </p:txBody>
      </p:sp>
      <p:sp>
        <p:nvSpPr>
          <p:cNvPr id="31" name="ocean:footer"/>
          <p:cNvSpPr/>
          <p:nvPr/>
        </p:nvSpPr>
        <p:spPr>
          <a:xfrm>
            <a:off x="548640" y="641908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spc="225" kern="0" dirty="0">
                <a:solidFill>
                  <a:srgbClr val="6E734C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OCEAN RCS · CONFIDENTIAL · FOR DISCUSSION ONLY · DRAFT · DO NOT USE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cean:texture" descr="/home/user/workspace/audit/repo/assets/textures/tex_deck_blackmo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ocean:logo-graphic" descr="/home/user/workspace/audit/repo/assets/logos/png/logo_graphic_honeyde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87455" y="406400"/>
            <a:ext cx="355600" cy="355600"/>
          </a:xfrm>
          <a:prstGeom prst="rect">
            <a:avLst/>
          </a:prstGeom>
        </p:spPr>
      </p:pic>
      <p:sp>
        <p:nvSpPr>
          <p:cNvPr id="5" name="ocean:label"/>
          <p:cNvSpPr/>
          <p:nvPr/>
        </p:nvSpPr>
        <p:spPr>
          <a:xfrm>
            <a:off x="548640" y="3401568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4"/>
              </a:lnSpc>
              <a:buNone/>
            </a:pPr>
            <a:r>
              <a:rPr lang="en-US" sz="1100" b="1" spc="275" kern="0" dirty="0">
                <a:solidFill>
                  <a:srgbClr val="F3FBF8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CAPITAL</a:t>
            </a:r>
            <a:endParaRPr lang="en-US" sz="1100" dirty="0"/>
          </a:p>
        </p:txBody>
      </p:sp>
      <p:sp>
        <p:nvSpPr>
          <p:cNvPr id="6" name="ocean:metric"/>
          <p:cNvSpPr/>
          <p:nvPr/>
        </p:nvSpPr>
        <p:spPr>
          <a:xfrm>
            <a:off x="512064" y="3639312"/>
            <a:ext cx="4754880" cy="2122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0"/>
              </a:lnSpc>
              <a:buNone/>
            </a:pPr>
            <a:r>
              <a:rPr lang="en-US" sz="16500" spc="-660" kern="0" dirty="0">
                <a:solidFill>
                  <a:srgbClr val="EB3819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8</a:t>
            </a:r>
            <a:endParaRPr lang="en-US" sz="16500" dirty="0"/>
          </a:p>
        </p:txBody>
      </p:sp>
      <p:sp>
        <p:nvSpPr>
          <p:cNvPr id="7" name="ocean:statement"/>
          <p:cNvSpPr/>
          <p:nvPr/>
        </p:nvSpPr>
        <p:spPr>
          <a:xfrm>
            <a:off x="5458968" y="3931920"/>
            <a:ext cx="6217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800" spc="-76" kern="0" dirty="0">
                <a:solidFill>
                  <a:srgbClr val="F3FBF8"/>
                </a:solidFill>
                <a:latin typeface="Stack Sans Headline Medium" pitchFamily="34" charset="0"/>
                <a:ea typeface="Stack Sans Headline Medium" pitchFamily="34" charset="-122"/>
                <a:cs typeface="Stack Sans Headline Medium" pitchFamily="34" charset="-120"/>
              </a:rPr>
              <a:t>stage gates from</a:t>
            </a:r>
            <a:endParaRPr lang="en-US" sz="3800" dirty="0"/>
          </a:p>
          <a:p>
            <a:pPr algn="l" indent="0" marL="0">
              <a:lnSpc>
                <a:spcPts val="4200"/>
              </a:lnSpc>
              <a:buNone/>
            </a:pPr>
            <a:r>
              <a:rPr lang="en-US" sz="3800" spc="-76" kern="0" dirty="0">
                <a:solidFill>
                  <a:srgbClr val="F3FBF8"/>
                </a:solidFill>
                <a:latin typeface="Stack Sans Headline Medium" pitchFamily="34" charset="0"/>
                <a:ea typeface="Stack Sans Headline Medium" pitchFamily="34" charset="-122"/>
                <a:cs typeface="Stack Sans Headline Medium" pitchFamily="34" charset="-120"/>
              </a:rPr>
              <a:t>origination to monetization</a:t>
            </a:r>
            <a:endParaRPr lang="en-US" sz="3800" dirty="0"/>
          </a:p>
        </p:txBody>
      </p:sp>
      <p:sp>
        <p:nvSpPr>
          <p:cNvPr id="8" name="Shape 3"/>
          <p:cNvSpPr/>
          <p:nvPr/>
        </p:nvSpPr>
        <p:spPr>
          <a:xfrm>
            <a:off x="548640" y="5969000"/>
            <a:ext cx="11094415" cy="0"/>
          </a:xfrm>
          <a:prstGeom prst="line">
            <a:avLst/>
          </a:prstGeom>
          <a:noFill/>
          <a:ln w="12700">
            <a:solidFill>
              <a:srgbClr val="F3FBF8"/>
            </a:solidFill>
            <a:prstDash val="solid"/>
          </a:ln>
        </p:spPr>
      </p:sp>
      <p:sp>
        <p:nvSpPr>
          <p:cNvPr id="9" name="ocean:meta"/>
          <p:cNvSpPr/>
          <p:nvPr/>
        </p:nvSpPr>
        <p:spPr>
          <a:xfrm>
            <a:off x="548640" y="6134100"/>
            <a:ext cx="58000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1000" spc="250" kern="0" dirty="0">
                <a:solidFill>
                  <a:srgbClr val="F3FBF8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BASIS</a:t>
            </a:r>
            <a:endParaRPr lang="en-US" sz="1000" dirty="0"/>
          </a:p>
        </p:txBody>
      </p:sp>
      <p:sp>
        <p:nvSpPr>
          <p:cNvPr id="10" name="ocean:meta"/>
          <p:cNvSpPr/>
          <p:nvPr/>
        </p:nvSpPr>
        <p:spPr>
          <a:xfrm>
            <a:off x="1238377" y="6134100"/>
            <a:ext cx="190842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1000" b="1" spc="250" kern="0" dirty="0">
                <a:solidFill>
                  <a:srgbClr val="F3FBF8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PORTFOLIO PROCESS</a:t>
            </a:r>
            <a:endParaRPr lang="en-US" sz="1000" dirty="0"/>
          </a:p>
        </p:txBody>
      </p:sp>
      <p:sp>
        <p:nvSpPr>
          <p:cNvPr id="11" name="ocean:meta"/>
          <p:cNvSpPr/>
          <p:nvPr/>
        </p:nvSpPr>
        <p:spPr>
          <a:xfrm>
            <a:off x="3585718" y="6134100"/>
            <a:ext cx="71742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1000" spc="250" kern="0" dirty="0">
                <a:solidFill>
                  <a:srgbClr val="F3FBF8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STATUS</a:t>
            </a:r>
            <a:endParaRPr lang="en-US" sz="1000" dirty="0"/>
          </a:p>
        </p:txBody>
      </p:sp>
      <p:sp>
        <p:nvSpPr>
          <p:cNvPr id="12" name="ocean:meta"/>
          <p:cNvSpPr/>
          <p:nvPr/>
        </p:nvSpPr>
        <p:spPr>
          <a:xfrm>
            <a:off x="4412869" y="6134100"/>
            <a:ext cx="64096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1000" b="1" spc="250" kern="0" dirty="0">
                <a:solidFill>
                  <a:srgbClr val="F3FBF8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DRAFT</a:t>
            </a:r>
            <a:endParaRPr lang="en-US" sz="1000" dirty="0"/>
          </a:p>
        </p:txBody>
      </p:sp>
      <p:sp>
        <p:nvSpPr>
          <p:cNvPr id="13" name="ocean:footer"/>
          <p:cNvSpPr/>
          <p:nvPr/>
        </p:nvSpPr>
        <p:spPr>
          <a:xfrm>
            <a:off x="548640" y="641908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spc="225" kern="0" dirty="0">
                <a:solidFill>
                  <a:srgbClr val="F3FBF8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OCEAN RCS · CONFIDENTIAL · FOR DISCUSSION ONLY · DRAFT · DO NOT USE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cean:header"/>
          <p:cNvSpPr/>
          <p:nvPr/>
        </p:nvSpPr>
        <p:spPr>
          <a:xfrm>
            <a:off x="548640" y="329184"/>
            <a:ext cx="11094415" cy="609600"/>
          </a:xfrm>
          <a:prstGeom prst="rect">
            <a:avLst/>
          </a:prstGeom>
          <a:ln w="12700">
            <a:solidFill>
              <a:srgbClr val="0B1617"/>
            </a:solidFill>
            <a:prstDash val="solid"/>
          </a:ln>
        </p:spPr>
      </p:sp>
      <p:pic>
        <p:nvPicPr>
          <p:cNvPr id="3" name="ocean:logo-horizontal" descr="/home/user/workspace/audit/repo/assets/logos/png/logo_horizontal_blackmo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440" y="494284"/>
            <a:ext cx="1000657" cy="2794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2644140" y="329184"/>
            <a:ext cx="0" cy="609600"/>
          </a:xfrm>
          <a:prstGeom prst="line">
            <a:avLst/>
          </a:prstGeom>
          <a:noFill/>
          <a:ln w="12700">
            <a:solidFill>
              <a:srgbClr val="0B1617"/>
            </a:solidFill>
            <a:prstDash val="solid"/>
          </a:ln>
        </p:spPr>
      </p:sp>
      <p:sp>
        <p:nvSpPr>
          <p:cNvPr id="5" name="ocean:header"/>
          <p:cNvSpPr/>
          <p:nvPr/>
        </p:nvSpPr>
        <p:spPr>
          <a:xfrm>
            <a:off x="2783840" y="420624"/>
            <a:ext cx="70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spc="225" kern="0" dirty="0">
                <a:solidFill>
                  <a:srgbClr val="0B1617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PAGE</a:t>
            </a:r>
            <a:endParaRPr lang="en-US" sz="900" dirty="0"/>
          </a:p>
        </p:txBody>
      </p:sp>
      <p:sp>
        <p:nvSpPr>
          <p:cNvPr id="6" name="ocean:header"/>
          <p:cNvSpPr/>
          <p:nvPr/>
        </p:nvSpPr>
        <p:spPr>
          <a:xfrm>
            <a:off x="2783840" y="630936"/>
            <a:ext cx="70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225" kern="0" dirty="0">
                <a:solidFill>
                  <a:srgbClr val="0B1617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14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3533140" y="329184"/>
            <a:ext cx="0" cy="609600"/>
          </a:xfrm>
          <a:prstGeom prst="line">
            <a:avLst/>
          </a:prstGeom>
          <a:noFill/>
          <a:ln w="12700">
            <a:solidFill>
              <a:srgbClr val="0B1617"/>
            </a:solidFill>
            <a:prstDash val="solid"/>
          </a:ln>
        </p:spPr>
      </p:sp>
      <p:sp>
        <p:nvSpPr>
          <p:cNvPr id="8" name="ocean:header"/>
          <p:cNvSpPr/>
          <p:nvPr/>
        </p:nvSpPr>
        <p:spPr>
          <a:xfrm>
            <a:off x="3751072" y="551688"/>
            <a:ext cx="80775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108" kern="0" dirty="0">
                <a:solidFill>
                  <a:srgbClr val="0B1617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PLATFORM</a:t>
            </a:r>
            <a:endParaRPr lang="en-US" sz="900" dirty="0"/>
          </a:p>
        </p:txBody>
      </p:sp>
      <p:sp>
        <p:nvSpPr>
          <p:cNvPr id="9" name="ocean:header"/>
          <p:cNvSpPr/>
          <p:nvPr/>
        </p:nvSpPr>
        <p:spPr>
          <a:xfrm>
            <a:off x="4705134" y="551688"/>
            <a:ext cx="69242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108" kern="0" dirty="0">
                <a:solidFill>
                  <a:srgbClr val="0B1617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PIPELINE</a:t>
            </a:r>
            <a:endParaRPr lang="en-US" sz="900" dirty="0"/>
          </a:p>
        </p:txBody>
      </p:sp>
      <p:sp>
        <p:nvSpPr>
          <p:cNvPr id="10" name="ocean:header"/>
          <p:cNvSpPr/>
          <p:nvPr/>
        </p:nvSpPr>
        <p:spPr>
          <a:xfrm>
            <a:off x="5543868" y="551688"/>
            <a:ext cx="660883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108" kern="0" dirty="0">
                <a:solidFill>
                  <a:srgbClr val="0B1617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CAPITAL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6287046" y="515112"/>
            <a:ext cx="918858" cy="237744"/>
          </a:xfrm>
          <a:prstGeom prst="rect">
            <a:avLst/>
          </a:prstGeom>
          <a:solidFill>
            <a:srgbClr val="0B1617"/>
          </a:solidFill>
          <a:ln w="12700">
            <a:solidFill>
              <a:srgbClr val="0B1617"/>
            </a:solidFill>
            <a:prstDash val="solid"/>
          </a:ln>
        </p:spPr>
      </p:sp>
      <p:sp>
        <p:nvSpPr>
          <p:cNvPr id="12" name="ocean:header"/>
          <p:cNvSpPr/>
          <p:nvPr/>
        </p:nvSpPr>
        <p:spPr>
          <a:xfrm>
            <a:off x="6351054" y="551688"/>
            <a:ext cx="91885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108" kern="0" dirty="0">
                <a:solidFill>
                  <a:srgbClr val="F3FBF8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NEXT STEPS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7312355" y="329184"/>
            <a:ext cx="0" cy="609600"/>
          </a:xfrm>
          <a:prstGeom prst="line">
            <a:avLst/>
          </a:prstGeom>
          <a:noFill/>
          <a:ln w="12700">
            <a:solidFill>
              <a:srgbClr val="0B1617"/>
            </a:solidFill>
            <a:prstDash val="solid"/>
          </a:ln>
        </p:spPr>
      </p:sp>
      <p:sp>
        <p:nvSpPr>
          <p:cNvPr id="14" name="ocean:header"/>
          <p:cNvSpPr/>
          <p:nvPr/>
        </p:nvSpPr>
        <p:spPr>
          <a:xfrm>
            <a:off x="7477455" y="420624"/>
            <a:ext cx="18211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spc="225" kern="0" dirty="0">
                <a:solidFill>
                  <a:srgbClr val="0B1617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INVESTOR DECK</a:t>
            </a:r>
            <a:endParaRPr lang="en-US" sz="900" dirty="0"/>
          </a:p>
        </p:txBody>
      </p:sp>
      <p:sp>
        <p:nvSpPr>
          <p:cNvPr id="15" name="ocean:header"/>
          <p:cNvSpPr/>
          <p:nvPr/>
        </p:nvSpPr>
        <p:spPr>
          <a:xfrm>
            <a:off x="7477455" y="630936"/>
            <a:ext cx="18211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b="1" spc="225" kern="0" dirty="0">
                <a:solidFill>
                  <a:srgbClr val="0B1617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OCEAN RCS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9407855" y="329184"/>
            <a:ext cx="0" cy="609600"/>
          </a:xfrm>
          <a:prstGeom prst="line">
            <a:avLst/>
          </a:prstGeom>
          <a:noFill/>
          <a:ln w="12700">
            <a:solidFill>
              <a:srgbClr val="0B1617"/>
            </a:solidFill>
            <a:prstDash val="solid"/>
          </a:ln>
        </p:spPr>
      </p:sp>
      <p:sp>
        <p:nvSpPr>
          <p:cNvPr id="17" name="ocean:header"/>
          <p:cNvSpPr/>
          <p:nvPr/>
        </p:nvSpPr>
        <p:spPr>
          <a:xfrm>
            <a:off x="9453575" y="542544"/>
            <a:ext cx="46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4"/>
              </a:lnSpc>
              <a:buNone/>
            </a:pPr>
            <a:r>
              <a:rPr lang="en-US" sz="1100" b="1" spc="110" kern="0" dirty="0">
                <a:solidFill>
                  <a:srgbClr val="0B1617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01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9966655" y="329184"/>
            <a:ext cx="0" cy="609600"/>
          </a:xfrm>
          <a:prstGeom prst="line">
            <a:avLst/>
          </a:prstGeom>
          <a:noFill/>
          <a:ln w="12700">
            <a:solidFill>
              <a:srgbClr val="0B1617"/>
            </a:solidFill>
            <a:prstDash val="solid"/>
          </a:ln>
        </p:spPr>
      </p:sp>
      <p:sp>
        <p:nvSpPr>
          <p:cNvPr id="19" name="ocean:header"/>
          <p:cNvSpPr/>
          <p:nvPr/>
        </p:nvSpPr>
        <p:spPr>
          <a:xfrm>
            <a:off x="10012375" y="542544"/>
            <a:ext cx="46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4"/>
              </a:lnSpc>
              <a:buNone/>
            </a:pPr>
            <a:r>
              <a:rPr lang="en-US" sz="1100" b="1" spc="110" kern="0" dirty="0">
                <a:solidFill>
                  <a:srgbClr val="0B1617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02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10525455" y="329184"/>
            <a:ext cx="0" cy="609600"/>
          </a:xfrm>
          <a:prstGeom prst="line">
            <a:avLst/>
          </a:prstGeom>
          <a:noFill/>
          <a:ln w="12700">
            <a:solidFill>
              <a:srgbClr val="0B1617"/>
            </a:solidFill>
            <a:prstDash val="solid"/>
          </a:ln>
        </p:spPr>
      </p:sp>
      <p:sp>
        <p:nvSpPr>
          <p:cNvPr id="21" name="ocean:header"/>
          <p:cNvSpPr/>
          <p:nvPr/>
        </p:nvSpPr>
        <p:spPr>
          <a:xfrm>
            <a:off x="10571175" y="542544"/>
            <a:ext cx="46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4"/>
              </a:lnSpc>
              <a:buNone/>
            </a:pPr>
            <a:r>
              <a:rPr lang="en-US" sz="1100" b="1" spc="110" kern="0" dirty="0">
                <a:solidFill>
                  <a:srgbClr val="0B1617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03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11084255" y="329184"/>
            <a:ext cx="0" cy="609600"/>
          </a:xfrm>
          <a:prstGeom prst="line">
            <a:avLst/>
          </a:prstGeom>
          <a:noFill/>
          <a:ln w="12700">
            <a:solidFill>
              <a:srgbClr val="0B1617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11084255" y="329184"/>
            <a:ext cx="558800" cy="609600"/>
          </a:xfrm>
          <a:prstGeom prst="rect">
            <a:avLst/>
          </a:prstGeom>
          <a:solidFill>
            <a:srgbClr val="0B1617"/>
          </a:solidFill>
          <a:ln w="12700">
            <a:solidFill>
              <a:srgbClr val="0B1617"/>
            </a:solidFill>
            <a:prstDash val="solid"/>
          </a:ln>
        </p:spPr>
      </p:sp>
      <p:sp>
        <p:nvSpPr>
          <p:cNvPr id="24" name="ocean:header"/>
          <p:cNvSpPr/>
          <p:nvPr/>
        </p:nvSpPr>
        <p:spPr>
          <a:xfrm>
            <a:off x="11129975" y="542544"/>
            <a:ext cx="46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4"/>
              </a:lnSpc>
              <a:buNone/>
            </a:pPr>
            <a:r>
              <a:rPr lang="en-US" sz="1100" b="1" spc="110" kern="0" dirty="0">
                <a:solidFill>
                  <a:srgbClr val="F3FBF8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04</a:t>
            </a:r>
            <a:endParaRPr lang="en-US" sz="1100" dirty="0"/>
          </a:p>
        </p:txBody>
      </p:sp>
      <p:sp>
        <p:nvSpPr>
          <p:cNvPr id="25" name="ocean:label"/>
          <p:cNvSpPr/>
          <p:nvPr/>
        </p:nvSpPr>
        <p:spPr>
          <a:xfrm>
            <a:off x="548640" y="1335024"/>
            <a:ext cx="6309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4"/>
              </a:lnSpc>
              <a:buNone/>
            </a:pPr>
            <a:r>
              <a:rPr lang="en-US" sz="1100" b="1" spc="275" kern="0" dirty="0">
                <a:solidFill>
                  <a:srgbClr val="0B1617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04 NEXT STEPS</a:t>
            </a:r>
            <a:endParaRPr lang="en-US" sz="1100" dirty="0"/>
          </a:p>
        </p:txBody>
      </p:sp>
      <p:sp>
        <p:nvSpPr>
          <p:cNvPr id="26" name="ocean:headline"/>
          <p:cNvSpPr/>
          <p:nvPr/>
        </p:nvSpPr>
        <p:spPr>
          <a:xfrm>
            <a:off x="530352" y="1572768"/>
            <a:ext cx="634593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500" spc="-35" kern="0" dirty="0">
                <a:solidFill>
                  <a:srgbClr val="0B1617"/>
                </a:solidFill>
                <a:latin typeface="Stack Sans Headline Medium" pitchFamily="34" charset="0"/>
                <a:ea typeface="Stack Sans Headline Medium" pitchFamily="34" charset="-122"/>
                <a:cs typeface="Stack Sans Headline Medium" pitchFamily="34" charset="-120"/>
              </a:rPr>
              <a:t>Milestone-based capital</a:t>
            </a:r>
            <a:endParaRPr lang="en-US" sz="3500" dirty="0"/>
          </a:p>
        </p:txBody>
      </p:sp>
      <p:sp>
        <p:nvSpPr>
          <p:cNvPr id="27" name="ocean:lede"/>
          <p:cNvSpPr/>
          <p:nvPr/>
        </p:nvSpPr>
        <p:spPr>
          <a:xfrm>
            <a:off x="7040880" y="1572768"/>
            <a:ext cx="4602175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b="1" spc="263" kern="0" dirty="0">
                <a:solidFill>
                  <a:srgbClr val="0B1617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MONETIZATION FOLLOWS STABILIZATION:</a:t>
            </a:r>
            <a:endParaRPr lang="en-US" sz="1050" dirty="0"/>
          </a:p>
          <a:p>
            <a:pPr algn="l" indent="0" marL="0">
              <a:lnSpc>
                <a:spcPts val="1700"/>
              </a:lnSpc>
              <a:buNone/>
            </a:pPr>
            <a:r>
              <a:rPr lang="en-US" sz="1050" b="1" spc="263" kern="0" dirty="0">
                <a:solidFill>
                  <a:srgbClr val="0B1617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REFINANCE, SELL, RECAPITALIZE OR FORM JOINT</a:t>
            </a:r>
            <a:endParaRPr lang="en-US" sz="1050" dirty="0"/>
          </a:p>
          <a:p>
            <a:pPr algn="l" indent="0" marL="0">
              <a:lnSpc>
                <a:spcPts val="1700"/>
              </a:lnSpc>
              <a:buNone/>
            </a:pPr>
            <a:r>
              <a:rPr lang="en-US" sz="1050" b="1" spc="263" kern="0" dirty="0">
                <a:solidFill>
                  <a:srgbClr val="0B1617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VENTURES.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548640" y="2734056"/>
            <a:ext cx="11094415" cy="0"/>
          </a:xfrm>
          <a:prstGeom prst="line">
            <a:avLst/>
          </a:prstGeom>
          <a:noFill/>
          <a:ln w="12700">
            <a:solidFill>
              <a:srgbClr val="0B1617"/>
            </a:solidFill>
            <a:prstDash val="solid"/>
          </a:ln>
        </p:spPr>
      </p:sp>
      <p:sp>
        <p:nvSpPr>
          <p:cNvPr id="29" name="ocean:label"/>
          <p:cNvSpPr/>
          <p:nvPr/>
        </p:nvSpPr>
        <p:spPr>
          <a:xfrm>
            <a:off x="548640" y="3044952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2"/>
              </a:lnSpc>
              <a:buNone/>
            </a:pPr>
            <a:r>
              <a:rPr lang="en-US" sz="1050" spc="263" kern="0" dirty="0">
                <a:solidFill>
                  <a:srgbClr val="0B1617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CAPITAL SOUGHT</a:t>
            </a:r>
            <a:endParaRPr lang="en-US" sz="1050" dirty="0"/>
          </a:p>
        </p:txBody>
      </p:sp>
      <p:sp>
        <p:nvSpPr>
          <p:cNvPr id="30" name="ocean:metric"/>
          <p:cNvSpPr/>
          <p:nvPr/>
        </p:nvSpPr>
        <p:spPr>
          <a:xfrm>
            <a:off x="521208" y="3319272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400"/>
              </a:lnSpc>
              <a:buNone/>
            </a:pPr>
            <a:r>
              <a:rPr lang="en-US" sz="6000" spc="-120" kern="0" dirty="0">
                <a:solidFill>
                  <a:srgbClr val="0B1617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[TBD]</a:t>
            </a:r>
            <a:endParaRPr lang="en-US" sz="6000" dirty="0"/>
          </a:p>
        </p:txBody>
      </p:sp>
      <p:sp>
        <p:nvSpPr>
          <p:cNvPr id="31" name="Shape 28"/>
          <p:cNvSpPr/>
          <p:nvPr/>
        </p:nvSpPr>
        <p:spPr>
          <a:xfrm>
            <a:off x="548640" y="4370832"/>
            <a:ext cx="5120640" cy="0"/>
          </a:xfrm>
          <a:prstGeom prst="line">
            <a:avLst/>
          </a:prstGeom>
          <a:noFill/>
          <a:ln w="6350">
            <a:solidFill>
              <a:srgbClr val="0B1617"/>
            </a:solidFill>
            <a:prstDash val="solid"/>
          </a:ln>
        </p:spPr>
      </p:sp>
      <p:sp>
        <p:nvSpPr>
          <p:cNvPr id="32" name="ocean:body"/>
          <p:cNvSpPr/>
          <p:nvPr/>
        </p:nvSpPr>
        <p:spPr>
          <a:xfrm>
            <a:off x="548640" y="446227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12"/>
              </a:lnSpc>
              <a:buNone/>
            </a:pPr>
            <a:r>
              <a:rPr lang="en-US" sz="1300" dirty="0">
                <a:solidFill>
                  <a:srgbClr val="0B1617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First funded asset</a:t>
            </a:r>
            <a:endParaRPr lang="en-US" sz="1300" dirty="0"/>
          </a:p>
        </p:txBody>
      </p:sp>
      <p:sp>
        <p:nvSpPr>
          <p:cNvPr id="33" name="ocean:body"/>
          <p:cNvSpPr/>
          <p:nvPr/>
        </p:nvSpPr>
        <p:spPr>
          <a:xfrm>
            <a:off x="4114800" y="446227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488"/>
              </a:lnSpc>
              <a:buNone/>
            </a:pPr>
            <a:r>
              <a:rPr lang="en-US" sz="1200" b="1" spc="150" kern="0" dirty="0">
                <a:solidFill>
                  <a:srgbClr val="0B1617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[TBD]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548640" y="4773168"/>
            <a:ext cx="5120640" cy="0"/>
          </a:xfrm>
          <a:prstGeom prst="line">
            <a:avLst/>
          </a:prstGeom>
          <a:noFill/>
          <a:ln w="6350">
            <a:solidFill>
              <a:srgbClr val="0B1617"/>
            </a:solidFill>
            <a:prstDash val="solid"/>
          </a:ln>
        </p:spPr>
      </p:sp>
      <p:sp>
        <p:nvSpPr>
          <p:cNvPr id="35" name="ocean:body"/>
          <p:cNvSpPr/>
          <p:nvPr/>
        </p:nvSpPr>
        <p:spPr>
          <a:xfrm>
            <a:off x="548640" y="486460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12"/>
              </a:lnSpc>
              <a:buNone/>
            </a:pPr>
            <a:r>
              <a:rPr lang="en-US" sz="1300" dirty="0">
                <a:solidFill>
                  <a:srgbClr val="0B1617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Terms</a:t>
            </a:r>
            <a:endParaRPr lang="en-US" sz="1300" dirty="0"/>
          </a:p>
        </p:txBody>
      </p:sp>
      <p:sp>
        <p:nvSpPr>
          <p:cNvPr id="36" name="ocean:body"/>
          <p:cNvSpPr/>
          <p:nvPr/>
        </p:nvSpPr>
        <p:spPr>
          <a:xfrm>
            <a:off x="4114800" y="486460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488"/>
              </a:lnSpc>
              <a:buNone/>
            </a:pPr>
            <a:r>
              <a:rPr lang="en-US" sz="1200" b="1" spc="150" kern="0" dirty="0">
                <a:solidFill>
                  <a:srgbClr val="0B1617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[TBD]</a:t>
            </a:r>
            <a:endParaRPr lang="en-US" sz="1200" dirty="0"/>
          </a:p>
        </p:txBody>
      </p:sp>
      <p:sp>
        <p:nvSpPr>
          <p:cNvPr id="37" name="ocean:frame"/>
          <p:cNvSpPr/>
          <p:nvPr/>
        </p:nvSpPr>
        <p:spPr>
          <a:xfrm>
            <a:off x="6217920" y="3044952"/>
            <a:ext cx="5425135" cy="676656"/>
          </a:xfrm>
          <a:custGeom>
            <a:avLst/>
            <a:gdLst/>
            <a:ahLst/>
            <a:cxnLst/>
            <a:rect l="l" t="t" r="r" b="b"/>
            <a:pathLst>
              <a:path w="5425135" h="676656">
                <a:moveTo>
                  <a:pt x="76200" y="0"/>
                </a:moveTo>
                <a:lnTo>
                  <a:pt x="5348935" y="0"/>
                </a:lnTo>
                <a:quadBezTo>
                  <a:pt x="5425135" y="0"/>
                  <a:pt x="5425135" y="76200"/>
                </a:quadBezTo>
                <a:lnTo>
                  <a:pt x="5425135" y="524256"/>
                </a:lnTo>
                <a:lnTo>
                  <a:pt x="5272735" y="676656"/>
                </a:lnTo>
                <a:lnTo>
                  <a:pt x="76200" y="676656"/>
                </a:lnTo>
                <a:quadBezTo>
                  <a:pt x="0" y="676656"/>
                  <a:pt x="0" y="600456"/>
                </a:quadBezTo>
                <a:lnTo>
                  <a:pt x="0" y="76200"/>
                </a:lnTo>
                <a:quadBezTo>
                  <a:pt x="0" y="0"/>
                  <a:pt x="76200" y="0"/>
                </a:quadBezTo>
                <a:close/>
              </a:path>
            </a:pathLst>
          </a:custGeom>
          <a:ln w="9525">
            <a:solidFill>
              <a:srgbClr val="0B1617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11387023" y="3172968"/>
            <a:ext cx="82550" cy="82550"/>
          </a:xfrm>
          <a:prstGeom prst="diamond">
            <a:avLst/>
          </a:prstGeom>
          <a:solidFill>
            <a:srgbClr val="0B1617"/>
          </a:solidFill>
          <a:ln w="12700">
            <a:solidFill>
              <a:srgbClr val="0B1617"/>
            </a:solidFill>
            <a:prstDash val="solid"/>
          </a:ln>
        </p:spPr>
      </p:sp>
      <p:sp>
        <p:nvSpPr>
          <p:cNvPr id="39" name="ocean:label"/>
          <p:cNvSpPr/>
          <p:nvPr/>
        </p:nvSpPr>
        <p:spPr>
          <a:xfrm>
            <a:off x="6400800" y="315468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1000" spc="250" kern="0" dirty="0">
                <a:solidFill>
                  <a:srgbClr val="0B1617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01</a:t>
            </a:r>
            <a:endParaRPr lang="en-US" sz="1000" dirty="0"/>
          </a:p>
        </p:txBody>
      </p:sp>
      <p:sp>
        <p:nvSpPr>
          <p:cNvPr id="40" name="ocean:body"/>
          <p:cNvSpPr/>
          <p:nvPr/>
        </p:nvSpPr>
        <p:spPr>
          <a:xfrm>
            <a:off x="6400800" y="3374136"/>
            <a:ext cx="48764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12"/>
              </a:lnSpc>
              <a:buNone/>
            </a:pPr>
            <a:r>
              <a:rPr lang="en-US" sz="1300" dirty="0">
                <a:solidFill>
                  <a:srgbClr val="0B1617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Confirm investor mandate</a:t>
            </a:r>
            <a:endParaRPr lang="en-US" sz="1300" dirty="0"/>
          </a:p>
        </p:txBody>
      </p:sp>
      <p:sp>
        <p:nvSpPr>
          <p:cNvPr id="41" name="ocean:frame"/>
          <p:cNvSpPr/>
          <p:nvPr/>
        </p:nvSpPr>
        <p:spPr>
          <a:xfrm>
            <a:off x="6217920" y="3831336"/>
            <a:ext cx="5425135" cy="676656"/>
          </a:xfrm>
          <a:custGeom>
            <a:avLst/>
            <a:gdLst/>
            <a:ahLst/>
            <a:cxnLst/>
            <a:rect l="l" t="t" r="r" b="b"/>
            <a:pathLst>
              <a:path w="5425135" h="676656">
                <a:moveTo>
                  <a:pt x="76200" y="0"/>
                </a:moveTo>
                <a:lnTo>
                  <a:pt x="5348935" y="0"/>
                </a:lnTo>
                <a:quadBezTo>
                  <a:pt x="5425135" y="0"/>
                  <a:pt x="5425135" y="76200"/>
                </a:quadBezTo>
                <a:lnTo>
                  <a:pt x="5425135" y="524256"/>
                </a:lnTo>
                <a:lnTo>
                  <a:pt x="5272735" y="676656"/>
                </a:lnTo>
                <a:lnTo>
                  <a:pt x="76200" y="676656"/>
                </a:lnTo>
                <a:quadBezTo>
                  <a:pt x="0" y="676656"/>
                  <a:pt x="0" y="600456"/>
                </a:quadBezTo>
                <a:lnTo>
                  <a:pt x="0" y="76200"/>
                </a:lnTo>
                <a:quadBezTo>
                  <a:pt x="0" y="0"/>
                  <a:pt x="76200" y="0"/>
                </a:quadBezTo>
                <a:close/>
              </a:path>
            </a:pathLst>
          </a:custGeom>
          <a:ln w="9525">
            <a:solidFill>
              <a:srgbClr val="0B1617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11387023" y="3959352"/>
            <a:ext cx="82550" cy="82550"/>
          </a:xfrm>
          <a:prstGeom prst="diamond">
            <a:avLst/>
          </a:prstGeom>
          <a:solidFill>
            <a:srgbClr val="0B1617"/>
          </a:solidFill>
          <a:ln w="12700">
            <a:solidFill>
              <a:srgbClr val="0B1617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11247323" y="3959352"/>
            <a:ext cx="82550" cy="82550"/>
          </a:xfrm>
          <a:prstGeom prst="diamond">
            <a:avLst/>
          </a:prstGeom>
          <a:solidFill>
            <a:srgbClr val="0B1617"/>
          </a:solidFill>
          <a:ln w="12700">
            <a:solidFill>
              <a:srgbClr val="0B1617"/>
            </a:solidFill>
            <a:prstDash val="solid"/>
          </a:ln>
        </p:spPr>
      </p:sp>
      <p:sp>
        <p:nvSpPr>
          <p:cNvPr id="44" name="ocean:label"/>
          <p:cNvSpPr/>
          <p:nvPr/>
        </p:nvSpPr>
        <p:spPr>
          <a:xfrm>
            <a:off x="6400800" y="394106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1000" spc="250" kern="0" dirty="0">
                <a:solidFill>
                  <a:srgbClr val="0B1617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02</a:t>
            </a:r>
            <a:endParaRPr lang="en-US" sz="1000" dirty="0"/>
          </a:p>
        </p:txBody>
      </p:sp>
      <p:sp>
        <p:nvSpPr>
          <p:cNvPr id="45" name="ocean:body"/>
          <p:cNvSpPr/>
          <p:nvPr/>
        </p:nvSpPr>
        <p:spPr>
          <a:xfrm>
            <a:off x="6400800" y="4160520"/>
            <a:ext cx="48764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12"/>
              </a:lnSpc>
              <a:buNone/>
            </a:pPr>
            <a:r>
              <a:rPr lang="en-US" sz="1300" dirty="0">
                <a:solidFill>
                  <a:srgbClr val="0B1617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Define first funded asset</a:t>
            </a:r>
            <a:endParaRPr lang="en-US" sz="1300" dirty="0"/>
          </a:p>
        </p:txBody>
      </p:sp>
      <p:sp>
        <p:nvSpPr>
          <p:cNvPr id="46" name="ocean:frame"/>
          <p:cNvSpPr/>
          <p:nvPr/>
        </p:nvSpPr>
        <p:spPr>
          <a:xfrm>
            <a:off x="6217920" y="4617720"/>
            <a:ext cx="5425135" cy="676656"/>
          </a:xfrm>
          <a:custGeom>
            <a:avLst/>
            <a:gdLst/>
            <a:ahLst/>
            <a:cxnLst/>
            <a:rect l="l" t="t" r="r" b="b"/>
            <a:pathLst>
              <a:path w="5425135" h="676656">
                <a:moveTo>
                  <a:pt x="76200" y="0"/>
                </a:moveTo>
                <a:lnTo>
                  <a:pt x="5348935" y="0"/>
                </a:lnTo>
                <a:quadBezTo>
                  <a:pt x="5425135" y="0"/>
                  <a:pt x="5425135" y="76200"/>
                </a:quadBezTo>
                <a:lnTo>
                  <a:pt x="5425135" y="524256"/>
                </a:lnTo>
                <a:lnTo>
                  <a:pt x="5272735" y="676656"/>
                </a:lnTo>
                <a:lnTo>
                  <a:pt x="76200" y="676656"/>
                </a:lnTo>
                <a:quadBezTo>
                  <a:pt x="0" y="676656"/>
                  <a:pt x="0" y="600456"/>
                </a:quadBezTo>
                <a:lnTo>
                  <a:pt x="0" y="76200"/>
                </a:lnTo>
                <a:quadBezTo>
                  <a:pt x="0" y="0"/>
                  <a:pt x="76200" y="0"/>
                </a:quadBezTo>
                <a:close/>
              </a:path>
            </a:pathLst>
          </a:custGeom>
          <a:ln w="9525">
            <a:solidFill>
              <a:srgbClr val="0B1617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11387023" y="4745736"/>
            <a:ext cx="82550" cy="82550"/>
          </a:xfrm>
          <a:prstGeom prst="diamond">
            <a:avLst/>
          </a:prstGeom>
          <a:solidFill>
            <a:srgbClr val="0B1617"/>
          </a:solidFill>
          <a:ln w="12700">
            <a:solidFill>
              <a:srgbClr val="0B1617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11247323" y="4745736"/>
            <a:ext cx="82550" cy="82550"/>
          </a:xfrm>
          <a:prstGeom prst="diamond">
            <a:avLst/>
          </a:prstGeom>
          <a:solidFill>
            <a:srgbClr val="0B1617"/>
          </a:solidFill>
          <a:ln w="12700">
            <a:solidFill>
              <a:srgbClr val="0B1617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11107623" y="4745736"/>
            <a:ext cx="82550" cy="82550"/>
          </a:xfrm>
          <a:prstGeom prst="diamond">
            <a:avLst/>
          </a:prstGeom>
          <a:solidFill>
            <a:srgbClr val="0B1617"/>
          </a:solidFill>
          <a:ln w="12700">
            <a:solidFill>
              <a:srgbClr val="0B1617"/>
            </a:solidFill>
            <a:prstDash val="solid"/>
          </a:ln>
        </p:spPr>
      </p:sp>
      <p:sp>
        <p:nvSpPr>
          <p:cNvPr id="50" name="ocean:label"/>
          <p:cNvSpPr/>
          <p:nvPr/>
        </p:nvSpPr>
        <p:spPr>
          <a:xfrm>
            <a:off x="6400800" y="472744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1000" spc="250" kern="0" dirty="0">
                <a:solidFill>
                  <a:srgbClr val="0B1617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03</a:t>
            </a:r>
            <a:endParaRPr lang="en-US" sz="1000" dirty="0"/>
          </a:p>
        </p:txBody>
      </p:sp>
      <p:sp>
        <p:nvSpPr>
          <p:cNvPr id="51" name="ocean:body"/>
          <p:cNvSpPr/>
          <p:nvPr/>
        </p:nvSpPr>
        <p:spPr>
          <a:xfrm>
            <a:off x="6400800" y="4946904"/>
            <a:ext cx="48764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12"/>
              </a:lnSpc>
              <a:buNone/>
            </a:pPr>
            <a:r>
              <a:rPr lang="en-US" sz="1300" dirty="0">
                <a:solidFill>
                  <a:srgbClr val="0B1617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Complete diligence package</a:t>
            </a:r>
            <a:endParaRPr lang="en-US" sz="1300" dirty="0"/>
          </a:p>
        </p:txBody>
      </p:sp>
      <p:sp>
        <p:nvSpPr>
          <p:cNvPr id="52" name="ocean:frame"/>
          <p:cNvSpPr/>
          <p:nvPr/>
        </p:nvSpPr>
        <p:spPr>
          <a:xfrm>
            <a:off x="6217920" y="5404104"/>
            <a:ext cx="5425135" cy="676656"/>
          </a:xfrm>
          <a:custGeom>
            <a:avLst/>
            <a:gdLst/>
            <a:ahLst/>
            <a:cxnLst/>
            <a:rect l="l" t="t" r="r" b="b"/>
            <a:pathLst>
              <a:path w="5425135" h="676656">
                <a:moveTo>
                  <a:pt x="76200" y="0"/>
                </a:moveTo>
                <a:lnTo>
                  <a:pt x="5348935" y="0"/>
                </a:lnTo>
                <a:quadBezTo>
                  <a:pt x="5425135" y="0"/>
                  <a:pt x="5425135" y="76200"/>
                </a:quadBezTo>
                <a:lnTo>
                  <a:pt x="5425135" y="524256"/>
                </a:lnTo>
                <a:lnTo>
                  <a:pt x="5272735" y="676656"/>
                </a:lnTo>
                <a:lnTo>
                  <a:pt x="76200" y="676656"/>
                </a:lnTo>
                <a:quadBezTo>
                  <a:pt x="0" y="676656"/>
                  <a:pt x="0" y="600456"/>
                </a:quadBezTo>
                <a:lnTo>
                  <a:pt x="0" y="76200"/>
                </a:lnTo>
                <a:quadBezTo>
                  <a:pt x="0" y="0"/>
                  <a:pt x="76200" y="0"/>
                </a:quadBezTo>
                <a:close/>
              </a:path>
            </a:pathLst>
          </a:custGeom>
          <a:ln w="9525">
            <a:solidFill>
              <a:srgbClr val="0B1617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11387023" y="5532120"/>
            <a:ext cx="82550" cy="82550"/>
          </a:xfrm>
          <a:prstGeom prst="diamond">
            <a:avLst/>
          </a:prstGeom>
          <a:solidFill>
            <a:srgbClr val="0B1617"/>
          </a:solidFill>
          <a:ln w="12700">
            <a:solidFill>
              <a:srgbClr val="0B1617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11247323" y="5532120"/>
            <a:ext cx="82550" cy="82550"/>
          </a:xfrm>
          <a:prstGeom prst="diamond">
            <a:avLst/>
          </a:prstGeom>
          <a:solidFill>
            <a:srgbClr val="0B1617"/>
          </a:solidFill>
          <a:ln w="12700">
            <a:solidFill>
              <a:srgbClr val="0B1617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11107623" y="5532120"/>
            <a:ext cx="82550" cy="82550"/>
          </a:xfrm>
          <a:prstGeom prst="diamond">
            <a:avLst/>
          </a:prstGeom>
          <a:solidFill>
            <a:srgbClr val="0B1617"/>
          </a:solidFill>
          <a:ln w="12700">
            <a:solidFill>
              <a:srgbClr val="0B1617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10967923" y="5532120"/>
            <a:ext cx="82550" cy="82550"/>
          </a:xfrm>
          <a:prstGeom prst="diamond">
            <a:avLst/>
          </a:prstGeom>
          <a:solidFill>
            <a:srgbClr val="0B1617"/>
          </a:solidFill>
          <a:ln w="12700">
            <a:solidFill>
              <a:srgbClr val="0B1617"/>
            </a:solidFill>
            <a:prstDash val="solid"/>
          </a:ln>
        </p:spPr>
      </p:sp>
      <p:sp>
        <p:nvSpPr>
          <p:cNvPr id="57" name="ocean:label"/>
          <p:cNvSpPr/>
          <p:nvPr/>
        </p:nvSpPr>
        <p:spPr>
          <a:xfrm>
            <a:off x="6400800" y="551383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0"/>
              </a:lnSpc>
              <a:buNone/>
            </a:pPr>
            <a:r>
              <a:rPr lang="en-US" sz="1000" spc="250" kern="0" dirty="0">
                <a:solidFill>
                  <a:srgbClr val="0B1617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04</a:t>
            </a:r>
            <a:endParaRPr lang="en-US" sz="1000" dirty="0"/>
          </a:p>
        </p:txBody>
      </p:sp>
      <p:sp>
        <p:nvSpPr>
          <p:cNvPr id="58" name="ocean:body"/>
          <p:cNvSpPr/>
          <p:nvPr/>
        </p:nvSpPr>
        <p:spPr>
          <a:xfrm>
            <a:off x="6400800" y="5733288"/>
            <a:ext cx="48764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12"/>
              </a:lnSpc>
              <a:buNone/>
            </a:pPr>
            <a:r>
              <a:rPr lang="en-US" sz="1300" dirty="0">
                <a:solidFill>
                  <a:srgbClr val="0B1617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Approve stage-gated capital</a:t>
            </a:r>
            <a:endParaRPr lang="en-US" sz="1300" dirty="0"/>
          </a:p>
        </p:txBody>
      </p:sp>
      <p:sp>
        <p:nvSpPr>
          <p:cNvPr id="59" name="ocean:footer"/>
          <p:cNvSpPr/>
          <p:nvPr/>
        </p:nvSpPr>
        <p:spPr>
          <a:xfrm>
            <a:off x="548640" y="641908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spc="225" kern="0" dirty="0">
                <a:solidFill>
                  <a:srgbClr val="0B1617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OCEAN RCS · CONFIDENTIAL · FOR DISCUSSION ONLY · DRAFT · DO NOT USE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3FB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cean:logo-graphic" descr="/home/user/workspace/audit/repo/assets/logos/png/logo_graphic_blackmo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87455" y="406400"/>
            <a:ext cx="355600" cy="355600"/>
          </a:xfrm>
          <a:prstGeom prst="rect">
            <a:avLst/>
          </a:prstGeom>
        </p:spPr>
      </p:pic>
      <p:sp>
        <p:nvSpPr>
          <p:cNvPr id="3" name="ocean:label"/>
          <p:cNvSpPr/>
          <p:nvPr/>
        </p:nvSpPr>
        <p:spPr>
          <a:xfrm>
            <a:off x="548640" y="1335024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4"/>
              </a:lnSpc>
              <a:buNone/>
            </a:pPr>
            <a:r>
              <a:rPr lang="en-US" sz="1100" b="1" spc="275" kern="0" dirty="0">
                <a:solidFill>
                  <a:srgbClr val="0B1617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NOTICE</a:t>
            </a:r>
            <a:endParaRPr lang="en-US" sz="1100" dirty="0"/>
          </a:p>
        </p:txBody>
      </p:sp>
      <p:sp>
        <p:nvSpPr>
          <p:cNvPr id="4" name="ocean:headline"/>
          <p:cNvSpPr/>
          <p:nvPr/>
        </p:nvSpPr>
        <p:spPr>
          <a:xfrm>
            <a:off x="530352" y="1572768"/>
            <a:ext cx="7315200" cy="578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340"/>
              </a:lnSpc>
              <a:buNone/>
            </a:pPr>
            <a:r>
              <a:rPr lang="en-US" sz="3500" spc="-35" kern="0" dirty="0">
                <a:solidFill>
                  <a:srgbClr val="0B1617"/>
                </a:solidFill>
                <a:latin typeface="Stack Sans Headline Medium" pitchFamily="34" charset="0"/>
                <a:ea typeface="Stack Sans Headline Medium" pitchFamily="34" charset="-122"/>
                <a:cs typeface="Stack Sans Headline Medium" pitchFamily="34" charset="-120"/>
              </a:rPr>
              <a:t>Important notice</a:t>
            </a:r>
            <a:endParaRPr lang="en-US" sz="3500" dirty="0"/>
          </a:p>
        </p:txBody>
      </p:sp>
      <p:sp>
        <p:nvSpPr>
          <p:cNvPr id="5" name="Shape 2"/>
          <p:cNvSpPr/>
          <p:nvPr/>
        </p:nvSpPr>
        <p:spPr>
          <a:xfrm>
            <a:off x="548640" y="2734056"/>
            <a:ext cx="11094415" cy="0"/>
          </a:xfrm>
          <a:prstGeom prst="line">
            <a:avLst/>
          </a:prstGeom>
          <a:noFill/>
          <a:ln w="12700">
            <a:solidFill>
              <a:srgbClr val="0B1617"/>
            </a:solidFill>
            <a:prstDash val="solid"/>
          </a:ln>
        </p:spPr>
      </p:sp>
      <p:sp>
        <p:nvSpPr>
          <p:cNvPr id="6" name="ocean:notice"/>
          <p:cNvSpPr/>
          <p:nvPr/>
        </p:nvSpPr>
        <p:spPr>
          <a:xfrm>
            <a:off x="7022592" y="3044952"/>
            <a:ext cx="4602175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B1617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This presentation is confidential and is provided for discussion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B1617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purposes only. It is not an offer to sell or a solicitation of an offer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B1617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to buy any security. Any project, equipment acquisition,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B1617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incentive, utility service, fleet relationship, charging utilization,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B1617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compute deployment, financial return or exit transaction is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B1617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subject to final diligence, written agreements and applicable law.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B1617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Ocean RCS is the market-facing operating brand for the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B1617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platform. Project-specific legal entities may be formed at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B1617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equipment acquisition, property closing, financing or operations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B1617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launch. Forward-looking statements, projections and estimates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B1617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are not guarantees. Do not copy, forward or distribute without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0B1617"/>
                </a:solidFill>
                <a:latin typeface="Stack Sans Headline" pitchFamily="34" charset="0"/>
                <a:ea typeface="Stack Sans Headline" pitchFamily="34" charset="-122"/>
                <a:cs typeface="Stack Sans Headline" pitchFamily="34" charset="-120"/>
              </a:rPr>
              <a:t>the written consent of Ocean RCS.</a:t>
            </a:r>
            <a:endParaRPr lang="en-US" sz="1200" dirty="0"/>
          </a:p>
        </p:txBody>
      </p:sp>
      <p:sp>
        <p:nvSpPr>
          <p:cNvPr id="7" name="ocean:footer"/>
          <p:cNvSpPr/>
          <p:nvPr/>
        </p:nvSpPr>
        <p:spPr>
          <a:xfrm>
            <a:off x="548640" y="641908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6"/>
              </a:lnSpc>
              <a:buNone/>
            </a:pPr>
            <a:r>
              <a:rPr lang="en-US" sz="900" spc="225" kern="0" dirty="0">
                <a:solidFill>
                  <a:srgbClr val="0B1617"/>
                </a:solidFill>
                <a:latin typeface="Stack Sans Headline Light" pitchFamily="34" charset="0"/>
                <a:ea typeface="Stack Sans Headline Light" pitchFamily="34" charset="-122"/>
                <a:cs typeface="Stack Sans Headline Light" pitchFamily="34" charset="-120"/>
              </a:rPr>
              <a:t>OCEAN RCS · CONFIDENTIAL · FOR DISCUSSION ONLY · DRAFT · DO NOT USE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618C7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cean:texture" descr="/home/user/workspace/audit/repo/assets/textures/tex_deck_s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ocean:logo-vertical" descr="/home/user/workspace/audit/repo/assets/logos/png/logo_vertical_honeyde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7744" y="2603500"/>
            <a:ext cx="1876207" cy="1651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tack Sans Headlin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tack Sans Headlin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Ocean RCS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Ocean RCS Mobility &amp; Energy Platform</dc:title>
  <dc:subject>Built with ocean-brand-system lib/ocean.js</dc:subject>
  <dc:creator>Ocean RCS</dc:creator>
  <cp:lastModifiedBy>Ocean RCS</cp:lastModifiedBy>
  <cp:revision>1</cp:revision>
  <dcterms:created xsi:type="dcterms:W3CDTF">2026-09-27T09:30:21Z</dcterms:created>
  <dcterms:modified xsi:type="dcterms:W3CDTF">2026-09-27T09:30:21Z</dcterms:modified>
</cp:coreProperties>
</file>