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Ocean leadership confirmed on 27 Sep 2026 that the supplied drone photo is a real Ocean project. No project size, customer or performance claim is inferred from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Mobility hubs, parallel pipelines and capital gates.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Opportunistic equipment: title, condition, serviceability and site fit verified before purchase.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Gates: originate, screen, control, validate, fund, build, operate, monetize.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Monetization follows stabilization: refinance, sell, recapitalize or form joint ventures.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18C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texture" descr="/home/runner/work/ocean-brand-system/ocean-brand-system/assets/textures/tex_deck_s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cean:frame"/>
          <p:cNvSpPr/>
          <p:nvPr/>
        </p:nvSpPr>
        <p:spPr>
          <a:xfrm>
            <a:off x="304800" y="304800"/>
            <a:ext cx="11582095" cy="6248400"/>
          </a:xfrm>
          <a:custGeom>
            <a:avLst/>
            <a:gdLst/>
            <a:ahLst/>
            <a:cxnLst/>
            <a:rect l="l" t="t" r="r" b="b"/>
            <a:pathLst>
              <a:path w="11582095" h="6248400">
                <a:moveTo>
                  <a:pt x="0" y="279400"/>
                </a:moveTo>
                <a:lnTo>
                  <a:pt x="279400" y="0"/>
                </a:lnTo>
                <a:lnTo>
                  <a:pt x="11455095" y="0"/>
                </a:lnTo>
                <a:quadBezTo>
                  <a:pt x="11582095" y="0"/>
                  <a:pt x="11582095" y="127000"/>
                </a:quadBezTo>
                <a:lnTo>
                  <a:pt x="11582095" y="6121400"/>
                </a:lnTo>
                <a:quadBezTo>
                  <a:pt x="11582095" y="6248400"/>
                  <a:pt x="11455095" y="6248400"/>
                </a:quadBezTo>
                <a:lnTo>
                  <a:pt x="127000" y="6248400"/>
                </a:lnTo>
                <a:quadBezTo>
                  <a:pt x="0" y="6248400"/>
                  <a:pt x="0" y="6121400"/>
                </a:quadBezTo>
                <a:close/>
              </a:path>
            </a:pathLst>
          </a:custGeom>
          <a:ln w="12700">
            <a:solidFill>
              <a:srgbClr val="F3FBF8"/>
            </a:solidFill>
            <a:prstDash val="solid"/>
          </a:ln>
        </p:spPr>
      </p:sp>
      <p:pic>
        <p:nvPicPr>
          <p:cNvPr id="4" name="ocean:logo-vertical" descr="/home/runner/work/ocean-brand-system/ocean-brand-system/assets/logos/png/logo_vertical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00" y="685800"/>
            <a:ext cx="952536" cy="838200"/>
          </a:xfrm>
          <a:prstGeom prst="rect">
            <a:avLst/>
          </a:prstGeom>
        </p:spPr>
      </p:pic>
      <p:sp>
        <p:nvSpPr>
          <p:cNvPr id="5" name="ocean:label"/>
          <p:cNvSpPr/>
          <p:nvPr/>
        </p:nvSpPr>
        <p:spPr>
          <a:xfrm>
            <a:off x="8554415" y="63500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3720"/>
              </a:lnSpc>
              <a:buNone/>
            </a:pPr>
            <a:r>
              <a:rPr lang="en-US" sz="3000" spc="-6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2026</a:t>
            </a:r>
            <a:endParaRPr lang="en-US" sz="3000" dirty="0"/>
          </a:p>
        </p:txBody>
      </p:sp>
      <p:sp>
        <p:nvSpPr>
          <p:cNvPr id="6" name="ocean:label"/>
          <p:cNvSpPr/>
          <p:nvPr/>
        </p:nvSpPr>
        <p:spPr>
          <a:xfrm>
            <a:off x="7640015" y="12435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4"/>
              </a:lnSpc>
              <a:buNone/>
            </a:pPr>
            <a:r>
              <a:rPr lang="en-US" sz="1100" spc="275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RENEWABLE CONNECTED SYSTEMS</a:t>
            </a:r>
            <a:endParaRPr lang="en-US" sz="1100" dirty="0"/>
          </a:p>
        </p:txBody>
      </p:sp>
      <p:sp>
        <p:nvSpPr>
          <p:cNvPr id="7" name="ocean:label"/>
          <p:cNvSpPr/>
          <p:nvPr/>
        </p:nvSpPr>
        <p:spPr>
          <a:xfrm>
            <a:off x="711200" y="2761488"/>
            <a:ext cx="10769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8"/>
              </a:lnSpc>
              <a:buNone/>
            </a:pPr>
            <a:r>
              <a:rPr lang="en-US" sz="1200" b="1" spc="30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INVESTOR PRESENTATION</a:t>
            </a:r>
            <a:endParaRPr lang="en-US" sz="1200" dirty="0"/>
          </a:p>
        </p:txBody>
      </p:sp>
      <p:sp>
        <p:nvSpPr>
          <p:cNvPr id="8" name="ocean:cover"/>
          <p:cNvSpPr/>
          <p:nvPr/>
        </p:nvSpPr>
        <p:spPr>
          <a:xfrm>
            <a:off x="660400" y="3291840"/>
            <a:ext cx="10769295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00"/>
              </a:lnSpc>
              <a:buNone/>
            </a:pPr>
            <a:r>
              <a:rPr lang="en-US" sz="8400" spc="-336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Mobility</a:t>
            </a:r>
            <a:endParaRPr lang="en-US" sz="8400" dirty="0"/>
          </a:p>
          <a:p>
            <a:pPr algn="l" indent="0" marL="0">
              <a:lnSpc>
                <a:spcPts val="7200"/>
              </a:lnSpc>
              <a:buNone/>
            </a:pPr>
            <a:r>
              <a:rPr lang="en-US" sz="8400" spc="-336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&amp; Energy</a:t>
            </a:r>
            <a:endParaRPr lang="en-US" sz="8400" dirty="0"/>
          </a:p>
        </p:txBody>
      </p:sp>
      <p:sp>
        <p:nvSpPr>
          <p:cNvPr id="9" name="ocean:notice"/>
          <p:cNvSpPr/>
          <p:nvPr/>
        </p:nvSpPr>
        <p:spPr>
          <a:xfrm>
            <a:off x="711200" y="5537200"/>
            <a:ext cx="10769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Confidential. For discussion only. Not an offer to sell or a solicitation of an offer to buy any security. Draft for discussion. Do not use, rely on or distribute. Figures and terms may change.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711200" y="6083300"/>
            <a:ext cx="10769295" cy="0"/>
          </a:xfrm>
          <a:prstGeom prst="line">
            <a:avLst/>
          </a:prstGeom>
          <a:noFill/>
          <a:ln w="12700">
            <a:solidFill>
              <a:srgbClr val="F3FBF8"/>
            </a:solidFill>
            <a:prstDash val="solid"/>
          </a:ln>
        </p:spPr>
      </p:sp>
      <p:sp>
        <p:nvSpPr>
          <p:cNvPr id="11" name="ocean:meta"/>
          <p:cNvSpPr/>
          <p:nvPr/>
        </p:nvSpPr>
        <p:spPr>
          <a:xfrm>
            <a:off x="711200" y="6235700"/>
            <a:ext cx="5030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DATE</a:t>
            </a:r>
            <a:endParaRPr lang="en-US" sz="1000" dirty="0"/>
          </a:p>
        </p:txBody>
      </p:sp>
      <p:sp>
        <p:nvSpPr>
          <p:cNvPr id="12" name="ocean:meta"/>
          <p:cNvSpPr/>
          <p:nvPr/>
        </p:nvSpPr>
        <p:spPr>
          <a:xfrm>
            <a:off x="1323975" y="6235700"/>
            <a:ext cx="11597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27 SEP 2026</a:t>
            </a:r>
            <a:endParaRPr lang="en-US" sz="1000" dirty="0"/>
          </a:p>
        </p:txBody>
      </p:sp>
      <p:sp>
        <p:nvSpPr>
          <p:cNvPr id="13" name="ocean:meta"/>
          <p:cNvSpPr/>
          <p:nvPr/>
        </p:nvSpPr>
        <p:spPr>
          <a:xfrm>
            <a:off x="2922651" y="6235700"/>
            <a:ext cx="71742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STATUS</a:t>
            </a:r>
            <a:endParaRPr lang="en-US" sz="1000" dirty="0"/>
          </a:p>
        </p:txBody>
      </p:sp>
      <p:sp>
        <p:nvSpPr>
          <p:cNvPr id="14" name="ocean:meta"/>
          <p:cNvSpPr/>
          <p:nvPr/>
        </p:nvSpPr>
        <p:spPr>
          <a:xfrm>
            <a:off x="3749802" y="6235700"/>
            <a:ext cx="64096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DRAFT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logo-horizontal" descr="/home/runner/work/ocean-brand-system/ocean-brand-system/assets/logos/png/logo_horizontal_blackm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06400"/>
            <a:ext cx="1000657" cy="279400"/>
          </a:xfrm>
          <a:prstGeom prst="rect">
            <a:avLst/>
          </a:prstGeom>
        </p:spPr>
      </p:pic>
      <p:sp>
        <p:nvSpPr>
          <p:cNvPr id="3" name="ocean:label"/>
          <p:cNvSpPr/>
          <p:nvPr/>
        </p:nvSpPr>
        <p:spPr>
          <a:xfrm>
            <a:off x="8442655" y="393700"/>
            <a:ext cx="3200400" cy="18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INVESTOR DECK</a:t>
            </a:r>
            <a:endParaRPr lang="en-US" sz="1000" dirty="0"/>
          </a:p>
        </p:txBody>
      </p:sp>
      <p:sp>
        <p:nvSpPr>
          <p:cNvPr id="4" name="ocean:label"/>
          <p:cNvSpPr/>
          <p:nvPr/>
        </p:nvSpPr>
        <p:spPr>
          <a:xfrm>
            <a:off x="8442655" y="609600"/>
            <a:ext cx="3200400" cy="18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1000" dirty="0"/>
          </a:p>
        </p:txBody>
      </p:sp>
      <p:sp>
        <p:nvSpPr>
          <p:cNvPr id="5" name="ocean:cover"/>
          <p:cNvSpPr/>
          <p:nvPr/>
        </p:nvSpPr>
        <p:spPr>
          <a:xfrm>
            <a:off x="512064" y="1097280"/>
            <a:ext cx="7315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0"/>
              </a:lnSpc>
              <a:buNone/>
            </a:pPr>
            <a:r>
              <a:rPr lang="en-US" sz="12500" b="1" spc="-7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Agenda</a:t>
            </a:r>
            <a:endParaRPr lang="en-US" sz="12500" dirty="0"/>
          </a:p>
        </p:txBody>
      </p:sp>
      <p:sp>
        <p:nvSpPr>
          <p:cNvPr id="6" name="Shape 3"/>
          <p:cNvSpPr/>
          <p:nvPr/>
        </p:nvSpPr>
        <p:spPr>
          <a:xfrm>
            <a:off x="548640" y="2980944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7" name="ocean:metric"/>
          <p:cNvSpPr/>
          <p:nvPr/>
        </p:nvSpPr>
        <p:spPr>
          <a:xfrm>
            <a:off x="512064" y="3026664"/>
            <a:ext cx="2743200" cy="729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42"/>
              </a:lnSpc>
              <a:buNone/>
            </a:pPr>
            <a:r>
              <a:rPr lang="en-US" sz="5266" spc="-316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01</a:t>
            </a:r>
            <a:endParaRPr lang="en-US" sz="5266" dirty="0"/>
          </a:p>
        </p:txBody>
      </p:sp>
      <p:sp>
        <p:nvSpPr>
          <p:cNvPr id="8" name="ocean:label"/>
          <p:cNvSpPr/>
          <p:nvPr/>
        </p:nvSpPr>
        <p:spPr>
          <a:xfrm>
            <a:off x="4443984" y="3163824"/>
            <a:ext cx="7132320" cy="200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PLATFORM</a:t>
            </a:r>
            <a:endParaRPr lang="en-US" sz="1100" dirty="0"/>
          </a:p>
        </p:txBody>
      </p:sp>
      <p:sp>
        <p:nvSpPr>
          <p:cNvPr id="9" name="ocean:section"/>
          <p:cNvSpPr/>
          <p:nvPr/>
        </p:nvSpPr>
        <p:spPr>
          <a:xfrm>
            <a:off x="4425696" y="3364992"/>
            <a:ext cx="7223760" cy="433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800" spc="-2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One platform and its revenue logic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548640" y="3783521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1" name="ocean:metric"/>
          <p:cNvSpPr/>
          <p:nvPr/>
        </p:nvSpPr>
        <p:spPr>
          <a:xfrm>
            <a:off x="512064" y="3829241"/>
            <a:ext cx="2743200" cy="729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42"/>
              </a:lnSpc>
              <a:buNone/>
            </a:pPr>
            <a:r>
              <a:rPr lang="en-US" sz="5266" spc="-316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02</a:t>
            </a:r>
            <a:endParaRPr lang="en-US" sz="5266" dirty="0"/>
          </a:p>
        </p:txBody>
      </p:sp>
      <p:sp>
        <p:nvSpPr>
          <p:cNvPr id="12" name="ocean:label"/>
          <p:cNvSpPr/>
          <p:nvPr/>
        </p:nvSpPr>
        <p:spPr>
          <a:xfrm>
            <a:off x="4443984" y="3966401"/>
            <a:ext cx="7132320" cy="200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PIPELINE</a:t>
            </a:r>
            <a:endParaRPr lang="en-US" sz="1100" dirty="0"/>
          </a:p>
        </p:txBody>
      </p:sp>
      <p:sp>
        <p:nvSpPr>
          <p:cNvPr id="13" name="ocean:section"/>
          <p:cNvSpPr/>
          <p:nvPr/>
        </p:nvSpPr>
        <p:spPr>
          <a:xfrm>
            <a:off x="4425696" y="4167569"/>
            <a:ext cx="7223760" cy="433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800" spc="-2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Mobility hubs and capital gates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548640" y="4586097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5" name="ocean:metric"/>
          <p:cNvSpPr/>
          <p:nvPr/>
        </p:nvSpPr>
        <p:spPr>
          <a:xfrm>
            <a:off x="512064" y="4631817"/>
            <a:ext cx="2743200" cy="729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42"/>
              </a:lnSpc>
              <a:buNone/>
            </a:pPr>
            <a:r>
              <a:rPr lang="en-US" sz="5266" spc="-316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03</a:t>
            </a:r>
            <a:endParaRPr lang="en-US" sz="5266" dirty="0"/>
          </a:p>
        </p:txBody>
      </p:sp>
      <p:sp>
        <p:nvSpPr>
          <p:cNvPr id="16" name="ocean:label"/>
          <p:cNvSpPr/>
          <p:nvPr/>
        </p:nvSpPr>
        <p:spPr>
          <a:xfrm>
            <a:off x="4443984" y="4768977"/>
            <a:ext cx="7132320" cy="200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CAPITAL</a:t>
            </a:r>
            <a:endParaRPr lang="en-US" sz="1100" dirty="0"/>
          </a:p>
        </p:txBody>
      </p:sp>
      <p:sp>
        <p:nvSpPr>
          <p:cNvPr id="17" name="ocean:section"/>
          <p:cNvSpPr/>
          <p:nvPr/>
        </p:nvSpPr>
        <p:spPr>
          <a:xfrm>
            <a:off x="4425696" y="4970145"/>
            <a:ext cx="7223760" cy="433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800" spc="-2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Underwriting and monetization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548640" y="5388674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9" name="ocean:metric"/>
          <p:cNvSpPr/>
          <p:nvPr/>
        </p:nvSpPr>
        <p:spPr>
          <a:xfrm>
            <a:off x="512064" y="5434393"/>
            <a:ext cx="2743200" cy="729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42"/>
              </a:lnSpc>
              <a:buNone/>
            </a:pPr>
            <a:r>
              <a:rPr lang="en-US" sz="5266" spc="-316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04</a:t>
            </a:r>
            <a:endParaRPr lang="en-US" sz="5266" dirty="0"/>
          </a:p>
        </p:txBody>
      </p:sp>
      <p:sp>
        <p:nvSpPr>
          <p:cNvPr id="20" name="ocean:label"/>
          <p:cNvSpPr/>
          <p:nvPr/>
        </p:nvSpPr>
        <p:spPr>
          <a:xfrm>
            <a:off x="4443984" y="5571554"/>
            <a:ext cx="7132320" cy="200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1100" dirty="0"/>
          </a:p>
        </p:txBody>
      </p:sp>
      <p:sp>
        <p:nvSpPr>
          <p:cNvPr id="21" name="ocean:section"/>
          <p:cNvSpPr/>
          <p:nvPr/>
        </p:nvSpPr>
        <p:spPr>
          <a:xfrm>
            <a:off x="4425696" y="5772721"/>
            <a:ext cx="7223760" cy="433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800" spc="-2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Milestone-based capital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548640" y="6191250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48640" y="6242050"/>
            <a:ext cx="11094415" cy="38100"/>
          </a:xfrm>
          <a:prstGeom prst="rect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24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FOR DISCUSSION ONLY · DRAFT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2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environment" descr="/home/runner/work/ocean-brand-system/ocean-brand-system/assets/environments/env_peacock_map_l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cean:logo-graphic" descr="/home/runner/work/ocean-brand-system/ocean-brand-system/assets/logos/png/logo_graphic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87455" y="406400"/>
            <a:ext cx="355600" cy="355600"/>
          </a:xfrm>
          <a:prstGeom prst="rect">
            <a:avLst/>
          </a:prstGeom>
        </p:spPr>
      </p:pic>
      <p:sp>
        <p:nvSpPr>
          <p:cNvPr id="4" name="ocean:metric"/>
          <p:cNvSpPr/>
          <p:nvPr/>
        </p:nvSpPr>
        <p:spPr>
          <a:xfrm>
            <a:off x="512064" y="1737360"/>
            <a:ext cx="3657600" cy="152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0"/>
              </a:lnSpc>
              <a:buNone/>
            </a:pPr>
            <a:r>
              <a:rPr lang="en-US" sz="12000" spc="-48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01</a:t>
            </a:r>
            <a:endParaRPr lang="en-US" sz="12000" dirty="0"/>
          </a:p>
        </p:txBody>
      </p:sp>
      <p:sp>
        <p:nvSpPr>
          <p:cNvPr id="5" name="ocean:headline"/>
          <p:cNvSpPr/>
          <p:nvPr/>
        </p:nvSpPr>
        <p:spPr>
          <a:xfrm>
            <a:off x="548640" y="35661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400" spc="-88" kern="0" dirty="0">
                <a:solidFill>
                  <a:srgbClr val="F3FBF8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Connected infrastructure,</a:t>
            </a:r>
            <a:endParaRPr lang="en-US" sz="4400" dirty="0"/>
          </a:p>
          <a:p>
            <a:pPr algn="l" indent="0" marL="0">
              <a:lnSpc>
                <a:spcPts val="4800"/>
              </a:lnSpc>
              <a:buNone/>
            </a:pPr>
            <a:r>
              <a:rPr lang="en-US" sz="4400" spc="-88" kern="0" dirty="0">
                <a:solidFill>
                  <a:srgbClr val="F3FBF8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disciplined capital</a:t>
            </a:r>
            <a:endParaRPr lang="en-US" sz="4400" dirty="0"/>
          </a:p>
        </p:txBody>
      </p:sp>
      <p:sp>
        <p:nvSpPr>
          <p:cNvPr id="6" name="ocean:subhead"/>
          <p:cNvSpPr/>
          <p:nvPr/>
        </p:nvSpPr>
        <p:spPr>
          <a:xfrm>
            <a:off x="548640" y="5074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00" b="1" spc="275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ENERGY, MOBILITY, STORAGE, SMART SITES AND QUALIFIED COMPUTE SHARE ONE INTEGRATION PLATFORM.</a:t>
            </a:r>
            <a:endParaRPr lang="en-US" sz="1100" dirty="0"/>
          </a:p>
        </p:txBody>
      </p:sp>
      <p:sp>
        <p:nvSpPr>
          <p:cNvPr id="7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FOR DISCUSSION ONLY · DRAFT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02426"/>
            </a:solidFill>
            <a:prstDash val="solid"/>
          </a:ln>
        </p:spPr>
      </p:sp>
      <p:pic>
        <p:nvPicPr>
          <p:cNvPr id="4" name="ocean:logo-horizontal" descr="/home/runner/work/ocean-brand-system/ocean-brand-system/assets/logos/png/logo_horizontal_peac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6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7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900" dirty="0"/>
          </a:p>
        </p:txBody>
      </p:sp>
      <p:sp>
        <p:nvSpPr>
          <p:cNvPr id="8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3687064" y="515112"/>
            <a:ext cx="807758" cy="237744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10" name="ocean:header"/>
          <p:cNvSpPr/>
          <p:nvPr/>
        </p:nvSpPr>
        <p:spPr>
          <a:xfrm>
            <a:off x="3751072" y="551688"/>
            <a:ext cx="8077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PLATFORM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4705134" y="551688"/>
            <a:ext cx="6924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PIPELINE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5543868" y="551688"/>
            <a:ext cx="66088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CAPITAL</a:t>
            </a:r>
            <a:endParaRPr lang="en-US" sz="900" dirty="0"/>
          </a:p>
        </p:txBody>
      </p:sp>
      <p:sp>
        <p:nvSpPr>
          <p:cNvPr id="13" name="ocean:header"/>
          <p:cNvSpPr/>
          <p:nvPr/>
        </p:nvSpPr>
        <p:spPr>
          <a:xfrm>
            <a:off x="6351054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5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INVESTOR DECK</a:t>
            </a:r>
            <a:endParaRPr lang="en-US" sz="900" dirty="0"/>
          </a:p>
        </p:txBody>
      </p:sp>
      <p:sp>
        <p:nvSpPr>
          <p:cNvPr id="16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9407855" y="329184"/>
            <a:ext cx="558800" cy="609600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19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1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3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5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 PLATFORM</a:t>
            </a:r>
            <a:endParaRPr lang="en-US" sz="1100" dirty="0"/>
          </a:p>
        </p:txBody>
      </p:sp>
      <p:sp>
        <p:nvSpPr>
          <p:cNvPr id="27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Three systems,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one platform</a:t>
            </a:r>
            <a:endParaRPr lang="en-US" sz="3500" dirty="0"/>
          </a:p>
        </p:txBody>
      </p:sp>
      <p:sp>
        <p:nvSpPr>
          <p:cNvPr id="28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 DEVELOPS INFRASTRUCTURE FOR</a:t>
            </a:r>
            <a:endParaRPr lang="en-US" sz="10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ELECTRIFIED MOBILITY, DISTRIBUTED ENERGY</a:t>
            </a:r>
            <a:endParaRPr lang="en-US" sz="10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AND SELECTIVE MODULAR COMPUTE.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pic>
        <p:nvPicPr>
          <p:cNvPr id="30" name="ocean:photo" descr="/home/runner/work/ocean-brand-system/ocean-brand-system/output/.cache/fit/solar-carport-campus-643b6b4ed5e83ee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044952"/>
            <a:ext cx="6446520" cy="2834640"/>
          </a:xfrm>
          <a:prstGeom prst="rect">
            <a:avLst/>
          </a:prstGeom>
        </p:spPr>
      </p:pic>
      <p:sp>
        <p:nvSpPr>
          <p:cNvPr id="31" name="Shape 26"/>
          <p:cNvSpPr/>
          <p:nvPr/>
        </p:nvSpPr>
        <p:spPr>
          <a:xfrm flipV="1">
            <a:off x="544068" y="3040380"/>
            <a:ext cx="279400" cy="279400"/>
          </a:xfrm>
          <a:prstGeom prst="rtTriangle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32" name="ocean:frame"/>
          <p:cNvSpPr/>
          <p:nvPr/>
        </p:nvSpPr>
        <p:spPr>
          <a:xfrm>
            <a:off x="7223760" y="304495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11387023" y="317296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4" name="ocean:label"/>
          <p:cNvSpPr/>
          <p:nvPr/>
        </p:nvSpPr>
        <p:spPr>
          <a:xfrm>
            <a:off x="7406640" y="313639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RENEWABLE ENERGY</a:t>
            </a:r>
            <a:endParaRPr lang="en-US" sz="950" dirty="0"/>
          </a:p>
        </p:txBody>
      </p:sp>
      <p:sp>
        <p:nvSpPr>
          <p:cNvPr id="35" name="ocean:body"/>
          <p:cNvSpPr/>
          <p:nvPr/>
        </p:nvSpPr>
        <p:spPr>
          <a:xfrm>
            <a:off x="7406640" y="335584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Solar, storage, electrical, controls</a:t>
            </a:r>
            <a:endParaRPr lang="en-US" sz="1400" dirty="0"/>
          </a:p>
        </p:txBody>
      </p:sp>
      <p:sp>
        <p:nvSpPr>
          <p:cNvPr id="36" name="ocean:frame"/>
          <p:cNvSpPr/>
          <p:nvPr/>
        </p:nvSpPr>
        <p:spPr>
          <a:xfrm>
            <a:off x="7223760" y="377647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11387023" y="390448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11247323" y="390448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9" name="ocean:label"/>
          <p:cNvSpPr/>
          <p:nvPr/>
        </p:nvSpPr>
        <p:spPr>
          <a:xfrm>
            <a:off x="7406640" y="386791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CONNECTED MOBILITY</a:t>
            </a:r>
            <a:endParaRPr lang="en-US" sz="950" dirty="0"/>
          </a:p>
        </p:txBody>
      </p:sp>
      <p:sp>
        <p:nvSpPr>
          <p:cNvPr id="40" name="ocean:body"/>
          <p:cNvSpPr/>
          <p:nvPr/>
        </p:nvSpPr>
        <p:spPr>
          <a:xfrm>
            <a:off x="7406640" y="408736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Charging, fleet energy, site operations</a:t>
            </a:r>
            <a:endParaRPr lang="en-US" sz="1400" dirty="0"/>
          </a:p>
        </p:txBody>
      </p:sp>
      <p:sp>
        <p:nvSpPr>
          <p:cNvPr id="41" name="ocean:frame"/>
          <p:cNvSpPr/>
          <p:nvPr/>
        </p:nvSpPr>
        <p:spPr>
          <a:xfrm>
            <a:off x="7223760" y="450799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11387023" y="463600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11247323" y="463600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11107623" y="463600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5" name="ocean:label"/>
          <p:cNvSpPr/>
          <p:nvPr/>
        </p:nvSpPr>
        <p:spPr>
          <a:xfrm>
            <a:off x="7406640" y="459943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QUALIFIED COMPUTE</a:t>
            </a:r>
            <a:endParaRPr lang="en-US" sz="950" dirty="0"/>
          </a:p>
        </p:txBody>
      </p:sp>
      <p:sp>
        <p:nvSpPr>
          <p:cNvPr id="46" name="ocean:body"/>
          <p:cNvSpPr/>
          <p:nvPr/>
        </p:nvSpPr>
        <p:spPr>
          <a:xfrm>
            <a:off x="7406640" y="481888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Power, fiber, liquid cooling, partners</a:t>
            </a:r>
            <a:endParaRPr lang="en-US" sz="1400" dirty="0"/>
          </a:p>
        </p:txBody>
      </p:sp>
      <p:sp>
        <p:nvSpPr>
          <p:cNvPr id="47" name="ocean:body"/>
          <p:cNvSpPr/>
          <p:nvPr/>
        </p:nvSpPr>
        <p:spPr>
          <a:xfrm>
            <a:off x="548640" y="5971032"/>
            <a:ext cx="6446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8"/>
              </a:lnSpc>
              <a:buNone/>
            </a:pPr>
            <a:r>
              <a:rPr lang="en-US" sz="12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project photo: solar parking structures, DJI_0482</a:t>
            </a:r>
            <a:endParaRPr lang="en-US" sz="1200" dirty="0"/>
          </a:p>
        </p:txBody>
      </p:sp>
      <p:sp>
        <p:nvSpPr>
          <p:cNvPr id="48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FOR DISCUSSION ONLY · DRAFT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02426"/>
            </a:solidFill>
            <a:prstDash val="solid"/>
          </a:ln>
        </p:spPr>
      </p:sp>
      <p:pic>
        <p:nvPicPr>
          <p:cNvPr id="3" name="ocean:logo-horizontal" descr="/home/runner/work/ocean-brand-system/ocean-brand-system/assets/logos/png/logo_horizontal_peac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05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87064" y="515112"/>
            <a:ext cx="807758" cy="237744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9" name="ocean:header"/>
          <p:cNvSpPr/>
          <p:nvPr/>
        </p:nvSpPr>
        <p:spPr>
          <a:xfrm>
            <a:off x="3751072" y="551688"/>
            <a:ext cx="8077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PLATFORM</a:t>
            </a:r>
            <a:endParaRPr lang="en-US" sz="900" dirty="0"/>
          </a:p>
        </p:txBody>
      </p:sp>
      <p:sp>
        <p:nvSpPr>
          <p:cNvPr id="10" name="ocean:header"/>
          <p:cNvSpPr/>
          <p:nvPr/>
        </p:nvSpPr>
        <p:spPr>
          <a:xfrm>
            <a:off x="4705134" y="551688"/>
            <a:ext cx="6924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PIPELINE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543868" y="551688"/>
            <a:ext cx="66088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CAPITAL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351054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INVESTOR DECK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407855" y="329184"/>
            <a:ext cx="558800" cy="609600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18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 PLATFORM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Develop, build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and operate</a:t>
            </a:r>
            <a:endParaRPr lang="en-US" sz="3500" dirty="0"/>
          </a:p>
        </p:txBody>
      </p:sp>
      <p:sp>
        <p:nvSpPr>
          <p:cNvPr id="27" name="Shape 24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8" name="ocean:frame"/>
          <p:cNvSpPr/>
          <p:nvPr/>
        </p:nvSpPr>
        <p:spPr>
          <a:xfrm>
            <a:off x="548640" y="3044952"/>
            <a:ext cx="3515258" cy="3127248"/>
          </a:xfrm>
          <a:custGeom>
            <a:avLst/>
            <a:gdLst/>
            <a:ahLst/>
            <a:cxnLst/>
            <a:rect l="l" t="t" r="r" b="b"/>
            <a:pathLst>
              <a:path w="3515258" h="3127248">
                <a:moveTo>
                  <a:pt x="114300" y="0"/>
                </a:moveTo>
                <a:lnTo>
                  <a:pt x="3400958" y="0"/>
                </a:lnTo>
                <a:quadBezTo>
                  <a:pt x="3515258" y="0"/>
                  <a:pt x="3515258" y="114300"/>
                </a:quadBezTo>
                <a:lnTo>
                  <a:pt x="3515258" y="2898648"/>
                </a:lnTo>
                <a:lnTo>
                  <a:pt x="3286658" y="3127248"/>
                </a:lnTo>
                <a:lnTo>
                  <a:pt x="114300" y="3127248"/>
                </a:lnTo>
                <a:quadBezTo>
                  <a:pt x="0" y="3127248"/>
                  <a:pt x="0" y="3012948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743858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0" name="ocean:label"/>
          <p:cNvSpPr/>
          <p:nvPr/>
        </p:nvSpPr>
        <p:spPr>
          <a:xfrm>
            <a:off x="777240" y="32461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2"/>
              </a:lnSpc>
              <a:buNone/>
            </a:pPr>
            <a:r>
              <a:rPr lang="en-US" sz="1050" spc="263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01</a:t>
            </a:r>
            <a:endParaRPr lang="en-US" sz="1050" dirty="0"/>
          </a:p>
        </p:txBody>
      </p:sp>
      <p:sp>
        <p:nvSpPr>
          <p:cNvPr id="31" name="ocean:section"/>
          <p:cNvSpPr/>
          <p:nvPr/>
        </p:nvSpPr>
        <p:spPr>
          <a:xfrm>
            <a:off x="777240" y="37033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200" spc="-22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Develop</a:t>
            </a:r>
            <a:endParaRPr lang="en-US" sz="2200" dirty="0"/>
          </a:p>
        </p:txBody>
      </p:sp>
      <p:sp>
        <p:nvSpPr>
          <p:cNvPr id="32" name="ocean:body"/>
          <p:cNvSpPr/>
          <p:nvPr/>
        </p:nvSpPr>
        <p:spPr>
          <a:xfrm>
            <a:off x="777240" y="4645152"/>
            <a:ext cx="305805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 screening, utility review and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customer strategy.</a:t>
            </a:r>
            <a:endParaRPr lang="en-US" sz="1300" dirty="0"/>
          </a:p>
        </p:txBody>
      </p:sp>
      <p:sp>
        <p:nvSpPr>
          <p:cNvPr id="33" name="ocean:frame"/>
          <p:cNvSpPr/>
          <p:nvPr/>
        </p:nvSpPr>
        <p:spPr>
          <a:xfrm>
            <a:off x="4338218" y="3044952"/>
            <a:ext cx="3515258" cy="3127248"/>
          </a:xfrm>
          <a:custGeom>
            <a:avLst/>
            <a:gdLst/>
            <a:ahLst/>
            <a:cxnLst/>
            <a:rect l="l" t="t" r="r" b="b"/>
            <a:pathLst>
              <a:path w="3515258" h="3127248">
                <a:moveTo>
                  <a:pt x="114300" y="0"/>
                </a:moveTo>
                <a:lnTo>
                  <a:pt x="3400958" y="0"/>
                </a:lnTo>
                <a:quadBezTo>
                  <a:pt x="3515258" y="0"/>
                  <a:pt x="3515258" y="114300"/>
                </a:quadBezTo>
                <a:lnTo>
                  <a:pt x="3515258" y="2898648"/>
                </a:lnTo>
                <a:lnTo>
                  <a:pt x="3286658" y="3127248"/>
                </a:lnTo>
                <a:lnTo>
                  <a:pt x="114300" y="3127248"/>
                </a:lnTo>
                <a:quadBezTo>
                  <a:pt x="0" y="3127248"/>
                  <a:pt x="0" y="3012948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533437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393737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6" name="ocean:label"/>
          <p:cNvSpPr/>
          <p:nvPr/>
        </p:nvSpPr>
        <p:spPr>
          <a:xfrm>
            <a:off x="4566818" y="32461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2"/>
              </a:lnSpc>
              <a:buNone/>
            </a:pPr>
            <a:r>
              <a:rPr lang="en-US" sz="1050" spc="263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02</a:t>
            </a:r>
            <a:endParaRPr lang="en-US" sz="1050" dirty="0"/>
          </a:p>
        </p:txBody>
      </p:sp>
      <p:sp>
        <p:nvSpPr>
          <p:cNvPr id="37" name="ocean:section"/>
          <p:cNvSpPr/>
          <p:nvPr/>
        </p:nvSpPr>
        <p:spPr>
          <a:xfrm>
            <a:off x="4566818" y="37033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200" spc="-22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Build</a:t>
            </a:r>
            <a:endParaRPr lang="en-US" sz="2200" dirty="0"/>
          </a:p>
        </p:txBody>
      </p:sp>
      <p:sp>
        <p:nvSpPr>
          <p:cNvPr id="38" name="ocean:body"/>
          <p:cNvSpPr/>
          <p:nvPr/>
        </p:nvSpPr>
        <p:spPr>
          <a:xfrm>
            <a:off x="4566818" y="4645152"/>
            <a:ext cx="305805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Solar, storage, EVSE and site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infrastructure.</a:t>
            </a:r>
            <a:endParaRPr lang="en-US" sz="1300" dirty="0"/>
          </a:p>
        </p:txBody>
      </p:sp>
      <p:sp>
        <p:nvSpPr>
          <p:cNvPr id="39" name="ocean:frame"/>
          <p:cNvSpPr/>
          <p:nvPr/>
        </p:nvSpPr>
        <p:spPr>
          <a:xfrm>
            <a:off x="8127797" y="3044952"/>
            <a:ext cx="3515258" cy="3127248"/>
          </a:xfrm>
          <a:custGeom>
            <a:avLst/>
            <a:gdLst/>
            <a:ahLst/>
            <a:cxnLst/>
            <a:rect l="l" t="t" r="r" b="b"/>
            <a:pathLst>
              <a:path w="3515258" h="3127248">
                <a:moveTo>
                  <a:pt x="114300" y="0"/>
                </a:moveTo>
                <a:lnTo>
                  <a:pt x="3400958" y="0"/>
                </a:lnTo>
                <a:quadBezTo>
                  <a:pt x="3515258" y="0"/>
                  <a:pt x="3515258" y="114300"/>
                </a:quadBezTo>
                <a:lnTo>
                  <a:pt x="3515258" y="2898648"/>
                </a:lnTo>
                <a:lnTo>
                  <a:pt x="3286658" y="3127248"/>
                </a:lnTo>
                <a:lnTo>
                  <a:pt x="114300" y="3127248"/>
                </a:lnTo>
                <a:quadBezTo>
                  <a:pt x="0" y="3127248"/>
                  <a:pt x="0" y="3012948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1323015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1183315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1043615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3" name="ocean:label"/>
          <p:cNvSpPr/>
          <p:nvPr/>
        </p:nvSpPr>
        <p:spPr>
          <a:xfrm>
            <a:off x="8356397" y="32461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2"/>
              </a:lnSpc>
              <a:buNone/>
            </a:pPr>
            <a:r>
              <a:rPr lang="en-US" sz="1050" spc="263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03</a:t>
            </a:r>
            <a:endParaRPr lang="en-US" sz="1050" dirty="0"/>
          </a:p>
        </p:txBody>
      </p:sp>
      <p:sp>
        <p:nvSpPr>
          <p:cNvPr id="44" name="ocean:section"/>
          <p:cNvSpPr/>
          <p:nvPr/>
        </p:nvSpPr>
        <p:spPr>
          <a:xfrm>
            <a:off x="8356397" y="37033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200" spc="-22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Operate</a:t>
            </a:r>
            <a:endParaRPr lang="en-US" sz="2200" dirty="0"/>
          </a:p>
        </p:txBody>
      </p:sp>
      <p:sp>
        <p:nvSpPr>
          <p:cNvPr id="45" name="ocean:body"/>
          <p:cNvSpPr/>
          <p:nvPr/>
        </p:nvSpPr>
        <p:spPr>
          <a:xfrm>
            <a:off x="8356397" y="4645152"/>
            <a:ext cx="305805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Monitoring, O&amp;M, billing and reporting.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controls the integration layer.</a:t>
            </a:r>
            <a:endParaRPr lang="en-US" sz="1300" dirty="0"/>
          </a:p>
        </p:txBody>
      </p:sp>
      <p:sp>
        <p:nvSpPr>
          <p:cNvPr id="46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FOR DISCUSSION ONLY · DRAFT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5CC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environment" descr="/home/runner/work/ocean-brand-system/ocean-brand-system/assets/environments/env_sprig_map_light_sof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cean:logo-graphic" descr="/home/runner/work/ocean-brand-system/ocean-brand-system/assets/logos/png/logo_graphic_s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87455" y="406400"/>
            <a:ext cx="355600" cy="355600"/>
          </a:xfrm>
          <a:prstGeom prst="rect">
            <a:avLst/>
          </a:prstGeom>
        </p:spPr>
      </p:pic>
      <p:sp>
        <p:nvSpPr>
          <p:cNvPr id="4" name="ocean:metric"/>
          <p:cNvSpPr/>
          <p:nvPr/>
        </p:nvSpPr>
        <p:spPr>
          <a:xfrm>
            <a:off x="512064" y="1737360"/>
            <a:ext cx="3657600" cy="152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0"/>
              </a:lnSpc>
              <a:buNone/>
            </a:pPr>
            <a:r>
              <a:rPr lang="en-US" sz="12000" spc="-480" kern="0" dirty="0">
                <a:solidFill>
                  <a:srgbClr val="618C7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02</a:t>
            </a:r>
            <a:endParaRPr lang="en-US" sz="12000" dirty="0"/>
          </a:p>
        </p:txBody>
      </p:sp>
      <p:sp>
        <p:nvSpPr>
          <p:cNvPr id="5" name="ocean:headline"/>
          <p:cNvSpPr/>
          <p:nvPr/>
        </p:nvSpPr>
        <p:spPr>
          <a:xfrm>
            <a:off x="548640" y="35661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400" spc="-88" kern="0" dirty="0">
                <a:solidFill>
                  <a:srgbClr val="618C7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Parallel lanes,</a:t>
            </a:r>
            <a:endParaRPr lang="en-US" sz="4400" dirty="0"/>
          </a:p>
          <a:p>
            <a:pPr algn="l" indent="0" marL="0">
              <a:lnSpc>
                <a:spcPts val="4800"/>
              </a:lnSpc>
              <a:buNone/>
            </a:pPr>
            <a:r>
              <a:rPr lang="en-US" sz="4400" spc="-88" kern="0" dirty="0">
                <a:solidFill>
                  <a:srgbClr val="618C7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protected stages</a:t>
            </a:r>
            <a:endParaRPr lang="en-US" sz="4400" dirty="0"/>
          </a:p>
        </p:txBody>
      </p:sp>
      <p:sp>
        <p:nvSpPr>
          <p:cNvPr id="7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FOR DISCUSSION ONLY · DRAFT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5CC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B4039"/>
            </a:solidFill>
            <a:prstDash val="solid"/>
          </a:ln>
        </p:spPr>
      </p:sp>
      <p:pic>
        <p:nvPicPr>
          <p:cNvPr id="3" name="ocean:logo-horizontal" descr="/home/runner/work/ocean-brand-system/ocean-brand-system/assets/logos/png/logo_horizontal_ce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07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8077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PLATFORM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641126" y="515112"/>
            <a:ext cx="692429" cy="237744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10" name="ocean:header"/>
          <p:cNvSpPr/>
          <p:nvPr/>
        </p:nvSpPr>
        <p:spPr>
          <a:xfrm>
            <a:off x="4705134" y="551688"/>
            <a:ext cx="6924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PIPELINE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543868" y="551688"/>
            <a:ext cx="66088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CAPITAL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351054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INVESTOR DECK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7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966655" y="329184"/>
            <a:ext cx="558800" cy="609600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 PIPELINE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A mobility hub is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more than charging</a:t>
            </a:r>
            <a:endParaRPr lang="en-US" sz="3500" dirty="0"/>
          </a:p>
        </p:txBody>
      </p:sp>
      <p:sp>
        <p:nvSpPr>
          <p:cNvPr id="27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 FORMATS CAN COMBINE ENERGY, MOBILITY,</a:t>
            </a:r>
            <a:endParaRPr lang="en-US" sz="10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RETAIL, FLEET AND SERVICE REVENUE.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pic>
        <p:nvPicPr>
          <p:cNvPr id="29" name="ocean:photo" descr="/home/runner/work/ocean-brand-system/ocean-brand-system/output/.cache/fit/mobility-hub-c51f2fa0acaa1a1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044952"/>
            <a:ext cx="6446520" cy="2834640"/>
          </a:xfrm>
          <a:prstGeom prst="rect">
            <a:avLst/>
          </a:prstGeom>
        </p:spPr>
      </p:pic>
      <p:sp>
        <p:nvSpPr>
          <p:cNvPr id="30" name="Shape 26"/>
          <p:cNvSpPr/>
          <p:nvPr/>
        </p:nvSpPr>
        <p:spPr>
          <a:xfrm flipV="1">
            <a:off x="544068" y="3040380"/>
            <a:ext cx="279400" cy="279400"/>
          </a:xfrm>
          <a:prstGeom prst="rtTriangle">
            <a:avLst/>
          </a:prstGeom>
          <a:solidFill>
            <a:srgbClr val="D5CCA0"/>
          </a:solidFill>
          <a:ln w="12700">
            <a:solidFill>
              <a:srgbClr val="D5CCA0"/>
            </a:solidFill>
            <a:prstDash val="solid"/>
          </a:ln>
        </p:spPr>
      </p:sp>
      <p:sp>
        <p:nvSpPr>
          <p:cNvPr id="31" name="ocean:frame"/>
          <p:cNvSpPr/>
          <p:nvPr/>
        </p:nvSpPr>
        <p:spPr>
          <a:xfrm>
            <a:off x="7223760" y="304495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11387023" y="3172968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3" name="ocean:label"/>
          <p:cNvSpPr/>
          <p:nvPr/>
        </p:nvSpPr>
        <p:spPr>
          <a:xfrm>
            <a:off x="7406640" y="313639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CHARGING</a:t>
            </a:r>
            <a:endParaRPr lang="en-US" sz="950" dirty="0"/>
          </a:p>
        </p:txBody>
      </p:sp>
      <p:sp>
        <p:nvSpPr>
          <p:cNvPr id="34" name="ocean:body"/>
          <p:cNvSpPr/>
          <p:nvPr/>
        </p:nvSpPr>
        <p:spPr>
          <a:xfrm>
            <a:off x="7406640" y="335584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Public DC fast charging</a:t>
            </a:r>
            <a:endParaRPr lang="en-US" sz="1400" dirty="0"/>
          </a:p>
        </p:txBody>
      </p:sp>
      <p:sp>
        <p:nvSpPr>
          <p:cNvPr id="35" name="ocean:frame"/>
          <p:cNvSpPr/>
          <p:nvPr/>
        </p:nvSpPr>
        <p:spPr>
          <a:xfrm>
            <a:off x="7223760" y="377647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11387023" y="3904488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11247323" y="3904488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8" name="ocean:label"/>
          <p:cNvSpPr/>
          <p:nvPr/>
        </p:nvSpPr>
        <p:spPr>
          <a:xfrm>
            <a:off x="7406640" y="386791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FLEET</a:t>
            </a:r>
            <a:endParaRPr lang="en-US" sz="950" dirty="0"/>
          </a:p>
        </p:txBody>
      </p:sp>
      <p:sp>
        <p:nvSpPr>
          <p:cNvPr id="39" name="ocean:body"/>
          <p:cNvSpPr/>
          <p:nvPr/>
        </p:nvSpPr>
        <p:spPr>
          <a:xfrm>
            <a:off x="7406640" y="408736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Charging and staging</a:t>
            </a:r>
            <a:endParaRPr lang="en-US" sz="1400" dirty="0"/>
          </a:p>
        </p:txBody>
      </p:sp>
      <p:sp>
        <p:nvSpPr>
          <p:cNvPr id="40" name="ocean:frame"/>
          <p:cNvSpPr/>
          <p:nvPr/>
        </p:nvSpPr>
        <p:spPr>
          <a:xfrm>
            <a:off x="7223760" y="450799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11387023" y="4636008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11247323" y="4636008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11107623" y="4636008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44" name="ocean:label"/>
          <p:cNvSpPr/>
          <p:nvPr/>
        </p:nvSpPr>
        <p:spPr>
          <a:xfrm>
            <a:off x="7406640" y="459943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ENERGY</a:t>
            </a:r>
            <a:endParaRPr lang="en-US" sz="950" dirty="0"/>
          </a:p>
        </p:txBody>
      </p:sp>
      <p:sp>
        <p:nvSpPr>
          <p:cNvPr id="45" name="ocean:body"/>
          <p:cNvSpPr/>
          <p:nvPr/>
        </p:nvSpPr>
        <p:spPr>
          <a:xfrm>
            <a:off x="7406640" y="481888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Solar canopy and BESS</a:t>
            </a:r>
            <a:endParaRPr lang="en-US" sz="1400" dirty="0"/>
          </a:p>
        </p:txBody>
      </p:sp>
      <p:sp>
        <p:nvSpPr>
          <p:cNvPr id="46" name="ocean:frame"/>
          <p:cNvSpPr/>
          <p:nvPr/>
        </p:nvSpPr>
        <p:spPr>
          <a:xfrm>
            <a:off x="7223760" y="523951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11387023" y="5367528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11247323" y="5367528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11107623" y="5367528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10967923" y="5367528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51" name="ocean:label"/>
          <p:cNvSpPr/>
          <p:nvPr/>
        </p:nvSpPr>
        <p:spPr>
          <a:xfrm>
            <a:off x="7406640" y="533095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SERVICES</a:t>
            </a:r>
            <a:endParaRPr lang="en-US" sz="950" dirty="0"/>
          </a:p>
        </p:txBody>
      </p:sp>
      <p:sp>
        <p:nvSpPr>
          <p:cNvPr id="52" name="ocean:body"/>
          <p:cNvSpPr/>
          <p:nvPr/>
        </p:nvSpPr>
        <p:spPr>
          <a:xfrm>
            <a:off x="7406640" y="555040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Retail, amenities, wash</a:t>
            </a:r>
            <a:endParaRPr lang="en-US" sz="1400" dirty="0"/>
          </a:p>
        </p:txBody>
      </p:sp>
      <p:sp>
        <p:nvSpPr>
          <p:cNvPr id="53" name="ocean:body"/>
          <p:cNvSpPr/>
          <p:nvPr/>
        </p:nvSpPr>
        <p:spPr>
          <a:xfrm>
            <a:off x="548640" y="5971032"/>
            <a:ext cx="6446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8"/>
              </a:lnSpc>
              <a:buNone/>
            </a:pPr>
            <a:r>
              <a:rPr lang="en-US" sz="12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Representative image: infrastructure concept, not an Ocean site</a:t>
            </a:r>
            <a:endParaRPr lang="en-US" sz="1200" dirty="0"/>
          </a:p>
        </p:txBody>
      </p:sp>
      <p:sp>
        <p:nvSpPr>
          <p:cNvPr id="54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FOR DISCUSSION ONLY · DRAFT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5CC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B4039"/>
            </a:solidFill>
            <a:prstDash val="solid"/>
          </a:ln>
        </p:spPr>
      </p:sp>
      <p:pic>
        <p:nvPicPr>
          <p:cNvPr id="3" name="ocean:logo-horizontal" descr="/home/runner/work/ocean-brand-system/ocean-brand-system/assets/logos/png/logo_horizontal_ce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08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8077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PLATFORM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641126" y="515112"/>
            <a:ext cx="692429" cy="237744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10" name="ocean:header"/>
          <p:cNvSpPr/>
          <p:nvPr/>
        </p:nvSpPr>
        <p:spPr>
          <a:xfrm>
            <a:off x="4705134" y="551688"/>
            <a:ext cx="6924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PIPELINE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543868" y="551688"/>
            <a:ext cx="66088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CAPITAL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351054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INVESTOR DECK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7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966655" y="329184"/>
            <a:ext cx="558800" cy="609600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 PIPELINE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Several project lanes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move at once</a:t>
            </a:r>
            <a:endParaRPr lang="en-US" sz="3500" dirty="0"/>
          </a:p>
        </p:txBody>
      </p:sp>
      <p:sp>
        <p:nvSpPr>
          <p:cNvPr id="27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DOES NOT WAIT TO COMPLETE ONE LANE</a:t>
            </a:r>
            <a:endParaRPr lang="en-US" sz="10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BEFORE ADVANCING ANOTHER.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graphicFrame>
        <p:nvGraphicFramePr>
          <p:cNvPr id="9" name="ocean: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44952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80257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225" kern="0" dirty="0">
                          <a:solidFill>
                            <a:srgbClr val="1B4039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LANE</a:t>
                      </a:r>
                      <a:endParaRPr lang="en-US" sz="9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1B403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CC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225" kern="0" dirty="0">
                          <a:solidFill>
                            <a:srgbClr val="1B4039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WHAT GOVERNS ADVANCEMENT</a:t>
                      </a:r>
                      <a:endParaRPr lang="en-US" sz="9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1B403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CCA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4039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Energy EPC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CC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4039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Screen · control · validate · fund · build · operate · monetize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CCA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4039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Third-party EVSE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CC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4039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The same evidence-based gates, applied independently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CCA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4039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Mobility hubs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CC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4039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Site readiness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CCA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4039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Fleet and car wash hubs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CC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4039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Customer demand and operating requirements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CCA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4039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Modular compute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CC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4039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Qualified power, fiber and demand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CCA0"/>
                    </a:solidFill>
                  </a:tcPr>
                </a:tc>
              </a:tr>
            </a:tbl>
          </a:graphicData>
        </a:graphic>
      </p:graphicFrame>
      <p:sp>
        <p:nvSpPr>
          <p:cNvPr id="30" name="ocean:footnote"/>
          <p:cNvSpPr/>
          <p:nvPr/>
        </p:nvSpPr>
        <p:spPr>
          <a:xfrm>
            <a:off x="548640" y="6144768"/>
            <a:ext cx="11094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EACH ASSET RECEIVES CAPITAL ONLY AFTER TECHNICAL, COMMERCIAL, UTILITY AND FINANCING GATES CLEAR.</a:t>
            </a:r>
            <a:endParaRPr lang="en-US" sz="900" dirty="0"/>
          </a:p>
        </p:txBody>
      </p:sp>
      <p:sp>
        <p:nvSpPr>
          <p:cNvPr id="31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FOR DISCUSSION ONLY · DRAFT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5CC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B4039"/>
            </a:solidFill>
            <a:prstDash val="solid"/>
          </a:ln>
        </p:spPr>
      </p:sp>
      <p:pic>
        <p:nvPicPr>
          <p:cNvPr id="4" name="ocean:logo-horizontal" descr="/home/runner/work/ocean-brand-system/ocean-brand-system/assets/logos/png/logo_horizontal_ce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6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7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09</a:t>
            </a:r>
            <a:endParaRPr lang="en-US" sz="900" dirty="0"/>
          </a:p>
        </p:txBody>
      </p:sp>
      <p:sp>
        <p:nvSpPr>
          <p:cNvPr id="8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9" name="ocean:header"/>
          <p:cNvSpPr/>
          <p:nvPr/>
        </p:nvSpPr>
        <p:spPr>
          <a:xfrm>
            <a:off x="3751072" y="551688"/>
            <a:ext cx="8077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PLATFORM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4641126" y="515112"/>
            <a:ext cx="692429" cy="237744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11" name="ocean:header"/>
          <p:cNvSpPr/>
          <p:nvPr/>
        </p:nvSpPr>
        <p:spPr>
          <a:xfrm>
            <a:off x="4705134" y="551688"/>
            <a:ext cx="6924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PIPELINE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5543868" y="551688"/>
            <a:ext cx="66088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CAPITAL</a:t>
            </a:r>
            <a:endParaRPr lang="en-US" sz="900" dirty="0"/>
          </a:p>
        </p:txBody>
      </p:sp>
      <p:sp>
        <p:nvSpPr>
          <p:cNvPr id="13" name="ocean:header"/>
          <p:cNvSpPr/>
          <p:nvPr/>
        </p:nvSpPr>
        <p:spPr>
          <a:xfrm>
            <a:off x="6351054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5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INVESTOR DECK</a:t>
            </a:r>
            <a:endParaRPr lang="en-US" sz="900" dirty="0"/>
          </a:p>
        </p:txBody>
      </p:sp>
      <p:sp>
        <p:nvSpPr>
          <p:cNvPr id="16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8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9966655" y="329184"/>
            <a:ext cx="558800" cy="609600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21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3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5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 PIPELINE</a:t>
            </a:r>
            <a:endParaRPr lang="en-US" sz="1100" dirty="0"/>
          </a:p>
        </p:txBody>
      </p:sp>
      <p:sp>
        <p:nvSpPr>
          <p:cNvPr id="27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Capital is deployed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in protected stages</a:t>
            </a:r>
            <a:endParaRPr lang="en-US" sz="3500" dirty="0"/>
          </a:p>
        </p:txBody>
      </p:sp>
      <p:sp>
        <p:nvSpPr>
          <p:cNvPr id="28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INVESTOR PROTECTIONS AND ASSET-LEVEL</a:t>
            </a:r>
            <a:endParaRPr lang="en-US" sz="10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CONTROLS ARE IN PLACE BEFORE PROJECT</a:t>
            </a:r>
            <a:endParaRPr lang="en-US" sz="10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FUNDING.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548640" y="3547872"/>
            <a:ext cx="11094415" cy="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48640" y="3490722"/>
            <a:ext cx="114300" cy="11430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2" name="ocean:label"/>
          <p:cNvSpPr/>
          <p:nvPr/>
        </p:nvSpPr>
        <p:spPr>
          <a:xfrm>
            <a:off x="548640" y="3044952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 · CONTROL</a:t>
            </a:r>
            <a:endParaRPr lang="en-US" sz="1000" dirty="0"/>
          </a:p>
        </p:txBody>
      </p:sp>
      <p:sp>
        <p:nvSpPr>
          <p:cNvPr id="33" name="ocean:section"/>
          <p:cNvSpPr/>
          <p:nvPr/>
        </p:nvSpPr>
        <p:spPr>
          <a:xfrm>
            <a:off x="548640" y="3822192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spc="-20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Site or customer</a:t>
            </a:r>
            <a:endParaRPr lang="en-US" sz="200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2000" spc="-20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control</a:t>
            </a:r>
            <a:endParaRPr lang="en-US" sz="2000" dirty="0"/>
          </a:p>
        </p:txBody>
      </p:sp>
      <p:sp>
        <p:nvSpPr>
          <p:cNvPr id="34" name="ocean:body"/>
          <p:cNvSpPr/>
          <p:nvPr/>
        </p:nvSpPr>
        <p:spPr>
          <a:xfrm>
            <a:off x="548640" y="4645152"/>
            <a:ext cx="25678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Secure the site or the customer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before spending capital.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3390824" y="3490722"/>
            <a:ext cx="114300" cy="11430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6" name="ocean:label"/>
          <p:cNvSpPr/>
          <p:nvPr/>
        </p:nvSpPr>
        <p:spPr>
          <a:xfrm>
            <a:off x="3390824" y="3044952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 · VALIDATE</a:t>
            </a:r>
            <a:endParaRPr lang="en-US" sz="1000" dirty="0"/>
          </a:p>
        </p:txBody>
      </p:sp>
      <p:sp>
        <p:nvSpPr>
          <p:cNvPr id="37" name="ocean:section"/>
          <p:cNvSpPr/>
          <p:nvPr/>
        </p:nvSpPr>
        <p:spPr>
          <a:xfrm>
            <a:off x="3390824" y="3822192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spc="-20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Utility and permits</a:t>
            </a:r>
            <a:endParaRPr lang="en-US" sz="2000" dirty="0"/>
          </a:p>
        </p:txBody>
      </p:sp>
      <p:sp>
        <p:nvSpPr>
          <p:cNvPr id="38" name="ocean:body"/>
          <p:cNvSpPr/>
          <p:nvPr/>
        </p:nvSpPr>
        <p:spPr>
          <a:xfrm>
            <a:off x="3390824" y="4645152"/>
            <a:ext cx="25678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Confirm the utility path and the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permits.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6233008" y="3490722"/>
            <a:ext cx="114300" cy="11430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40" name="ocean:label"/>
          <p:cNvSpPr/>
          <p:nvPr/>
        </p:nvSpPr>
        <p:spPr>
          <a:xfrm>
            <a:off x="6233008" y="3044952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 · APPROVE</a:t>
            </a:r>
            <a:endParaRPr lang="en-US" sz="1000" dirty="0"/>
          </a:p>
        </p:txBody>
      </p:sp>
      <p:sp>
        <p:nvSpPr>
          <p:cNvPr id="41" name="ocean:section"/>
          <p:cNvSpPr/>
          <p:nvPr/>
        </p:nvSpPr>
        <p:spPr>
          <a:xfrm>
            <a:off x="6233008" y="3822192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spc="-20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Financing and</a:t>
            </a:r>
            <a:endParaRPr lang="en-US" sz="200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2000" spc="-20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collateral</a:t>
            </a:r>
            <a:endParaRPr lang="en-US" sz="2000" dirty="0"/>
          </a:p>
        </p:txBody>
      </p:sp>
      <p:sp>
        <p:nvSpPr>
          <p:cNvPr id="42" name="ocean:body"/>
          <p:cNvSpPr/>
          <p:nvPr/>
        </p:nvSpPr>
        <p:spPr>
          <a:xfrm>
            <a:off x="6233008" y="4645152"/>
            <a:ext cx="25678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Approve financing and collateral.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9075191" y="3490722"/>
            <a:ext cx="114300" cy="11430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44" name="ocean:label"/>
          <p:cNvSpPr/>
          <p:nvPr/>
        </p:nvSpPr>
        <p:spPr>
          <a:xfrm>
            <a:off x="9075191" y="3044952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 · EXECUTE</a:t>
            </a:r>
            <a:endParaRPr lang="en-US" sz="1000" dirty="0"/>
          </a:p>
        </p:txBody>
      </p:sp>
      <p:sp>
        <p:nvSpPr>
          <p:cNvPr id="45" name="ocean:section"/>
          <p:cNvSpPr/>
          <p:nvPr/>
        </p:nvSpPr>
        <p:spPr>
          <a:xfrm>
            <a:off x="9075191" y="3822192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spc="-20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Build and operate</a:t>
            </a:r>
            <a:endParaRPr lang="en-US" sz="2000" dirty="0"/>
          </a:p>
        </p:txBody>
      </p:sp>
      <p:sp>
        <p:nvSpPr>
          <p:cNvPr id="46" name="ocean:body"/>
          <p:cNvSpPr/>
          <p:nvPr/>
        </p:nvSpPr>
        <p:spPr>
          <a:xfrm>
            <a:off x="9075191" y="4645152"/>
            <a:ext cx="25678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Build, operate and expand.</a:t>
            </a:r>
            <a:endParaRPr lang="en-US" sz="1300" dirty="0"/>
          </a:p>
        </p:txBody>
      </p:sp>
      <p:sp>
        <p:nvSpPr>
          <p:cNvPr id="47" name="ocean:footnote"/>
          <p:cNvSpPr/>
          <p:nvPr/>
        </p:nvSpPr>
        <p:spPr>
          <a:xfrm>
            <a:off x="548640" y="6144768"/>
            <a:ext cx="11094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FORWARD-LOOKING AND SUBJECT TO DILIGENCE; NOT A GUARANTEE OF RETURNS.</a:t>
            </a:r>
            <a:endParaRPr lang="en-US" sz="900" dirty="0"/>
          </a:p>
        </p:txBody>
      </p:sp>
      <p:sp>
        <p:nvSpPr>
          <p:cNvPr id="48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FOR DISCUSSION ONLY · DRAFT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6E73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environment" descr="/home/runner/work/ocean-brand-system/ocean-brand-system/assets/environments/env_olive_map_d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cean:logo-graphic" descr="/home/runner/work/ocean-brand-system/ocean-brand-system/assets/logos/png/logo_graphic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87455" y="406400"/>
            <a:ext cx="355600" cy="355600"/>
          </a:xfrm>
          <a:prstGeom prst="rect">
            <a:avLst/>
          </a:prstGeom>
        </p:spPr>
      </p:pic>
      <p:sp>
        <p:nvSpPr>
          <p:cNvPr id="4" name="ocean:metric"/>
          <p:cNvSpPr/>
          <p:nvPr/>
        </p:nvSpPr>
        <p:spPr>
          <a:xfrm>
            <a:off x="512064" y="1737360"/>
            <a:ext cx="3657600" cy="152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0"/>
              </a:lnSpc>
              <a:buNone/>
            </a:pPr>
            <a:r>
              <a:rPr lang="en-US" sz="12000" spc="-48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03</a:t>
            </a:r>
            <a:endParaRPr lang="en-US" sz="12000" dirty="0"/>
          </a:p>
        </p:txBody>
      </p:sp>
      <p:sp>
        <p:nvSpPr>
          <p:cNvPr id="5" name="ocean:headline"/>
          <p:cNvSpPr/>
          <p:nvPr/>
        </p:nvSpPr>
        <p:spPr>
          <a:xfrm>
            <a:off x="548640" y="35661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400" spc="-88" kern="0" dirty="0">
                <a:solidFill>
                  <a:srgbClr val="F3FBF8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Contracted revenue first,</a:t>
            </a:r>
            <a:endParaRPr lang="en-US" sz="4400" dirty="0"/>
          </a:p>
          <a:p>
            <a:pPr algn="l" indent="0" marL="0">
              <a:lnSpc>
                <a:spcPts val="4800"/>
              </a:lnSpc>
              <a:buNone/>
            </a:pPr>
            <a:r>
              <a:rPr lang="en-US" sz="4400" spc="-88" kern="0" dirty="0">
                <a:solidFill>
                  <a:srgbClr val="F3FBF8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optionality second</a:t>
            </a:r>
            <a:endParaRPr lang="en-US" sz="4400" dirty="0"/>
          </a:p>
        </p:txBody>
      </p:sp>
      <p:sp>
        <p:nvSpPr>
          <p:cNvPr id="6" name="ocean:subhead"/>
          <p:cNvSpPr/>
          <p:nvPr/>
        </p:nvSpPr>
        <p:spPr>
          <a:xfrm>
            <a:off x="548640" y="5074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00" b="1" spc="275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BASE-CASE UNDERWRITING DEPENDS ON CUSTOMER CONTRACTS, SITE-SPECIFIC MODELS AND CONFIRMED</a:t>
            </a:r>
            <a:endParaRPr lang="en-US" sz="11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100" b="1" spc="275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ECONOMICS.</a:t>
            </a:r>
            <a:endParaRPr lang="en-US" sz="1100" dirty="0"/>
          </a:p>
        </p:txBody>
      </p:sp>
      <p:sp>
        <p:nvSpPr>
          <p:cNvPr id="7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FOR DISCUSSION ONLY · DRAFT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6E734C"/>
            </a:solidFill>
            <a:prstDash val="solid"/>
          </a:ln>
        </p:spPr>
      </p:sp>
      <p:pic>
        <p:nvPicPr>
          <p:cNvPr id="3" name="ocean:logo-horizontal" descr="/home/runner/work/ocean-brand-system/ocean-brand-system/assets/logos/png/logo_horizontal_ol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8077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PLATFORM</a:t>
            </a:r>
            <a:endParaRPr lang="en-US" sz="900" dirty="0"/>
          </a:p>
        </p:txBody>
      </p:sp>
      <p:sp>
        <p:nvSpPr>
          <p:cNvPr id="9" name="ocean:header"/>
          <p:cNvSpPr/>
          <p:nvPr/>
        </p:nvSpPr>
        <p:spPr>
          <a:xfrm>
            <a:off x="4705134" y="551688"/>
            <a:ext cx="6924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PIPELINE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479860" y="515112"/>
            <a:ext cx="660883" cy="237744"/>
          </a:xfrm>
          <a:prstGeom prst="rect">
            <a:avLst/>
          </a:pr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11" name="ocean:header"/>
          <p:cNvSpPr/>
          <p:nvPr/>
        </p:nvSpPr>
        <p:spPr>
          <a:xfrm>
            <a:off x="5543868" y="551688"/>
            <a:ext cx="66088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CAPITAL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351054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INVESTOR DECK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17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19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525455" y="329184"/>
            <a:ext cx="558800" cy="609600"/>
          </a:xfrm>
          <a:prstGeom prst="rect">
            <a:avLst/>
          </a:pr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 CAPITAL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Revenue begins with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contracted work</a:t>
            </a:r>
            <a:endParaRPr lang="en-US" sz="3500" dirty="0"/>
          </a:p>
        </p:txBody>
      </p:sp>
      <p:sp>
        <p:nvSpPr>
          <p:cNvPr id="27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FORWARD-LOOKING AND SUBJECT TO DILIGENCE;</a:t>
            </a:r>
            <a:endParaRPr lang="en-US" sz="10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NOT A GUARANTEE OF RETURNS.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29" name="ocean:frame"/>
          <p:cNvSpPr/>
          <p:nvPr/>
        </p:nvSpPr>
        <p:spPr>
          <a:xfrm>
            <a:off x="548640" y="3044952"/>
            <a:ext cx="3515258" cy="3127248"/>
          </a:xfrm>
          <a:custGeom>
            <a:avLst/>
            <a:gdLst/>
            <a:ahLst/>
            <a:cxnLst/>
            <a:rect l="l" t="t" r="r" b="b"/>
            <a:pathLst>
              <a:path w="3515258" h="3127248">
                <a:moveTo>
                  <a:pt x="114300" y="0"/>
                </a:moveTo>
                <a:lnTo>
                  <a:pt x="3400958" y="0"/>
                </a:lnTo>
                <a:quadBezTo>
                  <a:pt x="3515258" y="0"/>
                  <a:pt x="3515258" y="114300"/>
                </a:quadBezTo>
                <a:lnTo>
                  <a:pt x="3515258" y="2898648"/>
                </a:lnTo>
                <a:lnTo>
                  <a:pt x="3286658" y="3127248"/>
                </a:lnTo>
                <a:lnTo>
                  <a:pt x="114300" y="3127248"/>
                </a:lnTo>
                <a:quadBezTo>
                  <a:pt x="0" y="3127248"/>
                  <a:pt x="0" y="3012948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6E734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743858" y="3282696"/>
            <a:ext cx="82550" cy="82550"/>
          </a:xfrm>
          <a:prstGeom prst="diamond">
            <a:avLst/>
          </a:pr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31" name="ocean:label"/>
          <p:cNvSpPr/>
          <p:nvPr/>
        </p:nvSpPr>
        <p:spPr>
          <a:xfrm>
            <a:off x="777240" y="32461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2"/>
              </a:lnSpc>
              <a:buNone/>
            </a:pPr>
            <a:r>
              <a:rPr lang="en-US" sz="1050" spc="263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01</a:t>
            </a:r>
            <a:endParaRPr lang="en-US" sz="1050" dirty="0"/>
          </a:p>
        </p:txBody>
      </p:sp>
      <p:sp>
        <p:nvSpPr>
          <p:cNvPr id="32" name="ocean:section"/>
          <p:cNvSpPr/>
          <p:nvPr/>
        </p:nvSpPr>
        <p:spPr>
          <a:xfrm>
            <a:off x="777240" y="37033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200" spc="-22" kern="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Base revenue</a:t>
            </a:r>
            <a:endParaRPr lang="en-US" sz="2200" dirty="0"/>
          </a:p>
        </p:txBody>
      </p:sp>
      <p:sp>
        <p:nvSpPr>
          <p:cNvPr id="33" name="ocean:body"/>
          <p:cNvSpPr/>
          <p:nvPr/>
        </p:nvSpPr>
        <p:spPr>
          <a:xfrm>
            <a:off x="777240" y="4645152"/>
            <a:ext cx="305805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EPC margin, O&amp;M, monitoring, solar and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BESS value.</a:t>
            </a:r>
            <a:endParaRPr lang="en-US" sz="1300" dirty="0"/>
          </a:p>
        </p:txBody>
      </p:sp>
      <p:sp>
        <p:nvSpPr>
          <p:cNvPr id="34" name="ocean:frame"/>
          <p:cNvSpPr/>
          <p:nvPr/>
        </p:nvSpPr>
        <p:spPr>
          <a:xfrm>
            <a:off x="4338218" y="3044952"/>
            <a:ext cx="3515258" cy="3127248"/>
          </a:xfrm>
          <a:custGeom>
            <a:avLst/>
            <a:gdLst/>
            <a:ahLst/>
            <a:cxnLst/>
            <a:rect l="l" t="t" r="r" b="b"/>
            <a:pathLst>
              <a:path w="3515258" h="3127248">
                <a:moveTo>
                  <a:pt x="114300" y="0"/>
                </a:moveTo>
                <a:lnTo>
                  <a:pt x="3400958" y="0"/>
                </a:lnTo>
                <a:quadBezTo>
                  <a:pt x="3515258" y="0"/>
                  <a:pt x="3515258" y="114300"/>
                </a:quadBezTo>
                <a:lnTo>
                  <a:pt x="3515258" y="2898648"/>
                </a:lnTo>
                <a:lnTo>
                  <a:pt x="3286658" y="3127248"/>
                </a:lnTo>
                <a:lnTo>
                  <a:pt x="114300" y="3127248"/>
                </a:lnTo>
                <a:quadBezTo>
                  <a:pt x="0" y="3127248"/>
                  <a:pt x="0" y="3012948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6E734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533437" y="3282696"/>
            <a:ext cx="82550" cy="82550"/>
          </a:xfrm>
          <a:prstGeom prst="diamond">
            <a:avLst/>
          </a:pr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393737" y="3282696"/>
            <a:ext cx="82550" cy="82550"/>
          </a:xfrm>
          <a:prstGeom prst="diamond">
            <a:avLst/>
          </a:pr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37" name="ocean:label"/>
          <p:cNvSpPr/>
          <p:nvPr/>
        </p:nvSpPr>
        <p:spPr>
          <a:xfrm>
            <a:off x="4566818" y="32461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2"/>
              </a:lnSpc>
              <a:buNone/>
            </a:pPr>
            <a:r>
              <a:rPr lang="en-US" sz="1050" spc="263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02</a:t>
            </a:r>
            <a:endParaRPr lang="en-US" sz="1050" dirty="0"/>
          </a:p>
        </p:txBody>
      </p:sp>
      <p:sp>
        <p:nvSpPr>
          <p:cNvPr id="38" name="ocean:section"/>
          <p:cNvSpPr/>
          <p:nvPr/>
        </p:nvSpPr>
        <p:spPr>
          <a:xfrm>
            <a:off x="4566818" y="37033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200" spc="-22" kern="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Contracted expansion</a:t>
            </a:r>
            <a:endParaRPr lang="en-US" sz="2200" dirty="0"/>
          </a:p>
        </p:txBody>
      </p:sp>
      <p:sp>
        <p:nvSpPr>
          <p:cNvPr id="39" name="ocean:body"/>
          <p:cNvSpPr/>
          <p:nvPr/>
        </p:nvSpPr>
        <p:spPr>
          <a:xfrm>
            <a:off x="4566818" y="4645152"/>
            <a:ext cx="305805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Fleet charging, site services and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memberships.</a:t>
            </a:r>
            <a:endParaRPr lang="en-US" sz="1300" dirty="0"/>
          </a:p>
        </p:txBody>
      </p:sp>
      <p:sp>
        <p:nvSpPr>
          <p:cNvPr id="40" name="ocean:frame"/>
          <p:cNvSpPr/>
          <p:nvPr/>
        </p:nvSpPr>
        <p:spPr>
          <a:xfrm>
            <a:off x="8127797" y="3044952"/>
            <a:ext cx="3515258" cy="3127248"/>
          </a:xfrm>
          <a:custGeom>
            <a:avLst/>
            <a:gdLst/>
            <a:ahLst/>
            <a:cxnLst/>
            <a:rect l="l" t="t" r="r" b="b"/>
            <a:pathLst>
              <a:path w="3515258" h="3127248">
                <a:moveTo>
                  <a:pt x="114300" y="0"/>
                </a:moveTo>
                <a:lnTo>
                  <a:pt x="3400958" y="0"/>
                </a:lnTo>
                <a:quadBezTo>
                  <a:pt x="3515258" y="0"/>
                  <a:pt x="3515258" y="114300"/>
                </a:quadBezTo>
                <a:lnTo>
                  <a:pt x="3515258" y="2898648"/>
                </a:lnTo>
                <a:lnTo>
                  <a:pt x="3286658" y="3127248"/>
                </a:lnTo>
                <a:lnTo>
                  <a:pt x="114300" y="3127248"/>
                </a:lnTo>
                <a:quadBezTo>
                  <a:pt x="0" y="3127248"/>
                  <a:pt x="0" y="3012948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6E734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1323015" y="3282696"/>
            <a:ext cx="82550" cy="82550"/>
          </a:xfrm>
          <a:prstGeom prst="diamond">
            <a:avLst/>
          </a:pr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1183315" y="3282696"/>
            <a:ext cx="82550" cy="82550"/>
          </a:xfrm>
          <a:prstGeom prst="diamond">
            <a:avLst/>
          </a:pr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11043615" y="3282696"/>
            <a:ext cx="82550" cy="82550"/>
          </a:xfrm>
          <a:prstGeom prst="diamond">
            <a:avLst/>
          </a:pr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44" name="ocean:label"/>
          <p:cNvSpPr/>
          <p:nvPr/>
        </p:nvSpPr>
        <p:spPr>
          <a:xfrm>
            <a:off x="8356397" y="32461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2"/>
              </a:lnSpc>
              <a:buNone/>
            </a:pPr>
            <a:r>
              <a:rPr lang="en-US" sz="1050" spc="263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03</a:t>
            </a:r>
            <a:endParaRPr lang="en-US" sz="1050" dirty="0"/>
          </a:p>
        </p:txBody>
      </p:sp>
      <p:sp>
        <p:nvSpPr>
          <p:cNvPr id="45" name="ocean:section"/>
          <p:cNvSpPr/>
          <p:nvPr/>
        </p:nvSpPr>
        <p:spPr>
          <a:xfrm>
            <a:off x="8356397" y="37033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200" spc="-22" kern="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Optionality</a:t>
            </a:r>
            <a:endParaRPr lang="en-US" sz="2200" dirty="0"/>
          </a:p>
        </p:txBody>
      </p:sp>
      <p:sp>
        <p:nvSpPr>
          <p:cNvPr id="46" name="ocean:body"/>
          <p:cNvSpPr/>
          <p:nvPr/>
        </p:nvSpPr>
        <p:spPr>
          <a:xfrm>
            <a:off x="8356397" y="4645152"/>
            <a:ext cx="305805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Advertising, compute and future fleet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services.</a:t>
            </a:r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 </a:t>
            </a:r>
            <a:pPr algn="l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Excluded from the base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case.</a:t>
            </a:r>
            <a:endParaRPr lang="en-US" sz="1300" dirty="0"/>
          </a:p>
        </p:txBody>
      </p:sp>
      <p:sp>
        <p:nvSpPr>
          <p:cNvPr id="47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FOR DISCUSSION ONLY · DRAFT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6E734C"/>
            </a:solidFill>
            <a:prstDash val="solid"/>
          </a:ln>
        </p:spPr>
      </p:sp>
      <p:pic>
        <p:nvPicPr>
          <p:cNvPr id="3" name="ocean:logo-horizontal" descr="/home/runner/work/ocean-brand-system/ocean-brand-system/assets/logos/png/logo_horizontal_ol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8077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PLATFORM</a:t>
            </a:r>
            <a:endParaRPr lang="en-US" sz="900" dirty="0"/>
          </a:p>
        </p:txBody>
      </p:sp>
      <p:sp>
        <p:nvSpPr>
          <p:cNvPr id="9" name="ocean:header"/>
          <p:cNvSpPr/>
          <p:nvPr/>
        </p:nvSpPr>
        <p:spPr>
          <a:xfrm>
            <a:off x="4705134" y="551688"/>
            <a:ext cx="6924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PIPELINE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479860" y="515112"/>
            <a:ext cx="660883" cy="237744"/>
          </a:xfrm>
          <a:prstGeom prst="rect">
            <a:avLst/>
          </a:pr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11" name="ocean:header"/>
          <p:cNvSpPr/>
          <p:nvPr/>
        </p:nvSpPr>
        <p:spPr>
          <a:xfrm>
            <a:off x="5543868" y="551688"/>
            <a:ext cx="66088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CAPITAL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351054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INVESTOR DECK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17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19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525455" y="329184"/>
            <a:ext cx="558800" cy="609600"/>
          </a:xfrm>
          <a:prstGeom prst="rect">
            <a:avLst/>
          </a:pr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 CAPITAL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Qualified sites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require evidence</a:t>
            </a:r>
            <a:endParaRPr lang="en-US" sz="3500" dirty="0"/>
          </a:p>
        </p:txBody>
      </p:sp>
      <p:sp>
        <p:nvSpPr>
          <p:cNvPr id="27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PHYSICAL, UTILITY, COMMERCIAL AND OPERATING</a:t>
            </a:r>
            <a:endParaRPr lang="en-US" sz="10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CONDITIONS MUST SUPPORT DEPLOYMENT.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graphicFrame>
        <p:nvGraphicFramePr>
          <p:cNvPr id="13" name="ocean: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44952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80257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225" kern="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TEST</a:t>
                      </a:r>
                      <a:endParaRPr lang="en-US" sz="9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6E73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225" kern="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EVIDENCE REQUIRED</a:t>
                      </a:r>
                      <a:endParaRPr lang="en-US" sz="9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6E73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Physical site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Access, parking, setbacks and a safe service area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Power and utility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Load, interconnection and the utility path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Commercial demand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Charging, fleet, tenant or compute use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Construction scope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Civil, electrical and site-cost clarity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Operating model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O&amp;M, billing, access and support plan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</a:tbl>
          </a:graphicData>
        </a:graphic>
      </p:graphicFrame>
      <p:sp>
        <p:nvSpPr>
          <p:cNvPr id="30" name="ocean:footnote"/>
          <p:cNvSpPr/>
          <p:nvPr/>
        </p:nvSpPr>
        <p:spPr>
          <a:xfrm>
            <a:off x="548640" y="6144768"/>
            <a:ext cx="11094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FORWARD-LOOKING AND SUBJECT TO DILIGENCE; NOT A GUARANTEE OF RETURNS.</a:t>
            </a:r>
            <a:endParaRPr lang="en-US" sz="900" dirty="0"/>
          </a:p>
        </p:txBody>
      </p:sp>
      <p:sp>
        <p:nvSpPr>
          <p:cNvPr id="31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FOR DISCUSSION ONLY · DRAFT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texture" descr="/home/runner/work/ocean-brand-system/ocean-brand-system/assets/textures/tex_deck_blackm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cean:logo-graphic" descr="/home/runner/work/ocean-brand-system/ocean-brand-system/assets/logos/png/logo_graphic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87455" y="406400"/>
            <a:ext cx="355600" cy="355600"/>
          </a:xfrm>
          <a:prstGeom prst="rect">
            <a:avLst/>
          </a:prstGeom>
        </p:spPr>
      </p:pic>
      <p:sp>
        <p:nvSpPr>
          <p:cNvPr id="5" name="ocean:label"/>
          <p:cNvSpPr/>
          <p:nvPr/>
        </p:nvSpPr>
        <p:spPr>
          <a:xfrm>
            <a:off x="548640" y="34015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CAPITAL</a:t>
            </a:r>
            <a:endParaRPr lang="en-US" sz="1100" dirty="0"/>
          </a:p>
        </p:txBody>
      </p:sp>
      <p:sp>
        <p:nvSpPr>
          <p:cNvPr id="6" name="ocean:metric"/>
          <p:cNvSpPr/>
          <p:nvPr/>
        </p:nvSpPr>
        <p:spPr>
          <a:xfrm>
            <a:off x="512064" y="3639312"/>
            <a:ext cx="4754880" cy="2122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0"/>
              </a:lnSpc>
              <a:buNone/>
            </a:pPr>
            <a:r>
              <a:rPr lang="en-US" sz="16500" spc="-660" kern="0" dirty="0">
                <a:solidFill>
                  <a:srgbClr val="EB381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8</a:t>
            </a:r>
            <a:endParaRPr lang="en-US" sz="16500" dirty="0"/>
          </a:p>
        </p:txBody>
      </p:sp>
      <p:sp>
        <p:nvSpPr>
          <p:cNvPr id="7" name="ocean:statement"/>
          <p:cNvSpPr/>
          <p:nvPr/>
        </p:nvSpPr>
        <p:spPr>
          <a:xfrm>
            <a:off x="5458968" y="3931920"/>
            <a:ext cx="62179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800" spc="-76" kern="0" dirty="0">
                <a:solidFill>
                  <a:srgbClr val="F3FBF8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stage gates from</a:t>
            </a:r>
            <a:endParaRPr lang="en-US" sz="3800" dirty="0"/>
          </a:p>
          <a:p>
            <a:pPr algn="l" indent="0" marL="0">
              <a:lnSpc>
                <a:spcPts val="4200"/>
              </a:lnSpc>
              <a:buNone/>
            </a:pPr>
            <a:r>
              <a:rPr lang="en-US" sz="3800" spc="-76" kern="0" dirty="0">
                <a:solidFill>
                  <a:srgbClr val="F3FBF8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origination to monetization</a:t>
            </a:r>
            <a:endParaRPr lang="en-US" sz="3800" dirty="0"/>
          </a:p>
        </p:txBody>
      </p:sp>
      <p:sp>
        <p:nvSpPr>
          <p:cNvPr id="8" name="Shape 3"/>
          <p:cNvSpPr/>
          <p:nvPr/>
        </p:nvSpPr>
        <p:spPr>
          <a:xfrm>
            <a:off x="548640" y="5969000"/>
            <a:ext cx="11094415" cy="0"/>
          </a:xfrm>
          <a:prstGeom prst="line">
            <a:avLst/>
          </a:prstGeom>
          <a:noFill/>
          <a:ln w="12700">
            <a:solidFill>
              <a:srgbClr val="F3FBF8"/>
            </a:solidFill>
            <a:prstDash val="solid"/>
          </a:ln>
        </p:spPr>
      </p:sp>
      <p:sp>
        <p:nvSpPr>
          <p:cNvPr id="9" name="ocean:meta"/>
          <p:cNvSpPr/>
          <p:nvPr/>
        </p:nvSpPr>
        <p:spPr>
          <a:xfrm>
            <a:off x="548640" y="6134100"/>
            <a:ext cx="5800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BASIS</a:t>
            </a:r>
            <a:endParaRPr lang="en-US" sz="1000" dirty="0"/>
          </a:p>
        </p:txBody>
      </p:sp>
      <p:sp>
        <p:nvSpPr>
          <p:cNvPr id="10" name="ocean:meta"/>
          <p:cNvSpPr/>
          <p:nvPr/>
        </p:nvSpPr>
        <p:spPr>
          <a:xfrm>
            <a:off x="1238377" y="6134100"/>
            <a:ext cx="190842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PORTFOLIO PROCESS</a:t>
            </a:r>
            <a:endParaRPr lang="en-US" sz="1000" dirty="0"/>
          </a:p>
        </p:txBody>
      </p:sp>
      <p:sp>
        <p:nvSpPr>
          <p:cNvPr id="11" name="ocean:meta"/>
          <p:cNvSpPr/>
          <p:nvPr/>
        </p:nvSpPr>
        <p:spPr>
          <a:xfrm>
            <a:off x="3585718" y="6134100"/>
            <a:ext cx="71742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STATUS</a:t>
            </a:r>
            <a:endParaRPr lang="en-US" sz="1000" dirty="0"/>
          </a:p>
        </p:txBody>
      </p:sp>
      <p:sp>
        <p:nvSpPr>
          <p:cNvPr id="12" name="ocean:meta"/>
          <p:cNvSpPr/>
          <p:nvPr/>
        </p:nvSpPr>
        <p:spPr>
          <a:xfrm>
            <a:off x="4412869" y="6134100"/>
            <a:ext cx="64096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DRAFT</a:t>
            </a:r>
            <a:endParaRPr lang="en-US" sz="1000" dirty="0"/>
          </a:p>
        </p:txBody>
      </p:sp>
      <p:sp>
        <p:nvSpPr>
          <p:cNvPr id="13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FOR DISCUSSION ONLY · DRAFT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0B1617"/>
            </a:solidFill>
            <a:prstDash val="solid"/>
          </a:ln>
        </p:spPr>
      </p:sp>
      <p:pic>
        <p:nvPicPr>
          <p:cNvPr id="4" name="ocean:logo-horizontal" descr="/home/runner/work/ocean-brand-system/ocean-brand-system/assets/logos/png/logo_horizontal_blackm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6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7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9" name="ocean:header"/>
          <p:cNvSpPr/>
          <p:nvPr/>
        </p:nvSpPr>
        <p:spPr>
          <a:xfrm>
            <a:off x="3751072" y="551688"/>
            <a:ext cx="8077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PLATFORM</a:t>
            </a:r>
            <a:endParaRPr lang="en-US" sz="900" dirty="0"/>
          </a:p>
        </p:txBody>
      </p:sp>
      <p:sp>
        <p:nvSpPr>
          <p:cNvPr id="10" name="ocean:header"/>
          <p:cNvSpPr/>
          <p:nvPr/>
        </p:nvSpPr>
        <p:spPr>
          <a:xfrm>
            <a:off x="4705134" y="551688"/>
            <a:ext cx="6924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PIPELINE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543868" y="551688"/>
            <a:ext cx="66088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CAPITAL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6287046" y="515112"/>
            <a:ext cx="918858" cy="237744"/>
          </a:xfrm>
          <a:prstGeom prst="rect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13" name="ocean:header"/>
          <p:cNvSpPr/>
          <p:nvPr/>
        </p:nvSpPr>
        <p:spPr>
          <a:xfrm>
            <a:off x="6351054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5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INVESTOR DECK</a:t>
            </a:r>
            <a:endParaRPr lang="en-US" sz="900" dirty="0"/>
          </a:p>
        </p:txBody>
      </p:sp>
      <p:sp>
        <p:nvSpPr>
          <p:cNvPr id="16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8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1084255" y="329184"/>
            <a:ext cx="558800" cy="609600"/>
          </a:xfrm>
          <a:prstGeom prst="rect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25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 NEXT STEPS</a:t>
            </a:r>
            <a:endParaRPr lang="en-US" sz="1100" dirty="0"/>
          </a:p>
        </p:txBody>
      </p:sp>
      <p:sp>
        <p:nvSpPr>
          <p:cNvPr id="27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Milestone-based capital</a:t>
            </a:r>
            <a:endParaRPr lang="en-US" sz="3500" dirty="0"/>
          </a:p>
        </p:txBody>
      </p:sp>
      <p:sp>
        <p:nvSpPr>
          <p:cNvPr id="28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FORWARD-LOOKING AND SUBJECT TO DILIGENCE;</a:t>
            </a:r>
            <a:endParaRPr lang="en-US" sz="10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NOT A GUARANTEE OF RETURNS.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30" name="ocean:label"/>
          <p:cNvSpPr/>
          <p:nvPr/>
        </p:nvSpPr>
        <p:spPr>
          <a:xfrm>
            <a:off x="548640" y="3044952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2"/>
              </a:lnSpc>
              <a:buNone/>
            </a:pPr>
            <a:r>
              <a:rPr lang="en-US" sz="1050" spc="263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CAPITAL SOUGHT</a:t>
            </a:r>
            <a:endParaRPr lang="en-US" sz="1050" dirty="0"/>
          </a:p>
        </p:txBody>
      </p:sp>
      <p:sp>
        <p:nvSpPr>
          <p:cNvPr id="31" name="ocean:metric"/>
          <p:cNvSpPr/>
          <p:nvPr/>
        </p:nvSpPr>
        <p:spPr>
          <a:xfrm>
            <a:off x="521208" y="3319272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400"/>
              </a:lnSpc>
              <a:buNone/>
            </a:pPr>
            <a:r>
              <a:rPr lang="en-US" sz="6000" spc="-12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[TBD]</a:t>
            </a:r>
            <a:endParaRPr lang="en-US" sz="6000" dirty="0"/>
          </a:p>
        </p:txBody>
      </p:sp>
      <p:sp>
        <p:nvSpPr>
          <p:cNvPr id="32" name="Shape 28"/>
          <p:cNvSpPr/>
          <p:nvPr/>
        </p:nvSpPr>
        <p:spPr>
          <a:xfrm>
            <a:off x="548640" y="4370832"/>
            <a:ext cx="5120640" cy="0"/>
          </a:xfrm>
          <a:prstGeom prst="line">
            <a:avLst/>
          </a:prstGeom>
          <a:noFill/>
          <a:ln w="6350">
            <a:solidFill>
              <a:srgbClr val="0B1617"/>
            </a:solidFill>
            <a:prstDash val="solid"/>
          </a:ln>
        </p:spPr>
      </p:sp>
      <p:sp>
        <p:nvSpPr>
          <p:cNvPr id="33" name="ocean:body"/>
          <p:cNvSpPr/>
          <p:nvPr/>
        </p:nvSpPr>
        <p:spPr>
          <a:xfrm>
            <a:off x="548640" y="44622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First funded asset</a:t>
            </a:r>
            <a:endParaRPr lang="en-US" sz="1300" dirty="0"/>
          </a:p>
        </p:txBody>
      </p:sp>
      <p:sp>
        <p:nvSpPr>
          <p:cNvPr id="34" name="ocean:body"/>
          <p:cNvSpPr/>
          <p:nvPr/>
        </p:nvSpPr>
        <p:spPr>
          <a:xfrm>
            <a:off x="4114800" y="44622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88"/>
              </a:lnSpc>
              <a:buNone/>
            </a:pPr>
            <a:r>
              <a:rPr lang="en-US" sz="1200" b="1" spc="1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[TBD]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548640" y="4773168"/>
            <a:ext cx="5120640" cy="0"/>
          </a:xfrm>
          <a:prstGeom prst="line">
            <a:avLst/>
          </a:prstGeom>
          <a:noFill/>
          <a:ln w="6350">
            <a:solidFill>
              <a:srgbClr val="0B1617"/>
            </a:solidFill>
            <a:prstDash val="solid"/>
          </a:ln>
        </p:spPr>
      </p:sp>
      <p:sp>
        <p:nvSpPr>
          <p:cNvPr id="36" name="ocean:body"/>
          <p:cNvSpPr/>
          <p:nvPr/>
        </p:nvSpPr>
        <p:spPr>
          <a:xfrm>
            <a:off x="548640" y="48646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Terms</a:t>
            </a:r>
            <a:endParaRPr lang="en-US" sz="1300" dirty="0"/>
          </a:p>
        </p:txBody>
      </p:sp>
      <p:sp>
        <p:nvSpPr>
          <p:cNvPr id="37" name="ocean:body"/>
          <p:cNvSpPr/>
          <p:nvPr/>
        </p:nvSpPr>
        <p:spPr>
          <a:xfrm>
            <a:off x="4114800" y="486460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88"/>
              </a:lnSpc>
              <a:buNone/>
            </a:pPr>
            <a:r>
              <a:rPr lang="en-US" sz="1200" b="1" spc="1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[TBD]</a:t>
            </a:r>
            <a:endParaRPr lang="en-US" sz="1200" dirty="0"/>
          </a:p>
        </p:txBody>
      </p:sp>
      <p:sp>
        <p:nvSpPr>
          <p:cNvPr id="38" name="ocean:frame"/>
          <p:cNvSpPr/>
          <p:nvPr/>
        </p:nvSpPr>
        <p:spPr>
          <a:xfrm>
            <a:off x="6217920" y="3044952"/>
            <a:ext cx="5425135" cy="676656"/>
          </a:xfrm>
          <a:custGeom>
            <a:avLst/>
            <a:gdLst/>
            <a:ahLst/>
            <a:cxnLst/>
            <a:rect l="l" t="t" r="r" b="b"/>
            <a:pathLst>
              <a:path w="5425135" h="676656">
                <a:moveTo>
                  <a:pt x="76200" y="0"/>
                </a:moveTo>
                <a:lnTo>
                  <a:pt x="5348935" y="0"/>
                </a:lnTo>
                <a:quadBezTo>
                  <a:pt x="5425135" y="0"/>
                  <a:pt x="5425135" y="76200"/>
                </a:quadBezTo>
                <a:lnTo>
                  <a:pt x="5425135" y="524256"/>
                </a:lnTo>
                <a:lnTo>
                  <a:pt x="5272735" y="676656"/>
                </a:lnTo>
                <a:lnTo>
                  <a:pt x="76200" y="676656"/>
                </a:lnTo>
                <a:quadBezTo>
                  <a:pt x="0" y="676656"/>
                  <a:pt x="0" y="600456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0B1617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11387023" y="3172968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40" name="ocean:label"/>
          <p:cNvSpPr/>
          <p:nvPr/>
        </p:nvSpPr>
        <p:spPr>
          <a:xfrm>
            <a:off x="6400800" y="31546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01</a:t>
            </a:r>
            <a:endParaRPr lang="en-US" sz="1000" dirty="0"/>
          </a:p>
        </p:txBody>
      </p:sp>
      <p:sp>
        <p:nvSpPr>
          <p:cNvPr id="41" name="ocean:body"/>
          <p:cNvSpPr/>
          <p:nvPr/>
        </p:nvSpPr>
        <p:spPr>
          <a:xfrm>
            <a:off x="6400800" y="3374136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Confirm investor mandate</a:t>
            </a:r>
            <a:endParaRPr lang="en-US" sz="1300" dirty="0"/>
          </a:p>
        </p:txBody>
      </p:sp>
      <p:sp>
        <p:nvSpPr>
          <p:cNvPr id="42" name="ocean:frame"/>
          <p:cNvSpPr/>
          <p:nvPr/>
        </p:nvSpPr>
        <p:spPr>
          <a:xfrm>
            <a:off x="6217920" y="3831336"/>
            <a:ext cx="5425135" cy="676656"/>
          </a:xfrm>
          <a:custGeom>
            <a:avLst/>
            <a:gdLst/>
            <a:ahLst/>
            <a:cxnLst/>
            <a:rect l="l" t="t" r="r" b="b"/>
            <a:pathLst>
              <a:path w="5425135" h="676656">
                <a:moveTo>
                  <a:pt x="76200" y="0"/>
                </a:moveTo>
                <a:lnTo>
                  <a:pt x="5348935" y="0"/>
                </a:lnTo>
                <a:quadBezTo>
                  <a:pt x="5425135" y="0"/>
                  <a:pt x="5425135" y="76200"/>
                </a:quadBezTo>
                <a:lnTo>
                  <a:pt x="5425135" y="524256"/>
                </a:lnTo>
                <a:lnTo>
                  <a:pt x="5272735" y="676656"/>
                </a:lnTo>
                <a:lnTo>
                  <a:pt x="76200" y="676656"/>
                </a:lnTo>
                <a:quadBezTo>
                  <a:pt x="0" y="676656"/>
                  <a:pt x="0" y="600456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0B1617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11387023" y="3959352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11247323" y="3959352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45" name="ocean:label"/>
          <p:cNvSpPr/>
          <p:nvPr/>
        </p:nvSpPr>
        <p:spPr>
          <a:xfrm>
            <a:off x="6400800" y="394106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02</a:t>
            </a:r>
            <a:endParaRPr lang="en-US" sz="1000" dirty="0"/>
          </a:p>
        </p:txBody>
      </p:sp>
      <p:sp>
        <p:nvSpPr>
          <p:cNvPr id="46" name="ocean:body"/>
          <p:cNvSpPr/>
          <p:nvPr/>
        </p:nvSpPr>
        <p:spPr>
          <a:xfrm>
            <a:off x="6400800" y="4160520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Define first funded asset</a:t>
            </a:r>
            <a:endParaRPr lang="en-US" sz="1300" dirty="0"/>
          </a:p>
        </p:txBody>
      </p:sp>
      <p:sp>
        <p:nvSpPr>
          <p:cNvPr id="47" name="ocean:frame"/>
          <p:cNvSpPr/>
          <p:nvPr/>
        </p:nvSpPr>
        <p:spPr>
          <a:xfrm>
            <a:off x="6217920" y="4617720"/>
            <a:ext cx="5425135" cy="676656"/>
          </a:xfrm>
          <a:custGeom>
            <a:avLst/>
            <a:gdLst/>
            <a:ahLst/>
            <a:cxnLst/>
            <a:rect l="l" t="t" r="r" b="b"/>
            <a:pathLst>
              <a:path w="5425135" h="676656">
                <a:moveTo>
                  <a:pt x="76200" y="0"/>
                </a:moveTo>
                <a:lnTo>
                  <a:pt x="5348935" y="0"/>
                </a:lnTo>
                <a:quadBezTo>
                  <a:pt x="5425135" y="0"/>
                  <a:pt x="5425135" y="76200"/>
                </a:quadBezTo>
                <a:lnTo>
                  <a:pt x="5425135" y="524256"/>
                </a:lnTo>
                <a:lnTo>
                  <a:pt x="5272735" y="676656"/>
                </a:lnTo>
                <a:lnTo>
                  <a:pt x="76200" y="676656"/>
                </a:lnTo>
                <a:quadBezTo>
                  <a:pt x="0" y="676656"/>
                  <a:pt x="0" y="600456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0B1617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11387023" y="4745736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11247323" y="4745736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11107623" y="4745736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51" name="ocean:label"/>
          <p:cNvSpPr/>
          <p:nvPr/>
        </p:nvSpPr>
        <p:spPr>
          <a:xfrm>
            <a:off x="6400800" y="472744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03</a:t>
            </a:r>
            <a:endParaRPr lang="en-US" sz="1000" dirty="0"/>
          </a:p>
        </p:txBody>
      </p:sp>
      <p:sp>
        <p:nvSpPr>
          <p:cNvPr id="52" name="ocean:body"/>
          <p:cNvSpPr/>
          <p:nvPr/>
        </p:nvSpPr>
        <p:spPr>
          <a:xfrm>
            <a:off x="6400800" y="4946904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Complete diligence package</a:t>
            </a:r>
            <a:endParaRPr lang="en-US" sz="1300" dirty="0"/>
          </a:p>
        </p:txBody>
      </p:sp>
      <p:sp>
        <p:nvSpPr>
          <p:cNvPr id="53" name="ocean:frame"/>
          <p:cNvSpPr/>
          <p:nvPr/>
        </p:nvSpPr>
        <p:spPr>
          <a:xfrm>
            <a:off x="6217920" y="5404104"/>
            <a:ext cx="5425135" cy="676656"/>
          </a:xfrm>
          <a:custGeom>
            <a:avLst/>
            <a:gdLst/>
            <a:ahLst/>
            <a:cxnLst/>
            <a:rect l="l" t="t" r="r" b="b"/>
            <a:pathLst>
              <a:path w="5425135" h="676656">
                <a:moveTo>
                  <a:pt x="76200" y="0"/>
                </a:moveTo>
                <a:lnTo>
                  <a:pt x="5348935" y="0"/>
                </a:lnTo>
                <a:quadBezTo>
                  <a:pt x="5425135" y="0"/>
                  <a:pt x="5425135" y="76200"/>
                </a:quadBezTo>
                <a:lnTo>
                  <a:pt x="5425135" y="524256"/>
                </a:lnTo>
                <a:lnTo>
                  <a:pt x="5272735" y="676656"/>
                </a:lnTo>
                <a:lnTo>
                  <a:pt x="76200" y="676656"/>
                </a:lnTo>
                <a:quadBezTo>
                  <a:pt x="0" y="676656"/>
                  <a:pt x="0" y="600456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0B1617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11387023" y="5532120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11247323" y="5532120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11107623" y="5532120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10967923" y="5532120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58" name="ocean:label"/>
          <p:cNvSpPr/>
          <p:nvPr/>
        </p:nvSpPr>
        <p:spPr>
          <a:xfrm>
            <a:off x="6400800" y="55138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04</a:t>
            </a:r>
            <a:endParaRPr lang="en-US" sz="1000" dirty="0"/>
          </a:p>
        </p:txBody>
      </p:sp>
      <p:sp>
        <p:nvSpPr>
          <p:cNvPr id="59" name="ocean:body"/>
          <p:cNvSpPr/>
          <p:nvPr/>
        </p:nvSpPr>
        <p:spPr>
          <a:xfrm>
            <a:off x="6400800" y="5733288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Approve stage-gated capital</a:t>
            </a:r>
            <a:endParaRPr lang="en-US" sz="1300" dirty="0"/>
          </a:p>
        </p:txBody>
      </p:sp>
      <p:sp>
        <p:nvSpPr>
          <p:cNvPr id="60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FOR DISCUSSION ONLY · DRAFT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logo-graphic" descr="/home/runner/work/ocean-brand-system/ocean-brand-system/assets/logos/png/logo_graphic_blackm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87455" y="406400"/>
            <a:ext cx="355600" cy="355600"/>
          </a:xfrm>
          <a:prstGeom prst="rect">
            <a:avLst/>
          </a:prstGeom>
        </p:spPr>
      </p:pic>
      <p:sp>
        <p:nvSpPr>
          <p:cNvPr id="3" name="ocean:label"/>
          <p:cNvSpPr/>
          <p:nvPr/>
        </p:nvSpPr>
        <p:spPr>
          <a:xfrm>
            <a:off x="548640" y="133502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NOTICE</a:t>
            </a:r>
            <a:endParaRPr lang="en-US" sz="1100" dirty="0"/>
          </a:p>
        </p:txBody>
      </p:sp>
      <p:sp>
        <p:nvSpPr>
          <p:cNvPr id="4" name="ocean:headline"/>
          <p:cNvSpPr/>
          <p:nvPr/>
        </p:nvSpPr>
        <p:spPr>
          <a:xfrm>
            <a:off x="530352" y="1572768"/>
            <a:ext cx="7315200" cy="578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40"/>
              </a:lnSpc>
              <a:buNone/>
            </a:pPr>
            <a:r>
              <a:rPr lang="en-US" sz="3500" spc="-35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Important notice</a:t>
            </a:r>
            <a:endParaRPr lang="en-US" sz="3500" dirty="0"/>
          </a:p>
        </p:txBody>
      </p:sp>
      <p:sp>
        <p:nvSpPr>
          <p:cNvPr id="5" name="Shape 2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6" name="ocean:notice"/>
          <p:cNvSpPr/>
          <p:nvPr/>
        </p:nvSpPr>
        <p:spPr>
          <a:xfrm>
            <a:off x="7022592" y="3044952"/>
            <a:ext cx="460217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This presentation is confidential and is provided for discussion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purposes only. It is not an offer to sell or a solicitation of an offer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to buy any security. Any project, equipment acquisition,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incentive, utility service, fleet relationship, charging utilization,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compute deployment, financial return or exit transaction is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subject to final diligence, written agreements and applicable law.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 is the market-facing operating brand for the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platform. Project-specific legal entities may be formed at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equipment acquisition, property closing, financing or operations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launch. Forward-looking statements, projections and estimates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are not guarantees. Do not copy, forward or distribute without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the written consent of Ocean RCS.</a:t>
            </a:r>
            <a:endParaRPr lang="en-US" sz="1200" dirty="0"/>
          </a:p>
        </p:txBody>
      </p:sp>
      <p:sp>
        <p:nvSpPr>
          <p:cNvPr id="7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FOR DISCUSSION ONLY · DRAFT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618C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texture" descr="/home/runner/work/ocean-brand-system/ocean-brand-system/assets/textures/tex_deck_s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cean:logo-vertical" descr="/home/runner/work/ocean-brand-system/ocean-brand-system/assets/logos/png/logo_vertical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7744" y="2603500"/>
            <a:ext cx="1876207" cy="1651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tack Sans Headlin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tack Sans Headlin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Ocean RCS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Ocean RCS Mobility &amp; Energy Platform</dc:title>
  <dc:subject>Built with ocean-brand-system lib/ocean.js</dc:subject>
  <dc:creator>Ocean RCS</dc:creator>
  <cp:lastModifiedBy>Ocean RCS</cp:lastModifiedBy>
  <cp:revision>1</cp:revision>
  <dcterms:created xsi:type="dcterms:W3CDTF">2026-09-27T10:26:16Z</dcterms:created>
  <dcterms:modified xsi:type="dcterms:W3CDTF">2026-09-27T10:26:16Z</dcterms:modified>
</cp:coreProperties>
</file>