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Ocean leadership confirmed on 27 Sep 2026 that the supplied drone photo is a real Ocean project. No project size, customer or performance claim is inferred from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Mobility hubs, parallel pipelines and capital gates.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Gates: originate, screen, control, validate, fund, build, operate, monetize.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C:\Users\sctho\OneDrive\Documents\ChatGPT\ocean-brand-system\assets\textures\tex_deck_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C:\Users\sctho\OneDrive\Documents\ChatGPT\ocean-brand-system\assets\logos\png\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RENEWABLE CONNECTED SYSTEMS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2761488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INVESTOR PRESENTATION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Mobility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&amp; Energy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537200"/>
            <a:ext cx="10769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Confidential. For discussion only. Not an offer to sell or a solicitation of an offer to buy any security. Draft for discussion. Do not use, rely on or distribute. Figures and terms may change.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1323975" y="6235700"/>
            <a:ext cx="11597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27 SEP 2026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2922651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3749802" y="6235700"/>
            <a:ext cx="6409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DRAFT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horizontal" descr="C:\Users\sctho\OneDrive\Documents\ChatGPT\ocean-brand-system\assets\logos\png\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400"/>
            <a:ext cx="1000657" cy="2794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8442655" y="3937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1000" dirty="0"/>
          </a:p>
        </p:txBody>
      </p:sp>
      <p:sp>
        <p:nvSpPr>
          <p:cNvPr id="4" name="ocean:label"/>
          <p:cNvSpPr/>
          <p:nvPr/>
        </p:nvSpPr>
        <p:spPr>
          <a:xfrm>
            <a:off x="8442655" y="6096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1000" dirty="0"/>
          </a:p>
        </p:txBody>
      </p:sp>
      <p:sp>
        <p:nvSpPr>
          <p:cNvPr id="5" name="ocean:cover"/>
          <p:cNvSpPr/>
          <p:nvPr/>
        </p:nvSpPr>
        <p:spPr>
          <a:xfrm>
            <a:off x="512064" y="109728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2500" b="1" spc="-7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Agenda</a:t>
            </a:r>
            <a:endParaRPr lang="en-US" sz="12500" dirty="0"/>
          </a:p>
        </p:txBody>
      </p:sp>
      <p:sp>
        <p:nvSpPr>
          <p:cNvPr id="6" name="Shape 3"/>
          <p:cNvSpPr/>
          <p:nvPr/>
        </p:nvSpPr>
        <p:spPr>
          <a:xfrm>
            <a:off x="548640" y="298094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7" name="ocean:metric"/>
          <p:cNvSpPr/>
          <p:nvPr/>
        </p:nvSpPr>
        <p:spPr>
          <a:xfrm>
            <a:off x="512064" y="3026664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5266" dirty="0"/>
          </a:p>
        </p:txBody>
      </p:sp>
      <p:sp>
        <p:nvSpPr>
          <p:cNvPr id="8" name="ocean:label"/>
          <p:cNvSpPr/>
          <p:nvPr/>
        </p:nvSpPr>
        <p:spPr>
          <a:xfrm>
            <a:off x="4443984" y="316382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1100" dirty="0"/>
          </a:p>
        </p:txBody>
      </p:sp>
      <p:sp>
        <p:nvSpPr>
          <p:cNvPr id="9" name="ocean:section"/>
          <p:cNvSpPr/>
          <p:nvPr/>
        </p:nvSpPr>
        <p:spPr>
          <a:xfrm>
            <a:off x="4425696" y="3364992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platform and its revenue logic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548640" y="3783521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metric"/>
          <p:cNvSpPr/>
          <p:nvPr/>
        </p:nvSpPr>
        <p:spPr>
          <a:xfrm>
            <a:off x="512064" y="3829241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5266" dirty="0"/>
          </a:p>
        </p:txBody>
      </p:sp>
      <p:sp>
        <p:nvSpPr>
          <p:cNvPr id="12" name="ocean:label"/>
          <p:cNvSpPr/>
          <p:nvPr/>
        </p:nvSpPr>
        <p:spPr>
          <a:xfrm>
            <a:off x="4443984" y="3966401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1100" dirty="0"/>
          </a:p>
        </p:txBody>
      </p:sp>
      <p:sp>
        <p:nvSpPr>
          <p:cNvPr id="13" name="ocean:section"/>
          <p:cNvSpPr/>
          <p:nvPr/>
        </p:nvSpPr>
        <p:spPr>
          <a:xfrm>
            <a:off x="4425696" y="4167569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Mobility hubs and capital gates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48640" y="4586097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metric"/>
          <p:cNvSpPr/>
          <p:nvPr/>
        </p:nvSpPr>
        <p:spPr>
          <a:xfrm>
            <a:off x="512064" y="4631817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5266" dirty="0"/>
          </a:p>
        </p:txBody>
      </p:sp>
      <p:sp>
        <p:nvSpPr>
          <p:cNvPr id="16" name="ocean:label"/>
          <p:cNvSpPr/>
          <p:nvPr/>
        </p:nvSpPr>
        <p:spPr>
          <a:xfrm>
            <a:off x="4443984" y="4768977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1100" dirty="0"/>
          </a:p>
        </p:txBody>
      </p:sp>
      <p:sp>
        <p:nvSpPr>
          <p:cNvPr id="17" name="ocean:section"/>
          <p:cNvSpPr/>
          <p:nvPr/>
        </p:nvSpPr>
        <p:spPr>
          <a:xfrm>
            <a:off x="4425696" y="4970145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Underwriting and monetization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538867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metric"/>
          <p:cNvSpPr/>
          <p:nvPr/>
        </p:nvSpPr>
        <p:spPr>
          <a:xfrm>
            <a:off x="512064" y="5434393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04</a:t>
            </a:r>
            <a:endParaRPr lang="en-US" sz="5266" dirty="0"/>
          </a:p>
        </p:txBody>
      </p:sp>
      <p:sp>
        <p:nvSpPr>
          <p:cNvPr id="20" name="ocean:label"/>
          <p:cNvSpPr/>
          <p:nvPr/>
        </p:nvSpPr>
        <p:spPr>
          <a:xfrm>
            <a:off x="4443984" y="557155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21" name="ocean:section"/>
          <p:cNvSpPr/>
          <p:nvPr/>
        </p:nvSpPr>
        <p:spPr>
          <a:xfrm>
            <a:off x="4425696" y="5772721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Milestone-based capital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548640" y="6191250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6242050"/>
            <a:ext cx="11094415" cy="381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4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C:\Users\sctho\OneDrive\Documents\ChatGPT\ocean-brand-system\assets\environments\env_peacock_map_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C:\Users\sctho\OneDrive\Documents\ChatGPT\ocean-brand-system\assets\logos\png\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Connected infrastructure,</a:t>
            </a:r>
            <a:endParaRPr lang="en-US" sz="4400" dirty="0"/>
          </a:p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disciplined capital</a:t>
            </a:r>
            <a:endParaRPr lang="en-US" sz="4400" dirty="0"/>
          </a:p>
        </p:txBody>
      </p:sp>
      <p:sp>
        <p:nvSpPr>
          <p:cNvPr id="6" name="ocean:subhead"/>
          <p:cNvSpPr/>
          <p:nvPr/>
        </p:nvSpPr>
        <p:spPr>
          <a:xfrm>
            <a:off x="548640" y="5074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ENERGY, MOBILITY, STORAGE, SMART SITES AND QUALIFIED COMPUTE SHARE ONE INTEGRATION PLATFORM.</a:t>
            </a:r>
            <a:endParaRPr lang="en-US" sz="11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4" name="ocean:logo-horizontal" descr="C:\Users\sctho\OneDrive\Documents\ChatGPT\ocean-brand-system\assets\logos\png\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687064" y="515112"/>
            <a:ext cx="807758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1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3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PLATFORM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Three systems,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one platform</a:t>
            </a:r>
            <a:endParaRPr lang="en-US" sz="3500" dirty="0"/>
          </a:p>
        </p:txBody>
      </p:sp>
      <p:sp>
        <p:nvSpPr>
          <p:cNvPr id="28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DEVELOPS INFRASTRUCTURE FOR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ELECTRIFIED MOBILITY, DISTRIBUTED ENERGY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SELECTIVE MODULAR COMPUTE.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pic>
        <p:nvPicPr>
          <p:cNvPr id="30" name="ocean:photo" descr="C:\Users\sctho\OneDrive\Documents\ChatGPT\ocean-brand-system\output\.cache\fit\solar-carport-campus-041d77b11b2a487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2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RENEWABLE ENERGY</a:t>
            </a:r>
            <a:endParaRPr lang="en-US" sz="950" dirty="0"/>
          </a:p>
        </p:txBody>
      </p:sp>
      <p:sp>
        <p:nvSpPr>
          <p:cNvPr id="35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Solar, storage, electrical, controls</a:t>
            </a:r>
            <a:endParaRPr lang="en-US" sz="1400" dirty="0"/>
          </a:p>
        </p:txBody>
      </p:sp>
      <p:sp>
        <p:nvSpPr>
          <p:cNvPr id="36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CONNECTED MOBILITY</a:t>
            </a:r>
            <a:endParaRPr lang="en-US" sz="950" dirty="0"/>
          </a:p>
        </p:txBody>
      </p:sp>
      <p:sp>
        <p:nvSpPr>
          <p:cNvPr id="40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Charging, fleet energy, site operations</a:t>
            </a:r>
            <a:endParaRPr lang="en-US" sz="1400" dirty="0"/>
          </a:p>
        </p:txBody>
      </p:sp>
      <p:sp>
        <p:nvSpPr>
          <p:cNvPr id="41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QUALIFIED COMPUTE</a:t>
            </a:r>
            <a:endParaRPr lang="en-US" sz="950" dirty="0"/>
          </a:p>
        </p:txBody>
      </p:sp>
      <p:sp>
        <p:nvSpPr>
          <p:cNvPr id="46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Power, fiber, liquid cooling, partners</a:t>
            </a:r>
            <a:endParaRPr lang="en-US" sz="1400" dirty="0"/>
          </a:p>
        </p:txBody>
      </p:sp>
      <p:sp>
        <p:nvSpPr>
          <p:cNvPr id="47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project photo: solar parking structures, DJI_0482</a:t>
            </a:r>
            <a:endParaRPr lang="en-US" sz="1200" dirty="0"/>
          </a:p>
        </p:txBody>
      </p:sp>
      <p:sp>
        <p:nvSpPr>
          <p:cNvPr id="48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C:\Users\sctho\OneDrive\Documents\ChatGPT\ocean-brand-system\assets\logos\png\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807758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PLATFORM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Develop, build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and operate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8" name="ocean:frame"/>
          <p:cNvSpPr/>
          <p:nvPr/>
        </p:nvSpPr>
        <p:spPr>
          <a:xfrm>
            <a:off x="548640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4385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0" name="ocean:label"/>
          <p:cNvSpPr/>
          <p:nvPr/>
        </p:nvSpPr>
        <p:spPr>
          <a:xfrm>
            <a:off x="777240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50" dirty="0"/>
          </a:p>
        </p:txBody>
      </p:sp>
      <p:sp>
        <p:nvSpPr>
          <p:cNvPr id="31" name="ocean:section"/>
          <p:cNvSpPr/>
          <p:nvPr/>
        </p:nvSpPr>
        <p:spPr>
          <a:xfrm>
            <a:off x="777240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Develop</a:t>
            </a:r>
            <a:endParaRPr lang="en-US" sz="2200" dirty="0"/>
          </a:p>
        </p:txBody>
      </p:sp>
      <p:sp>
        <p:nvSpPr>
          <p:cNvPr id="32" name="ocean:body"/>
          <p:cNvSpPr/>
          <p:nvPr/>
        </p:nvSpPr>
        <p:spPr>
          <a:xfrm>
            <a:off x="777240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 screening, utility review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customer strategy.</a:t>
            </a:r>
            <a:endParaRPr lang="en-US" sz="1300" dirty="0"/>
          </a:p>
        </p:txBody>
      </p:sp>
      <p:sp>
        <p:nvSpPr>
          <p:cNvPr id="33" name="ocean:frame"/>
          <p:cNvSpPr/>
          <p:nvPr/>
        </p:nvSpPr>
        <p:spPr>
          <a:xfrm>
            <a:off x="4338218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33437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393737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6" name="ocean:label"/>
          <p:cNvSpPr/>
          <p:nvPr/>
        </p:nvSpPr>
        <p:spPr>
          <a:xfrm>
            <a:off x="4566818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7" name="ocean:section"/>
          <p:cNvSpPr/>
          <p:nvPr/>
        </p:nvSpPr>
        <p:spPr>
          <a:xfrm>
            <a:off x="4566818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Build</a:t>
            </a:r>
            <a:endParaRPr lang="en-US" sz="2200" dirty="0"/>
          </a:p>
        </p:txBody>
      </p:sp>
      <p:sp>
        <p:nvSpPr>
          <p:cNvPr id="38" name="ocean:body"/>
          <p:cNvSpPr/>
          <p:nvPr/>
        </p:nvSpPr>
        <p:spPr>
          <a:xfrm>
            <a:off x="4566818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Solar, storage, EVSE and site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infrastructure.</a:t>
            </a:r>
            <a:endParaRPr lang="en-US" sz="1300" dirty="0"/>
          </a:p>
        </p:txBody>
      </p:sp>
      <p:sp>
        <p:nvSpPr>
          <p:cNvPr id="39" name="ocean:frame"/>
          <p:cNvSpPr/>
          <p:nvPr/>
        </p:nvSpPr>
        <p:spPr>
          <a:xfrm>
            <a:off x="8127797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043615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ocean:label"/>
          <p:cNvSpPr/>
          <p:nvPr/>
        </p:nvSpPr>
        <p:spPr>
          <a:xfrm>
            <a:off x="8356397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50" dirty="0"/>
          </a:p>
        </p:txBody>
      </p:sp>
      <p:sp>
        <p:nvSpPr>
          <p:cNvPr id="44" name="ocean:section"/>
          <p:cNvSpPr/>
          <p:nvPr/>
        </p:nvSpPr>
        <p:spPr>
          <a:xfrm>
            <a:off x="8356397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Operate</a:t>
            </a:r>
            <a:endParaRPr lang="en-US" sz="2200" dirty="0"/>
          </a:p>
        </p:txBody>
      </p:sp>
      <p:sp>
        <p:nvSpPr>
          <p:cNvPr id="45" name="ocean:body"/>
          <p:cNvSpPr/>
          <p:nvPr/>
        </p:nvSpPr>
        <p:spPr>
          <a:xfrm>
            <a:off x="8356397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Monitoring, O&amp;M, billing and reporting.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controls the integration layer.</a:t>
            </a:r>
            <a:endParaRPr lang="en-US" sz="1300" dirty="0"/>
          </a:p>
        </p:txBody>
      </p:sp>
      <p:sp>
        <p:nvSpPr>
          <p:cNvPr id="46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C:\Users\sctho\OneDrive\Documents\ChatGPT\ocean-brand-system\assets\environments\env_sprig_map_light_sof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C:\Users\sctho\OneDrive\Documents\ChatGPT\ocean-brand-system\assets\logos\png\logo_graphic_s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618C7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618C7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Parallel lanes,</a:t>
            </a:r>
            <a:endParaRPr lang="en-US" sz="4400" dirty="0"/>
          </a:p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618C7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protected stages</a:t>
            </a:r>
            <a:endParaRPr lang="en-US" sz="44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C:\Users\sctho\OneDrive\Documents\ChatGPT\ocean-brand-system\assets\logos\png\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41126" y="515112"/>
            <a:ext cx="69242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PIPELINE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 mobility hub is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more than charging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 FORMATS CAN COMBINE ENERGY, MOBILITY,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RETAIL, FLEET AND SERVICE REVENUE.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pic>
        <p:nvPicPr>
          <p:cNvPr id="29" name="ocean:photo" descr="C:\Users\sctho\OneDrive\Documents\ChatGPT\ocean-brand-system\output\.cache\fit\mobility-hub-fafb5dd91e8cd0c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D5CCA0"/>
          </a:solidFill>
          <a:ln w="12700">
            <a:solidFill>
              <a:srgbClr val="D5CCA0"/>
            </a:solidFill>
            <a:prstDash val="solid"/>
          </a:ln>
        </p:spPr>
      </p:sp>
      <p:sp>
        <p:nvSpPr>
          <p:cNvPr id="31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3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CHARGING</a:t>
            </a:r>
            <a:endParaRPr lang="en-US" sz="950" dirty="0"/>
          </a:p>
        </p:txBody>
      </p:sp>
      <p:sp>
        <p:nvSpPr>
          <p:cNvPr id="34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Public DC fast charging</a:t>
            </a:r>
            <a:endParaRPr lang="en-US" sz="1400" dirty="0"/>
          </a:p>
        </p:txBody>
      </p:sp>
      <p:sp>
        <p:nvSpPr>
          <p:cNvPr id="35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FLEET</a:t>
            </a:r>
            <a:endParaRPr lang="en-US" sz="950" dirty="0"/>
          </a:p>
        </p:txBody>
      </p:sp>
      <p:sp>
        <p:nvSpPr>
          <p:cNvPr id="39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Charging and staging</a:t>
            </a:r>
            <a:endParaRPr lang="en-US" sz="1400" dirty="0"/>
          </a:p>
        </p:txBody>
      </p:sp>
      <p:sp>
        <p:nvSpPr>
          <p:cNvPr id="40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ENERGY</a:t>
            </a:r>
            <a:endParaRPr lang="en-US" sz="950" dirty="0"/>
          </a:p>
        </p:txBody>
      </p:sp>
      <p:sp>
        <p:nvSpPr>
          <p:cNvPr id="45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 canopy and BESS</a:t>
            </a:r>
            <a:endParaRPr lang="en-US" sz="1400" dirty="0"/>
          </a:p>
        </p:txBody>
      </p:sp>
      <p:sp>
        <p:nvSpPr>
          <p:cNvPr id="46" name="ocean:frame"/>
          <p:cNvSpPr/>
          <p:nvPr/>
        </p:nvSpPr>
        <p:spPr>
          <a:xfrm>
            <a:off x="7223760" y="523951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387023" y="536752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247323" y="536752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1107623" y="536752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967923" y="536752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51" name="ocean:label"/>
          <p:cNvSpPr/>
          <p:nvPr/>
        </p:nvSpPr>
        <p:spPr>
          <a:xfrm>
            <a:off x="7406640" y="533095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SERVICES</a:t>
            </a:r>
            <a:endParaRPr lang="en-US" sz="950" dirty="0"/>
          </a:p>
        </p:txBody>
      </p:sp>
      <p:sp>
        <p:nvSpPr>
          <p:cNvPr id="52" name="ocean:body"/>
          <p:cNvSpPr/>
          <p:nvPr/>
        </p:nvSpPr>
        <p:spPr>
          <a:xfrm>
            <a:off x="7406640" y="555040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Retail, amenities, wash</a:t>
            </a:r>
            <a:endParaRPr lang="en-US" sz="1400" dirty="0"/>
          </a:p>
        </p:txBody>
      </p:sp>
      <p:sp>
        <p:nvSpPr>
          <p:cNvPr id="53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Representative image: infrastructure concept, not an Ocean site.</a:t>
            </a:r>
            <a:endParaRPr lang="en-US" sz="1200" dirty="0"/>
          </a:p>
        </p:txBody>
      </p:sp>
      <p:sp>
        <p:nvSpPr>
          <p:cNvPr id="54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C:\Users\sctho\OneDrive\Documents\ChatGPT\ocean-brand-system\assets\logos\png\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41126" y="515112"/>
            <a:ext cx="69242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PIPELINE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Several project lanes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move at once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DOES NOT WAIT TO COMPLETE ONE LANE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BEFORE ADVANCING ANOTHER.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graphicFrame>
        <p:nvGraphicFramePr>
          <p:cNvPr id="9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LANE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1B403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WHAT GOVERNS ADVANCEMENT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1B403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Energy EPC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Screen · control · validate · fund · build · operate · monetize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Third-party EVSE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The same evidence-based gates, applied independently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Mobility hubs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Site readiness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Fleet and car wash hubs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Customer demand and operating requirements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Modular compute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4039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Qualified power, fiber and demand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CCA0"/>
                    </a:solidFill>
                  </a:tcPr>
                </a:tc>
              </a:tr>
            </a:tbl>
          </a:graphicData>
        </a:graphic>
      </p:graphicFrame>
      <p:sp>
        <p:nvSpPr>
          <p:cNvPr id="30" name="ocean:footnote"/>
          <p:cNvSpPr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EACH ASSET RECEIVES CAPITAL ONLY AFTER TECHNICAL, COMMERCIAL, UTILITY AND FINANCING GATES CLEAR.</a:t>
            </a:r>
            <a:endParaRPr lang="en-US" sz="900" dirty="0"/>
          </a:p>
        </p:txBody>
      </p:sp>
      <p:sp>
        <p:nvSpPr>
          <p:cNvPr id="3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C:\Users\sctho\OneDrive\Documents\ChatGPT\ocean-brand-system\assets\logos\png\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41126" y="515112"/>
            <a:ext cx="69242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PIPELINE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Capital is deployed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 protected stages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INVESTOR PROTECTIONS AND ASSET-LEVEL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CONTROLS ARE IN PLACE BEFORE PROJECT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FUNDING.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3547872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548640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· CONTROL</a:t>
            </a:r>
            <a:endParaRPr lang="en-US" sz="1000" dirty="0"/>
          </a:p>
        </p:txBody>
      </p:sp>
      <p:sp>
        <p:nvSpPr>
          <p:cNvPr id="32" name="ocean:section"/>
          <p:cNvSpPr/>
          <p:nvPr/>
        </p:nvSpPr>
        <p:spPr>
          <a:xfrm>
            <a:off x="548640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Site or customer</a:t>
            </a:r>
            <a:endParaRPr lang="en-US" sz="20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control</a:t>
            </a:r>
            <a:endParaRPr lang="en-US" sz="2000" dirty="0"/>
          </a:p>
        </p:txBody>
      </p:sp>
      <p:sp>
        <p:nvSpPr>
          <p:cNvPr id="33" name="ocean:body"/>
          <p:cNvSpPr/>
          <p:nvPr/>
        </p:nvSpPr>
        <p:spPr>
          <a:xfrm>
            <a:off x="548640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Secure the site or the customer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before spending capital.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3390824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5" name="ocean:label"/>
          <p:cNvSpPr/>
          <p:nvPr/>
        </p:nvSpPr>
        <p:spPr>
          <a:xfrm>
            <a:off x="3390824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· VALIDATE</a:t>
            </a:r>
            <a:endParaRPr lang="en-US" sz="1000" dirty="0"/>
          </a:p>
        </p:txBody>
      </p:sp>
      <p:sp>
        <p:nvSpPr>
          <p:cNvPr id="36" name="ocean:section"/>
          <p:cNvSpPr/>
          <p:nvPr/>
        </p:nvSpPr>
        <p:spPr>
          <a:xfrm>
            <a:off x="3390824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Utility and permits</a:t>
            </a:r>
            <a:endParaRPr lang="en-US" sz="2000" dirty="0"/>
          </a:p>
        </p:txBody>
      </p:sp>
      <p:sp>
        <p:nvSpPr>
          <p:cNvPr id="37" name="ocean:body"/>
          <p:cNvSpPr/>
          <p:nvPr/>
        </p:nvSpPr>
        <p:spPr>
          <a:xfrm>
            <a:off x="3390824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Confirm the utility path and the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permits.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233008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6233008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· APPROVE</a:t>
            </a:r>
            <a:endParaRPr lang="en-US" sz="1000" dirty="0"/>
          </a:p>
        </p:txBody>
      </p:sp>
      <p:sp>
        <p:nvSpPr>
          <p:cNvPr id="40" name="ocean:section"/>
          <p:cNvSpPr/>
          <p:nvPr/>
        </p:nvSpPr>
        <p:spPr>
          <a:xfrm>
            <a:off x="6233008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Financing and</a:t>
            </a:r>
            <a:endParaRPr lang="en-US" sz="20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collateral</a:t>
            </a:r>
            <a:endParaRPr lang="en-US" sz="2000" dirty="0"/>
          </a:p>
        </p:txBody>
      </p:sp>
      <p:sp>
        <p:nvSpPr>
          <p:cNvPr id="41" name="ocean:body"/>
          <p:cNvSpPr/>
          <p:nvPr/>
        </p:nvSpPr>
        <p:spPr>
          <a:xfrm>
            <a:off x="6233008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 financing and collateral.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9075191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3" name="ocean:label"/>
          <p:cNvSpPr/>
          <p:nvPr/>
        </p:nvSpPr>
        <p:spPr>
          <a:xfrm>
            <a:off x="9075191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· EXECUTE</a:t>
            </a:r>
            <a:endParaRPr lang="en-US" sz="1000" dirty="0"/>
          </a:p>
        </p:txBody>
      </p:sp>
      <p:sp>
        <p:nvSpPr>
          <p:cNvPr id="44" name="ocean:section"/>
          <p:cNvSpPr/>
          <p:nvPr/>
        </p:nvSpPr>
        <p:spPr>
          <a:xfrm>
            <a:off x="9075191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Build and operate</a:t>
            </a:r>
            <a:endParaRPr lang="en-US" sz="2000" dirty="0"/>
          </a:p>
        </p:txBody>
      </p:sp>
      <p:sp>
        <p:nvSpPr>
          <p:cNvPr id="45" name="ocean:body"/>
          <p:cNvSpPr/>
          <p:nvPr/>
        </p:nvSpPr>
        <p:spPr>
          <a:xfrm>
            <a:off x="9075191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Build, operate and expand.</a:t>
            </a:r>
            <a:endParaRPr lang="en-US" sz="1300" dirty="0"/>
          </a:p>
        </p:txBody>
      </p:sp>
      <p:sp>
        <p:nvSpPr>
          <p:cNvPr id="46" name="ocean:footnote"/>
          <p:cNvSpPr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OPPORTUNISTIC EQUIPMENT: TITLE, CONDITION, SERVICEABILITY AND SITE FIT VERIFIED BEFORE PURCHASE.</a:t>
            </a:r>
            <a:endParaRPr lang="en-US" sz="900" dirty="0"/>
          </a:p>
        </p:txBody>
      </p:sp>
      <p:sp>
        <p:nvSpPr>
          <p:cNvPr id="4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E7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C:\Users\sctho\OneDrive\Documents\ChatGPT\ocean-brand-system\assets\environments\env_oliv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C:\Users\sctho\OneDrive\Documents\ChatGPT\ocean-brand-system\assets\logos\png\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Contracted revenue first,</a:t>
            </a:r>
            <a:endParaRPr lang="en-US" sz="4400" dirty="0"/>
          </a:p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optionality second</a:t>
            </a:r>
            <a:endParaRPr lang="en-US" sz="4400" dirty="0"/>
          </a:p>
        </p:txBody>
      </p:sp>
      <p:sp>
        <p:nvSpPr>
          <p:cNvPr id="6" name="ocean:subhead"/>
          <p:cNvSpPr/>
          <p:nvPr/>
        </p:nvSpPr>
        <p:spPr>
          <a:xfrm>
            <a:off x="548640" y="5074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BASE-CASE UNDERWRITING DEPENDS ON CUSTOMER CONTRACTS, SITE-SPECIFIC MODELS AND CONFIRMED</a:t>
            </a:r>
            <a:endParaRPr lang="en-US" sz="11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ECONOMICS.</a:t>
            </a:r>
            <a:endParaRPr lang="en-US" sz="11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C:\Users\sctho\OneDrive\Documents\ChatGPT\ocean-brand-system\assets\logos\png\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79860" y="515112"/>
            <a:ext cx="660883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CAPITAL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Revenue begins with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contracted work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8" name="ocean:frame"/>
          <p:cNvSpPr/>
          <p:nvPr/>
        </p:nvSpPr>
        <p:spPr>
          <a:xfrm>
            <a:off x="548640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6E734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43858" y="3282696"/>
            <a:ext cx="82550" cy="82550"/>
          </a:xfrm>
          <a:prstGeom prst="diamond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30" name="ocean:label"/>
          <p:cNvSpPr/>
          <p:nvPr/>
        </p:nvSpPr>
        <p:spPr>
          <a:xfrm>
            <a:off x="777240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50" dirty="0"/>
          </a:p>
        </p:txBody>
      </p:sp>
      <p:sp>
        <p:nvSpPr>
          <p:cNvPr id="31" name="ocean:section"/>
          <p:cNvSpPr/>
          <p:nvPr/>
        </p:nvSpPr>
        <p:spPr>
          <a:xfrm>
            <a:off x="777240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Base revenue</a:t>
            </a:r>
            <a:endParaRPr lang="en-US" sz="2200" dirty="0"/>
          </a:p>
        </p:txBody>
      </p:sp>
      <p:sp>
        <p:nvSpPr>
          <p:cNvPr id="32" name="ocean:body"/>
          <p:cNvSpPr/>
          <p:nvPr/>
        </p:nvSpPr>
        <p:spPr>
          <a:xfrm>
            <a:off x="777240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EPC margin, O&amp;M, monitoring, solar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BESS value.</a:t>
            </a:r>
            <a:endParaRPr lang="en-US" sz="1300" dirty="0"/>
          </a:p>
        </p:txBody>
      </p:sp>
      <p:sp>
        <p:nvSpPr>
          <p:cNvPr id="33" name="ocean:frame"/>
          <p:cNvSpPr/>
          <p:nvPr/>
        </p:nvSpPr>
        <p:spPr>
          <a:xfrm>
            <a:off x="4338218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6E734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33437" y="3282696"/>
            <a:ext cx="82550" cy="82550"/>
          </a:xfrm>
          <a:prstGeom prst="diamond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393737" y="3282696"/>
            <a:ext cx="82550" cy="82550"/>
          </a:xfrm>
          <a:prstGeom prst="diamond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36" name="ocean:label"/>
          <p:cNvSpPr/>
          <p:nvPr/>
        </p:nvSpPr>
        <p:spPr>
          <a:xfrm>
            <a:off x="4566818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7" name="ocean:section"/>
          <p:cNvSpPr/>
          <p:nvPr/>
        </p:nvSpPr>
        <p:spPr>
          <a:xfrm>
            <a:off x="4566818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Contracted expansion</a:t>
            </a:r>
            <a:endParaRPr lang="en-US" sz="2200" dirty="0"/>
          </a:p>
        </p:txBody>
      </p:sp>
      <p:sp>
        <p:nvSpPr>
          <p:cNvPr id="38" name="ocean:body"/>
          <p:cNvSpPr/>
          <p:nvPr/>
        </p:nvSpPr>
        <p:spPr>
          <a:xfrm>
            <a:off x="4566818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Fleet charging, site services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memberships.</a:t>
            </a:r>
            <a:endParaRPr lang="en-US" sz="1300" dirty="0"/>
          </a:p>
        </p:txBody>
      </p:sp>
      <p:sp>
        <p:nvSpPr>
          <p:cNvPr id="39" name="ocean:frame"/>
          <p:cNvSpPr/>
          <p:nvPr/>
        </p:nvSpPr>
        <p:spPr>
          <a:xfrm>
            <a:off x="8127797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6E734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043615" y="3282696"/>
            <a:ext cx="82550" cy="82550"/>
          </a:xfrm>
          <a:prstGeom prst="diamond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43" name="ocean:label"/>
          <p:cNvSpPr/>
          <p:nvPr/>
        </p:nvSpPr>
        <p:spPr>
          <a:xfrm>
            <a:off x="8356397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50" dirty="0"/>
          </a:p>
        </p:txBody>
      </p:sp>
      <p:sp>
        <p:nvSpPr>
          <p:cNvPr id="44" name="ocean:section"/>
          <p:cNvSpPr/>
          <p:nvPr/>
        </p:nvSpPr>
        <p:spPr>
          <a:xfrm>
            <a:off x="8356397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Optionality</a:t>
            </a:r>
            <a:endParaRPr lang="en-US" sz="2200" dirty="0"/>
          </a:p>
        </p:txBody>
      </p:sp>
      <p:sp>
        <p:nvSpPr>
          <p:cNvPr id="45" name="ocean:body"/>
          <p:cNvSpPr/>
          <p:nvPr/>
        </p:nvSpPr>
        <p:spPr>
          <a:xfrm>
            <a:off x="8356397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Advertising, compute and future fleet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services.</a:t>
            </a:r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Excluded from the base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case.</a:t>
            </a:r>
            <a:endParaRPr lang="en-US" sz="1300" dirty="0"/>
          </a:p>
        </p:txBody>
      </p:sp>
      <p:sp>
        <p:nvSpPr>
          <p:cNvPr id="46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C:\Users\sctho\OneDrive\Documents\ChatGPT\ocean-brand-system\assets\logos\png\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79860" y="515112"/>
            <a:ext cx="660883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CAPITAL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Qualified sites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require evidence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PHYSICAL, UTILITY, COMMERCIAL AND OPERATING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CONDITIONS MUST SUPPORT DEPLOYMENT.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graphicFrame>
        <p:nvGraphicFramePr>
          <p:cNvPr id="13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TEST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EVIDENCE REQUIRED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Physical site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Access, parking, setbacks and a safe service area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Power and utility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Load, interconnection and the utility path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Commercial demand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Charging, fleet, tenant or compute use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Construction scope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Civil, electrical and site-cost clarity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Operating model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O&amp;M, billing, access and support plan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</a:tbl>
          </a:graphicData>
        </a:graphic>
      </p:graphicFrame>
      <p:sp>
        <p:nvSpPr>
          <p:cNvPr id="30" name="ocean:footnote"/>
          <p:cNvSpPr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FORWARD-LOOKING AND SUBJECT TO DILIGENCE; NOT A GUARANTEE OF RETURNS.</a:t>
            </a:r>
            <a:endParaRPr lang="en-US" sz="900" dirty="0"/>
          </a:p>
        </p:txBody>
      </p:sp>
      <p:sp>
        <p:nvSpPr>
          <p:cNvPr id="3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C:\Users\sctho\OneDrive\Documents\ChatGPT\ocean-brand-system\assets\textures\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cean:logo-graphic" descr="C:\Users\sctho\OneDrive\Documents\ChatGPT\ocean-brand-system\assets\logos\png\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548640" y="34015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1100" dirty="0"/>
          </a:p>
        </p:txBody>
      </p:sp>
      <p:sp>
        <p:nvSpPr>
          <p:cNvPr id="6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8</a:t>
            </a:r>
            <a:endParaRPr lang="en-US" sz="16500" dirty="0"/>
          </a:p>
        </p:txBody>
      </p:sp>
      <p:sp>
        <p:nvSpPr>
          <p:cNvPr id="7" name="ocean:statement"/>
          <p:cNvSpPr/>
          <p:nvPr/>
        </p:nvSpPr>
        <p:spPr>
          <a:xfrm>
            <a:off x="5458968" y="3931920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stage gates from</a:t>
            </a:r>
            <a:endParaRPr lang="en-US" sz="38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origination to monetization</a:t>
            </a:r>
            <a:endParaRPr lang="en-US" sz="3800" dirty="0"/>
          </a:p>
        </p:txBody>
      </p:sp>
      <p:sp>
        <p:nvSpPr>
          <p:cNvPr id="8" name="Shape 3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9" name="ocean:meta"/>
          <p:cNvSpPr/>
          <p:nvPr/>
        </p:nvSpPr>
        <p:spPr>
          <a:xfrm>
            <a:off x="548640" y="6134100"/>
            <a:ext cx="5800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BASIS</a:t>
            </a:r>
            <a:endParaRPr lang="en-US" sz="1000" dirty="0"/>
          </a:p>
        </p:txBody>
      </p:sp>
      <p:sp>
        <p:nvSpPr>
          <p:cNvPr id="10" name="ocean:meta"/>
          <p:cNvSpPr/>
          <p:nvPr/>
        </p:nvSpPr>
        <p:spPr>
          <a:xfrm>
            <a:off x="1238377" y="6134100"/>
            <a:ext cx="190842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PORTFOLIO PROCESS</a:t>
            </a:r>
            <a:endParaRPr lang="en-US" sz="1000" dirty="0"/>
          </a:p>
        </p:txBody>
      </p:sp>
      <p:sp>
        <p:nvSpPr>
          <p:cNvPr id="11" name="ocean:meta"/>
          <p:cNvSpPr/>
          <p:nvPr/>
        </p:nvSpPr>
        <p:spPr>
          <a:xfrm>
            <a:off x="3585718" y="61341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4412869" y="6134100"/>
            <a:ext cx="6409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DRAFT</a:t>
            </a:r>
            <a:endParaRPr lang="en-US" sz="1000" dirty="0"/>
          </a:p>
        </p:txBody>
      </p:sp>
      <p:sp>
        <p:nvSpPr>
          <p:cNvPr id="13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3" name="ocean:logo-horizontal" descr="C:\Users\sctho\OneDrive\Documents\ChatGPT\ocean-brand-system\assets\logos\png\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8077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705134" y="551688"/>
            <a:ext cx="6924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PIPELINE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5543868" y="551688"/>
            <a:ext cx="6608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CAPITAL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287046" y="515112"/>
            <a:ext cx="918858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6351054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INVESTOR DECK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1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NEXT STEPS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Milestone-based capital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MONETIZATION FOLLOWS STABILIZATION: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REFINANCE, SELL, RECAPITALIZE OR FORM JOINT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VENTURES.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9" name="ocean:label"/>
          <p:cNvSpPr/>
          <p:nvPr/>
        </p:nvSpPr>
        <p:spPr>
          <a:xfrm>
            <a:off x="548640" y="304495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CAPITAL SOUGHT</a:t>
            </a:r>
            <a:endParaRPr lang="en-US" sz="1050" dirty="0"/>
          </a:p>
        </p:txBody>
      </p:sp>
      <p:sp>
        <p:nvSpPr>
          <p:cNvPr id="30" name="ocean:metric"/>
          <p:cNvSpPr/>
          <p:nvPr/>
        </p:nvSpPr>
        <p:spPr>
          <a:xfrm>
            <a:off x="521208" y="33192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000" spc="-12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[TBD]</a:t>
            </a:r>
            <a:endParaRPr lang="en-US" sz="6000" dirty="0"/>
          </a:p>
        </p:txBody>
      </p:sp>
      <p:sp>
        <p:nvSpPr>
          <p:cNvPr id="31" name="Shape 28"/>
          <p:cNvSpPr/>
          <p:nvPr/>
        </p:nvSpPr>
        <p:spPr>
          <a:xfrm>
            <a:off x="548640" y="4370832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2" name="ocean:body"/>
          <p:cNvSpPr/>
          <p:nvPr/>
        </p:nvSpPr>
        <p:spPr>
          <a:xfrm>
            <a:off x="548640" y="4462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First funded asset</a:t>
            </a:r>
            <a:endParaRPr lang="en-US" sz="1300" dirty="0"/>
          </a:p>
        </p:txBody>
      </p:sp>
      <p:sp>
        <p:nvSpPr>
          <p:cNvPr id="33" name="ocean:body"/>
          <p:cNvSpPr/>
          <p:nvPr/>
        </p:nvSpPr>
        <p:spPr>
          <a:xfrm>
            <a:off x="4114800" y="44622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48640" y="4773168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5" name="ocean:body"/>
          <p:cNvSpPr/>
          <p:nvPr/>
        </p:nvSpPr>
        <p:spPr>
          <a:xfrm>
            <a:off x="548640" y="4864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Terms</a:t>
            </a:r>
            <a:endParaRPr lang="en-US" sz="1300" dirty="0"/>
          </a:p>
        </p:txBody>
      </p:sp>
      <p:sp>
        <p:nvSpPr>
          <p:cNvPr id="36" name="ocean:body"/>
          <p:cNvSpPr/>
          <p:nvPr/>
        </p:nvSpPr>
        <p:spPr>
          <a:xfrm>
            <a:off x="4114800" y="4864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7" name="ocean:frame"/>
          <p:cNvSpPr/>
          <p:nvPr/>
        </p:nvSpPr>
        <p:spPr>
          <a:xfrm>
            <a:off x="6217920" y="3044952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6400800" y="31546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00" dirty="0"/>
          </a:p>
        </p:txBody>
      </p:sp>
      <p:sp>
        <p:nvSpPr>
          <p:cNvPr id="40" name="ocean:body"/>
          <p:cNvSpPr/>
          <p:nvPr/>
        </p:nvSpPr>
        <p:spPr>
          <a:xfrm>
            <a:off x="6400800" y="3374136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Confirm investor mandate</a:t>
            </a:r>
            <a:endParaRPr lang="en-US" sz="1300" dirty="0"/>
          </a:p>
        </p:txBody>
      </p:sp>
      <p:sp>
        <p:nvSpPr>
          <p:cNvPr id="41" name="ocean:frame"/>
          <p:cNvSpPr/>
          <p:nvPr/>
        </p:nvSpPr>
        <p:spPr>
          <a:xfrm>
            <a:off x="6217920" y="3831336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3870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2473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6400800" y="3941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00" dirty="0"/>
          </a:p>
        </p:txBody>
      </p:sp>
      <p:sp>
        <p:nvSpPr>
          <p:cNvPr id="45" name="ocean:body"/>
          <p:cNvSpPr/>
          <p:nvPr/>
        </p:nvSpPr>
        <p:spPr>
          <a:xfrm>
            <a:off x="6400800" y="41605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Define first funded asset</a:t>
            </a:r>
            <a:endParaRPr lang="en-US" sz="1300" dirty="0"/>
          </a:p>
        </p:txBody>
      </p:sp>
      <p:sp>
        <p:nvSpPr>
          <p:cNvPr id="46" name="ocean:frame"/>
          <p:cNvSpPr/>
          <p:nvPr/>
        </p:nvSpPr>
        <p:spPr>
          <a:xfrm>
            <a:off x="6217920" y="4617720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13870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2473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1076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0" name="ocean:label"/>
          <p:cNvSpPr/>
          <p:nvPr/>
        </p:nvSpPr>
        <p:spPr>
          <a:xfrm>
            <a:off x="6400800" y="47274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00" dirty="0"/>
          </a:p>
        </p:txBody>
      </p:sp>
      <p:sp>
        <p:nvSpPr>
          <p:cNvPr id="51" name="ocean:body"/>
          <p:cNvSpPr/>
          <p:nvPr/>
        </p:nvSpPr>
        <p:spPr>
          <a:xfrm>
            <a:off x="6400800" y="4946904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Complete diligence package</a:t>
            </a:r>
            <a:endParaRPr lang="en-US" sz="1300" dirty="0"/>
          </a:p>
        </p:txBody>
      </p:sp>
      <p:sp>
        <p:nvSpPr>
          <p:cNvPr id="52" name="ocean:frame"/>
          <p:cNvSpPr/>
          <p:nvPr/>
        </p:nvSpPr>
        <p:spPr>
          <a:xfrm>
            <a:off x="6217920" y="5404104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387023" y="5532120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1247323" y="5532120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107623" y="5532120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967923" y="5532120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7" name="ocean:label"/>
          <p:cNvSpPr/>
          <p:nvPr/>
        </p:nvSpPr>
        <p:spPr>
          <a:xfrm>
            <a:off x="6400800" y="55138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04</a:t>
            </a:r>
            <a:endParaRPr lang="en-US" sz="1000" dirty="0"/>
          </a:p>
        </p:txBody>
      </p:sp>
      <p:sp>
        <p:nvSpPr>
          <p:cNvPr id="58" name="ocean:body"/>
          <p:cNvSpPr/>
          <p:nvPr/>
        </p:nvSpPr>
        <p:spPr>
          <a:xfrm>
            <a:off x="6400800" y="573328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 stage-gated capital</a:t>
            </a:r>
            <a:endParaRPr lang="en-US" sz="1300" dirty="0"/>
          </a:p>
        </p:txBody>
      </p:sp>
      <p:sp>
        <p:nvSpPr>
          <p:cNvPr id="5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graphic" descr="C:\Users\sctho\OneDrive\Documents\ChatGPT\ocean-brand-system\assets\logos\png\logo_graphic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548640" y="133502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NOTICE</a:t>
            </a:r>
            <a:endParaRPr lang="en-US" sz="1100" dirty="0"/>
          </a:p>
        </p:txBody>
      </p:sp>
      <p:sp>
        <p:nvSpPr>
          <p:cNvPr id="4" name="ocean:headline"/>
          <p:cNvSpPr/>
          <p:nvPr/>
        </p:nvSpPr>
        <p:spPr>
          <a:xfrm>
            <a:off x="530352" y="1572768"/>
            <a:ext cx="7315200" cy="578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Important notice</a:t>
            </a:r>
            <a:endParaRPr lang="en-US" sz="3500" dirty="0"/>
          </a:p>
        </p:txBody>
      </p:sp>
      <p:sp>
        <p:nvSpPr>
          <p:cNvPr id="5" name="Shape 2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notice"/>
          <p:cNvSpPr/>
          <p:nvPr/>
        </p:nvSpPr>
        <p:spPr>
          <a:xfrm>
            <a:off x="7022592" y="3044952"/>
            <a:ext cx="460217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This presentation is confidential and is provided for discussion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purposes only. It is not an offer to sell or a solicitation of an offer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 buy any security. Any project, equipment acquisition,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incentive, utility service, fleet relationship, charging utilization,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compute deployment, financial return or exit transaction is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subject to final diligence, written agreements and applicable law.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is the market-facing operating brand for the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platform. Project-specific legal entities may be formed at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equipment acquisition, property closing, financing or operations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launch. Forward-looking statements, projections and estimates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are not guarantees. Do not copy, forward or distribute without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the written consent of Ocean RCS.</a:t>
            </a:r>
            <a:endParaRPr lang="en-US" sz="12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DRAFT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C:\Users\sctho\OneDrive\Documents\ChatGPT\ocean-brand-system\assets\textures\tex_deck_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C:\Users\sctho\OneDrive\Documents\ChatGPT\ocean-brand-system\assets\logos\png\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Mobility &amp; Energy Platform</dc:title>
  <dc:subject>Built with ocean-brand-system lib/ocean.js</dc:subject>
  <dc:creator>Ocean RCS</dc:creator>
  <cp:lastModifiedBy>Ocean RCS</cp:lastModifiedBy>
  <cp:revision>1</cp:revision>
  <dcterms:created xsi:type="dcterms:W3CDTF">2026-09-27T10:17:47Z</dcterms:created>
  <dcterms:modified xsi:type="dcterms:W3CDTF">2026-09-27T10:17:47Z</dcterms:modified>
</cp:coreProperties>
</file>