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series</c:v>
                </c:pt>
              </c:strCache>
            </c:strRef>
          </c:tx>
          <c:spPr>
            <a:solidFill>
              <a:srgbClr val="1B403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617"/>
                    </a:solidFill>
                    <a:latin typeface="Stack Sans Headlin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403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18C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24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2B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B1617"/>
                  </a:solidFill>
                  <a:latin typeface="Stack Sans Headlin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617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E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617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ocean:cover"/>
          <p:cNvSpPr/>
          <p:nvPr/>
        </p:nvSpPr>
        <p:spPr>
          <a:xfrm>
            <a:off x="548640" y="1847088"/>
            <a:ext cx="1109441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clear story.</a:t>
            </a:r>
            <a:endParaRPr lang="en-US" sz="4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page considered.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548640" y="4535424"/>
            <a:ext cx="7680960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8" name="ocean:subhead"/>
          <p:cNvSpPr/>
          <p:nvPr/>
        </p:nvSpPr>
        <p:spPr>
          <a:xfrm>
            <a:off x="548640" y="47731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/ Renewable Connected Systems</a:t>
            </a:r>
            <a:endParaRPr lang="en-US" sz="1800" dirty="0"/>
          </a:p>
        </p:txBody>
      </p:sp>
      <p:sp>
        <p:nvSpPr>
          <p:cNvPr id="9" name="ocean:label"/>
          <p:cNvSpPr/>
          <p:nvPr/>
        </p:nvSpPr>
        <p:spPr>
          <a:xfrm>
            <a:off x="548640" y="5760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Publication system /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ocean:metric"/>
          <p:cNvSpPr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618C7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54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Clarity starts with structure</a:t>
            </a:r>
            <a:endParaRPr lang="en-US" sz="3600" dirty="0"/>
          </a:p>
        </p:txBody>
      </p:sp>
      <p:sp>
        <p:nvSpPr>
          <p:cNvPr id="8" name="ocean:subhead"/>
          <p:cNvSpPr/>
          <p:nvPr/>
        </p:nvSpPr>
        <p:spPr>
          <a:xfrm>
            <a:off x="548640" y="46177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shared visual language for presentations, proposals and reports.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EDITORIAL STANDARD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The evidence leads the page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8595360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9" name="ocean:statement"/>
          <p:cNvSpPr/>
          <p:nvPr/>
        </p:nvSpPr>
        <p:spPr>
          <a:xfrm>
            <a:off x="548640" y="2697480"/>
            <a:ext cx="8595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Make the important information easy to find. Use scale,</a:t>
            </a:r>
            <a:endParaRPr lang="en-US" sz="2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spacing and a clear hierarchy to guide the reader.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CHOOSE THE RIGHT FORMAT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presentation and a report serve different reading needs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5250028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9" name="ocean:section"/>
          <p:cNvSpPr/>
          <p:nvPr/>
        </p:nvSpPr>
        <p:spPr>
          <a:xfrm>
            <a:off x="548640" y="2560320"/>
            <a:ext cx="5250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Presentation</a:t>
            </a:r>
            <a:endParaRPr lang="en-US" sz="2000" dirty="0"/>
          </a:p>
        </p:txBody>
      </p:sp>
      <p:sp>
        <p:nvSpPr>
          <p:cNvPr id="10" name="ocean:body"/>
          <p:cNvSpPr/>
          <p:nvPr/>
        </p:nvSpPr>
        <p:spPr>
          <a:xfrm>
            <a:off x="548640" y="3246120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idea per slide</a:t>
            </a:r>
            <a:endParaRPr lang="en-US" sz="1700" dirty="0"/>
          </a:p>
        </p:txBody>
      </p:sp>
      <p:sp>
        <p:nvSpPr>
          <p:cNvPr id="11" name="ocean:body"/>
          <p:cNvSpPr/>
          <p:nvPr/>
        </p:nvSpPr>
        <p:spPr>
          <a:xfrm>
            <a:off x="548640" y="4041648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concise narrative for a meeting</a:t>
            </a:r>
            <a:endParaRPr lang="en-US" sz="1700" dirty="0"/>
          </a:p>
        </p:txBody>
      </p:sp>
      <p:sp>
        <p:nvSpPr>
          <p:cNvPr id="12" name="ocean:body"/>
          <p:cNvSpPr/>
          <p:nvPr/>
        </p:nvSpPr>
        <p:spPr>
          <a:xfrm>
            <a:off x="548640" y="4837176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Editable charts and supporting appendix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393028" y="2331720"/>
            <a:ext cx="5250028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14" name="ocean:section"/>
          <p:cNvSpPr/>
          <p:nvPr/>
        </p:nvSpPr>
        <p:spPr>
          <a:xfrm>
            <a:off x="6393028" y="2560320"/>
            <a:ext cx="5250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Proposal or report</a:t>
            </a:r>
            <a:endParaRPr lang="en-US" sz="2000" dirty="0"/>
          </a:p>
        </p:txBody>
      </p:sp>
      <p:sp>
        <p:nvSpPr>
          <p:cNvPr id="15" name="ocean:body"/>
          <p:cNvSpPr/>
          <p:nvPr/>
        </p:nvSpPr>
        <p:spPr>
          <a:xfrm>
            <a:off x="6393028" y="3246120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Enough detail to make a decision</a:t>
            </a:r>
            <a:endParaRPr lang="en-US" sz="1700" dirty="0"/>
          </a:p>
        </p:txBody>
      </p:sp>
      <p:sp>
        <p:nvSpPr>
          <p:cNvPr id="16" name="ocean:body"/>
          <p:cNvSpPr/>
          <p:nvPr/>
        </p:nvSpPr>
        <p:spPr>
          <a:xfrm>
            <a:off x="6393028" y="4041648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Flowing text with clear scope and evidence</a:t>
            </a:r>
            <a:endParaRPr lang="en-US" sz="1700" dirty="0"/>
          </a:p>
        </p:txBody>
      </p:sp>
      <p:sp>
        <p:nvSpPr>
          <p:cNvPr id="17" name="ocean:body"/>
          <p:cNvSpPr/>
          <p:nvPr/>
        </p:nvSpPr>
        <p:spPr>
          <a:xfrm>
            <a:off x="6393028" y="4837176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Readable pages designed for PDF delivery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SHARED DESIGN LANGUAGE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consistent system with room for the content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9" name="ocean:label"/>
          <p:cNvSpPr/>
          <p:nvPr/>
        </p:nvSpPr>
        <p:spPr>
          <a:xfrm>
            <a:off x="548640" y="2532888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ocean:section"/>
          <p:cNvSpPr/>
          <p:nvPr/>
        </p:nvSpPr>
        <p:spPr>
          <a:xfrm>
            <a:off x="548640" y="310896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Typography</a:t>
            </a:r>
            <a:endParaRPr lang="en-US" sz="2200" dirty="0"/>
          </a:p>
        </p:txBody>
      </p:sp>
      <p:sp>
        <p:nvSpPr>
          <p:cNvPr id="11" name="ocean:body"/>
          <p:cNvSpPr/>
          <p:nvPr/>
        </p:nvSpPr>
        <p:spPr>
          <a:xfrm>
            <a:off x="548640" y="411480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Stack Sans Headline sets the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hierarchy. Font size follows the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reading format.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99178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3" name="ocean:label"/>
          <p:cNvSpPr/>
          <p:nvPr/>
        </p:nvSpPr>
        <p:spPr>
          <a:xfrm>
            <a:off x="4399178" y="2532888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ocean:section"/>
          <p:cNvSpPr/>
          <p:nvPr/>
        </p:nvSpPr>
        <p:spPr>
          <a:xfrm>
            <a:off x="4399178" y="310896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Color</a:t>
            </a:r>
            <a:endParaRPr lang="en-US" sz="2200" dirty="0"/>
          </a:p>
        </p:txBody>
      </p:sp>
      <p:sp>
        <p:nvSpPr>
          <p:cNvPr id="15" name="ocean:body"/>
          <p:cNvSpPr/>
          <p:nvPr/>
        </p:nvSpPr>
        <p:spPr>
          <a:xfrm>
            <a:off x="4399178" y="411480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White creates space. Blackmoss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carries the message. Sage adds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restrained emphasis.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249717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7" name="ocean:label"/>
          <p:cNvSpPr/>
          <p:nvPr/>
        </p:nvSpPr>
        <p:spPr>
          <a:xfrm>
            <a:off x="8249717" y="2532888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ocean:section"/>
          <p:cNvSpPr/>
          <p:nvPr/>
        </p:nvSpPr>
        <p:spPr>
          <a:xfrm>
            <a:off x="8249717" y="310896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</a:t>
            </a:r>
            <a:endParaRPr lang="en-US" sz="2200" dirty="0"/>
          </a:p>
        </p:txBody>
      </p:sp>
      <p:sp>
        <p:nvSpPr>
          <p:cNvPr id="19" name="ocean:body"/>
          <p:cNvSpPr/>
          <p:nvPr/>
        </p:nvSpPr>
        <p:spPr>
          <a:xfrm>
            <a:off x="8249717" y="411480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Tables, charts and real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photographs explain something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specific.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TYPE SCALE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Scale gives the reader a clear entry point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423160"/>
            <a:ext cx="2430704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9" name="ocean:metric"/>
          <p:cNvSpPr/>
          <p:nvPr/>
        </p:nvSpPr>
        <p:spPr>
          <a:xfrm>
            <a:off x="548640" y="278892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48</a:t>
            </a:r>
            <a:endParaRPr lang="en-US" sz="4000" dirty="0"/>
          </a:p>
        </p:txBody>
      </p:sp>
      <p:sp>
        <p:nvSpPr>
          <p:cNvPr id="10" name="ocean:body"/>
          <p:cNvSpPr/>
          <p:nvPr/>
        </p:nvSpPr>
        <p:spPr>
          <a:xfrm>
            <a:off x="548640" y="3931920"/>
            <a:ext cx="243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Cover title</a:t>
            </a:r>
            <a:endParaRPr lang="en-US" sz="1700" dirty="0"/>
          </a:p>
        </p:txBody>
      </p:sp>
      <p:sp>
        <p:nvSpPr>
          <p:cNvPr id="11" name="ocean:label"/>
          <p:cNvSpPr/>
          <p:nvPr/>
        </p:nvSpPr>
        <p:spPr>
          <a:xfrm>
            <a:off x="548640" y="4983480"/>
            <a:ext cx="243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Points / presentation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36544" y="2423160"/>
            <a:ext cx="2430704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3" name="ocean:metric"/>
          <p:cNvSpPr/>
          <p:nvPr/>
        </p:nvSpPr>
        <p:spPr>
          <a:xfrm>
            <a:off x="3436544" y="278892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32</a:t>
            </a:r>
            <a:endParaRPr lang="en-US" sz="4000" dirty="0"/>
          </a:p>
        </p:txBody>
      </p:sp>
      <p:sp>
        <p:nvSpPr>
          <p:cNvPr id="14" name="ocean:body"/>
          <p:cNvSpPr/>
          <p:nvPr/>
        </p:nvSpPr>
        <p:spPr>
          <a:xfrm>
            <a:off x="3436544" y="3931920"/>
            <a:ext cx="243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Page headline</a:t>
            </a:r>
            <a:endParaRPr lang="en-US" sz="1700" dirty="0"/>
          </a:p>
        </p:txBody>
      </p:sp>
      <p:sp>
        <p:nvSpPr>
          <p:cNvPr id="15" name="ocean:label"/>
          <p:cNvSpPr/>
          <p:nvPr/>
        </p:nvSpPr>
        <p:spPr>
          <a:xfrm>
            <a:off x="3436544" y="4983480"/>
            <a:ext cx="243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Points / presentation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324448" y="2423160"/>
            <a:ext cx="2430704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7" name="ocean:metric"/>
          <p:cNvSpPr/>
          <p:nvPr/>
        </p:nvSpPr>
        <p:spPr>
          <a:xfrm>
            <a:off x="6324448" y="278892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17</a:t>
            </a:r>
            <a:endParaRPr lang="en-US" sz="4000" dirty="0"/>
          </a:p>
        </p:txBody>
      </p:sp>
      <p:sp>
        <p:nvSpPr>
          <p:cNvPr id="18" name="ocean:body"/>
          <p:cNvSpPr/>
          <p:nvPr/>
        </p:nvSpPr>
        <p:spPr>
          <a:xfrm>
            <a:off x="6324448" y="3931920"/>
            <a:ext cx="243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Body copy</a:t>
            </a:r>
            <a:endParaRPr lang="en-US" sz="1700" dirty="0"/>
          </a:p>
        </p:txBody>
      </p:sp>
      <p:sp>
        <p:nvSpPr>
          <p:cNvPr id="19" name="ocean:label"/>
          <p:cNvSpPr/>
          <p:nvPr/>
        </p:nvSpPr>
        <p:spPr>
          <a:xfrm>
            <a:off x="6324448" y="4983480"/>
            <a:ext cx="243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Points / presentation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212351" y="2423160"/>
            <a:ext cx="2430704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21" name="ocean:metric"/>
          <p:cNvSpPr/>
          <p:nvPr/>
        </p:nvSpPr>
        <p:spPr>
          <a:xfrm>
            <a:off x="9212351" y="278892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4000" dirty="0"/>
          </a:p>
        </p:txBody>
      </p:sp>
      <p:sp>
        <p:nvSpPr>
          <p:cNvPr id="22" name="ocean:body"/>
          <p:cNvSpPr/>
          <p:nvPr/>
        </p:nvSpPr>
        <p:spPr>
          <a:xfrm>
            <a:off x="9212351" y="3931920"/>
            <a:ext cx="243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Report prose</a:t>
            </a:r>
            <a:endParaRPr lang="en-US" sz="1700" dirty="0"/>
          </a:p>
        </p:txBody>
      </p:sp>
      <p:sp>
        <p:nvSpPr>
          <p:cNvPr id="23" name="ocean:label"/>
          <p:cNvSpPr/>
          <p:nvPr/>
        </p:nvSpPr>
        <p:spPr>
          <a:xfrm>
            <a:off x="9212351" y="4983480"/>
            <a:ext cx="243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Points / Letter document</a:t>
            </a:r>
            <a:endParaRPr lang="en-US" sz="1300" dirty="0"/>
          </a:p>
        </p:txBody>
      </p:sp>
      <p:sp>
        <p:nvSpPr>
          <p:cNvPr id="24" name="ocean:footnote"/>
          <p:cNvSpPr/>
          <p:nvPr/>
        </p:nvSpPr>
        <p:spPr>
          <a:xfrm>
            <a:off x="548640" y="5925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Design specifications only. These values are not business metrics.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repeatable path from brief to final PDF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9" name="ocean:label"/>
          <p:cNvSpPr/>
          <p:nvPr/>
        </p:nvSpPr>
        <p:spPr>
          <a:xfrm>
            <a:off x="548640" y="2331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/ Brief</a:t>
            </a:r>
            <a:endParaRPr lang="en-US" sz="1300" dirty="0"/>
          </a:p>
        </p:txBody>
      </p:sp>
      <p:sp>
        <p:nvSpPr>
          <p:cNvPr id="10" name="ocean:section"/>
          <p:cNvSpPr/>
          <p:nvPr/>
        </p:nvSpPr>
        <p:spPr>
          <a:xfrm>
            <a:off x="548640" y="320040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Define the decision</a:t>
            </a:r>
            <a:endParaRPr lang="en-US" sz="2000" dirty="0"/>
          </a:p>
        </p:txBody>
      </p:sp>
      <p:sp>
        <p:nvSpPr>
          <p:cNvPr id="11" name="ocean:body"/>
          <p:cNvSpPr/>
          <p:nvPr/>
        </p:nvSpPr>
        <p:spPr>
          <a:xfrm>
            <a:off x="548640" y="4160520"/>
            <a:ext cx="2499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Identify the audience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the evidence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needed.</a:t>
            </a:r>
            <a:endParaRPr lang="en-US" sz="1700" dirty="0"/>
          </a:p>
        </p:txBody>
      </p:sp>
      <p:sp>
        <p:nvSpPr>
          <p:cNvPr id="12" name="ocean:label"/>
          <p:cNvSpPr/>
          <p:nvPr/>
        </p:nvSpPr>
        <p:spPr>
          <a:xfrm>
            <a:off x="3413684" y="2331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/ Compose</a:t>
            </a:r>
            <a:endParaRPr lang="en-US" sz="1300" dirty="0"/>
          </a:p>
        </p:txBody>
      </p:sp>
      <p:sp>
        <p:nvSpPr>
          <p:cNvPr id="13" name="ocean:section"/>
          <p:cNvSpPr/>
          <p:nvPr/>
        </p:nvSpPr>
        <p:spPr>
          <a:xfrm>
            <a:off x="3413684" y="320040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Build the narrative</a:t>
            </a:r>
            <a:endParaRPr lang="en-US" sz="2000" dirty="0"/>
          </a:p>
        </p:txBody>
      </p:sp>
      <p:sp>
        <p:nvSpPr>
          <p:cNvPr id="14" name="ocean:body"/>
          <p:cNvSpPr/>
          <p:nvPr/>
        </p:nvSpPr>
        <p:spPr>
          <a:xfrm>
            <a:off x="3413684" y="4160520"/>
            <a:ext cx="2499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Select layouts that fit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the content.</a:t>
            </a:r>
            <a:endParaRPr lang="en-US" sz="1700" dirty="0"/>
          </a:p>
        </p:txBody>
      </p:sp>
      <p:sp>
        <p:nvSpPr>
          <p:cNvPr id="15" name="ocean:label"/>
          <p:cNvSpPr/>
          <p:nvPr/>
        </p:nvSpPr>
        <p:spPr>
          <a:xfrm>
            <a:off x="6278728" y="2331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/ Verify</a:t>
            </a:r>
            <a:endParaRPr lang="en-US" sz="1300" dirty="0"/>
          </a:p>
        </p:txBody>
      </p:sp>
      <p:sp>
        <p:nvSpPr>
          <p:cNvPr id="16" name="ocean:section"/>
          <p:cNvSpPr/>
          <p:nvPr/>
        </p:nvSpPr>
        <p:spPr>
          <a:xfrm>
            <a:off x="6278728" y="320040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Inspect every page</a:t>
            </a:r>
            <a:endParaRPr lang="en-US" sz="2000" dirty="0"/>
          </a:p>
        </p:txBody>
      </p:sp>
      <p:sp>
        <p:nvSpPr>
          <p:cNvPr id="17" name="ocean:body"/>
          <p:cNvSpPr/>
          <p:nvPr/>
        </p:nvSpPr>
        <p:spPr>
          <a:xfrm>
            <a:off x="6278728" y="4160520"/>
            <a:ext cx="2499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Check fonts, fit,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 and visual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balance.</a:t>
            </a:r>
            <a:endParaRPr lang="en-US" sz="1700" dirty="0"/>
          </a:p>
        </p:txBody>
      </p:sp>
      <p:sp>
        <p:nvSpPr>
          <p:cNvPr id="18" name="ocean:label"/>
          <p:cNvSpPr/>
          <p:nvPr/>
        </p:nvSpPr>
        <p:spPr>
          <a:xfrm>
            <a:off x="9143771" y="2331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/ Deliver</a:t>
            </a:r>
            <a:endParaRPr lang="en-US" sz="1300" dirty="0"/>
          </a:p>
        </p:txBody>
      </p:sp>
      <p:sp>
        <p:nvSpPr>
          <p:cNvPr id="19" name="ocean:section"/>
          <p:cNvSpPr/>
          <p:nvPr/>
        </p:nvSpPr>
        <p:spPr>
          <a:xfrm>
            <a:off x="9143771" y="320040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Share the final</a:t>
            </a:r>
            <a:endParaRPr lang="en-US" sz="2000" dirty="0"/>
          </a:p>
        </p:txBody>
      </p:sp>
      <p:sp>
        <p:nvSpPr>
          <p:cNvPr id="20" name="ocean:body"/>
          <p:cNvSpPr/>
          <p:nvPr/>
        </p:nvSpPr>
        <p:spPr>
          <a:xfrm>
            <a:off x="9143771" y="4160520"/>
            <a:ext cx="2499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Provide a verified PDF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editable source.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COLOR ROLES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The same palette, used with more restraint</a:t>
            </a:r>
            <a:endParaRPr lang="en-US" sz="3200" dirty="0"/>
          </a:p>
        </p:txBody>
      </p:sp>
      <p:graphicFrame>
        <p:nvGraphicFramePr>
          <p:cNvPr id="9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5608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Role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Color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Primary use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Canvas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White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Open backgrounds and light covers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Primary ink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Blackmoss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Headlines, prose and numbers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Accent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Sage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Large emphasis and restrained rules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Secondary ink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Cedar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Small labels and supporting copy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Structure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Peacock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Table headers and chart series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EDITABLE EVIDENCE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Charts explain a comparison without decoration</a:t>
            </a:r>
            <a:endParaRPr lang="en-US" sz="3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31720"/>
          <a:ext cx="73152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8366760" y="2331720"/>
            <a:ext cx="3273552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10" name="ocean:body"/>
          <p:cNvSpPr/>
          <p:nvPr/>
        </p:nvSpPr>
        <p:spPr>
          <a:xfrm>
            <a:off x="8366760" y="2606040"/>
            <a:ext cx="32735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direct units and a visible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source. Keep the key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comparison easy to read.</a:t>
            </a:r>
            <a:endParaRPr lang="en-US" sz="1800" dirty="0"/>
          </a:p>
        </p:txBody>
      </p:sp>
      <p:sp>
        <p:nvSpPr>
          <p:cNvPr id="11" name="ocean:footnote"/>
          <p:cNvSpPr/>
          <p:nvPr/>
        </p:nvSpPr>
        <p:spPr>
          <a:xfrm>
            <a:off x="548640" y="5925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DESIGN DATA ONLY. Not a forecast or Ocean performance claim.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PROJECT EVIDENCE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case study begins with verified facts</a:t>
            </a:r>
            <a:endParaRPr lang="en-US" sz="3200" dirty="0"/>
          </a:p>
        </p:txBody>
      </p:sp>
      <p:sp>
        <p:nvSpPr>
          <p:cNvPr id="8" name="ocean:label"/>
          <p:cNvSpPr/>
          <p:nvPr/>
        </p:nvSpPr>
        <p:spPr>
          <a:xfrm>
            <a:off x="548640" y="2331720"/>
            <a:ext cx="4437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Identity</a:t>
            </a:r>
            <a:endParaRPr lang="en-US" sz="1300" dirty="0"/>
          </a:p>
        </p:txBody>
      </p:sp>
      <p:sp>
        <p:nvSpPr>
          <p:cNvPr id="9" name="ocean:body"/>
          <p:cNvSpPr/>
          <p:nvPr/>
        </p:nvSpPr>
        <p:spPr>
          <a:xfrm>
            <a:off x="5319239" y="2331720"/>
            <a:ext cx="63238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Name the actual project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843784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1" name="ocean:label"/>
          <p:cNvSpPr/>
          <p:nvPr/>
        </p:nvSpPr>
        <p:spPr>
          <a:xfrm>
            <a:off x="548640" y="2944368"/>
            <a:ext cx="4437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Scope</a:t>
            </a:r>
            <a:endParaRPr lang="en-US" sz="1300" dirty="0"/>
          </a:p>
        </p:txBody>
      </p:sp>
      <p:sp>
        <p:nvSpPr>
          <p:cNvPr id="12" name="ocean:body"/>
          <p:cNvSpPr/>
          <p:nvPr/>
        </p:nvSpPr>
        <p:spPr>
          <a:xfrm>
            <a:off x="5319239" y="2944368"/>
            <a:ext cx="63238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State the delivered work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48640" y="3456432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4" name="ocean:label"/>
          <p:cNvSpPr/>
          <p:nvPr/>
        </p:nvSpPr>
        <p:spPr>
          <a:xfrm>
            <a:off x="548640" y="3557016"/>
            <a:ext cx="4437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Status</a:t>
            </a:r>
            <a:endParaRPr lang="en-US" sz="1300" dirty="0"/>
          </a:p>
        </p:txBody>
      </p:sp>
      <p:sp>
        <p:nvSpPr>
          <p:cNvPr id="15" name="ocean:body"/>
          <p:cNvSpPr/>
          <p:nvPr/>
        </p:nvSpPr>
        <p:spPr>
          <a:xfrm>
            <a:off x="5319239" y="3557016"/>
            <a:ext cx="63238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Distinguish planned and completed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069080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7" name="ocean:label"/>
          <p:cNvSpPr/>
          <p:nvPr/>
        </p:nvSpPr>
        <p:spPr>
          <a:xfrm>
            <a:off x="548640" y="4169664"/>
            <a:ext cx="4437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Source</a:t>
            </a:r>
            <a:endParaRPr lang="en-US" sz="1300" dirty="0"/>
          </a:p>
        </p:txBody>
      </p:sp>
      <p:sp>
        <p:nvSpPr>
          <p:cNvPr id="18" name="ocean:body"/>
          <p:cNvSpPr/>
          <p:nvPr/>
        </p:nvSpPr>
        <p:spPr>
          <a:xfrm>
            <a:off x="5319239" y="4169664"/>
            <a:ext cx="63238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Link the supporting record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48640" y="46817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20" name="ocean:body"/>
          <p:cNvSpPr/>
          <p:nvPr/>
        </p:nvSpPr>
        <p:spPr>
          <a:xfrm>
            <a:off x="548640" y="5010912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Add a real project photograph when available. Never create a synthetic site to imply execution.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 OVERVIEW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Credibility comes from specific responsibilities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9" name="ocean:section"/>
          <p:cNvSpPr/>
          <p:nvPr/>
        </p:nvSpPr>
        <p:spPr>
          <a:xfrm>
            <a:off x="548640" y="269748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10" name="ocean:label"/>
          <p:cNvSpPr/>
          <p:nvPr/>
        </p:nvSpPr>
        <p:spPr>
          <a:xfrm>
            <a:off x="548640" y="3566160"/>
            <a:ext cx="33933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RESPONSIBILITY</a:t>
            </a:r>
            <a:endParaRPr lang="en-US" sz="1300" dirty="0"/>
          </a:p>
        </p:txBody>
      </p:sp>
      <p:sp>
        <p:nvSpPr>
          <p:cNvPr id="11" name="ocean:body"/>
          <p:cNvSpPr/>
          <p:nvPr/>
        </p:nvSpPr>
        <p:spPr>
          <a:xfrm>
            <a:off x="548640" y="429768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a verified name, role and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concise record of relevant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experience.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99178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3" name="ocean:section"/>
          <p:cNvSpPr/>
          <p:nvPr/>
        </p:nvSpPr>
        <p:spPr>
          <a:xfrm>
            <a:off x="4399178" y="269748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14" name="ocean:label"/>
          <p:cNvSpPr/>
          <p:nvPr/>
        </p:nvSpPr>
        <p:spPr>
          <a:xfrm>
            <a:off x="4399178" y="3566160"/>
            <a:ext cx="33933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DELIVERY RESPONSIBILITY</a:t>
            </a:r>
            <a:endParaRPr lang="en-US" sz="1300" dirty="0"/>
          </a:p>
        </p:txBody>
      </p:sp>
      <p:sp>
        <p:nvSpPr>
          <p:cNvPr id="15" name="ocean:body"/>
          <p:cNvSpPr/>
          <p:nvPr/>
        </p:nvSpPr>
        <p:spPr>
          <a:xfrm>
            <a:off x="4399178" y="429768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Explain the work this person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owns. Avoid inflated descriptions.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249717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7" name="ocean:section"/>
          <p:cNvSpPr/>
          <p:nvPr/>
        </p:nvSpPr>
        <p:spPr>
          <a:xfrm>
            <a:off x="8249717" y="269748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18" name="ocean:label"/>
          <p:cNvSpPr/>
          <p:nvPr/>
        </p:nvSpPr>
        <p:spPr>
          <a:xfrm>
            <a:off x="8249717" y="3566160"/>
            <a:ext cx="33933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 RESPONSIBILITY</a:t>
            </a:r>
            <a:endParaRPr lang="en-US" sz="1300" dirty="0"/>
          </a:p>
        </p:txBody>
      </p:sp>
      <p:sp>
        <p:nvSpPr>
          <p:cNvPr id="19" name="ocean:body"/>
          <p:cNvSpPr/>
          <p:nvPr/>
        </p:nvSpPr>
        <p:spPr>
          <a:xfrm>
            <a:off x="8249717" y="429768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Include confirmed qualifications.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a supplied headshot or no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photo.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ACTION</a:t>
            </a:r>
            <a:endParaRPr lang="en-US" sz="1300" dirty="0"/>
          </a:p>
        </p:txBody>
      </p:sp>
      <p:sp>
        <p:nvSpPr>
          <p:cNvPr id="8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Close with the decision and its supporting steps</a:t>
            </a:r>
            <a:endParaRPr lang="en-US" sz="3200" dirty="0"/>
          </a:p>
        </p:txBody>
      </p:sp>
      <p:sp>
        <p:nvSpPr>
          <p:cNvPr id="9" name="ocean:metric"/>
          <p:cNvSpPr/>
          <p:nvPr/>
        </p:nvSpPr>
        <p:spPr>
          <a:xfrm>
            <a:off x="548640" y="23317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4800" dirty="0"/>
          </a:p>
        </p:txBody>
      </p:sp>
      <p:sp>
        <p:nvSpPr>
          <p:cNvPr id="10" name="ocean:body"/>
          <p:cNvSpPr/>
          <p:nvPr/>
        </p:nvSpPr>
        <p:spPr>
          <a:xfrm>
            <a:off x="548640" y="34747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Verified project amount</a:t>
            </a:r>
            <a:endParaRPr lang="en-US" sz="1700" dirty="0"/>
          </a:p>
        </p:txBody>
      </p:sp>
      <p:sp>
        <p:nvSpPr>
          <p:cNvPr id="11" name="ocean:body"/>
          <p:cNvSpPr/>
          <p:nvPr/>
        </p:nvSpPr>
        <p:spPr>
          <a:xfrm>
            <a:off x="548640" y="4160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600" dirty="0"/>
          </a:p>
        </p:txBody>
      </p:sp>
      <p:sp>
        <p:nvSpPr>
          <p:cNvPr id="12" name="ocean:body"/>
          <p:cNvSpPr/>
          <p:nvPr/>
        </p:nvSpPr>
        <p:spPr>
          <a:xfrm>
            <a:off x="4114800" y="4160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600" dirty="0"/>
          </a:p>
        </p:txBody>
      </p:sp>
      <p:sp>
        <p:nvSpPr>
          <p:cNvPr id="13" name="ocean:body"/>
          <p:cNvSpPr/>
          <p:nvPr/>
        </p:nvSpPr>
        <p:spPr>
          <a:xfrm>
            <a:off x="548640" y="4572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600" dirty="0"/>
          </a:p>
        </p:txBody>
      </p:sp>
      <p:sp>
        <p:nvSpPr>
          <p:cNvPr id="14" name="ocean:body"/>
          <p:cNvSpPr/>
          <p:nvPr/>
        </p:nvSpPr>
        <p:spPr>
          <a:xfrm>
            <a:off x="4114800" y="4572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0" y="2331720"/>
            <a:ext cx="5239512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16" name="ocean:body"/>
          <p:cNvSpPr/>
          <p:nvPr/>
        </p:nvSpPr>
        <p:spPr>
          <a:xfrm>
            <a:off x="6400800" y="2651760"/>
            <a:ext cx="5239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1. Review the evidence</a:t>
            </a:r>
            <a:endParaRPr lang="en-US" sz="1700" dirty="0"/>
          </a:p>
        </p:txBody>
      </p:sp>
      <p:sp>
        <p:nvSpPr>
          <p:cNvPr id="17" name="ocean:body"/>
          <p:cNvSpPr/>
          <p:nvPr/>
        </p:nvSpPr>
        <p:spPr>
          <a:xfrm>
            <a:off x="6400800" y="3401568"/>
            <a:ext cx="5239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2. Resolve open assumptions</a:t>
            </a:r>
            <a:endParaRPr lang="en-US" sz="1700" dirty="0"/>
          </a:p>
        </p:txBody>
      </p:sp>
      <p:sp>
        <p:nvSpPr>
          <p:cNvPr id="18" name="ocean:body"/>
          <p:cNvSpPr/>
          <p:nvPr/>
        </p:nvSpPr>
        <p:spPr>
          <a:xfrm>
            <a:off x="6400800" y="4151376"/>
            <a:ext cx="5239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3. Confirm the agreed next action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143000" cy="31912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Keep useful detail accessible</a:t>
            </a:r>
            <a:endParaRPr lang="en-US" sz="3200" dirty="0"/>
          </a:p>
        </p:txBody>
      </p:sp>
      <p:graphicFrame>
        <p:nvGraphicFramePr>
          <p:cNvPr id="14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029200"/>
                <a:gridCol w="3322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Record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Include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Purpose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Source register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Document, date and owner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Trace each important claim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Assumptions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Input, basis and limitation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Show what remains uncertain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Technical detail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Relevant scope and specifications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Support diligence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Commercial terms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Verified inclusions and exclusions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Make boundaries explicit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publication system</dc:title>
  <dc:subject>PptxGenJS Presentation</dc:subject>
  <dc:creator>PptxGenJS</dc:creator>
  <cp:lastModifiedBy>PptxGenJS</cp:lastModifiedBy>
  <cp:revision>1</cp:revision>
  <dcterms:created xsi:type="dcterms:W3CDTF">2026-09-26T03:12:10Z</dcterms:created>
  <dcterms:modified xsi:type="dcterms:W3CDTF">2026-09-26T03:12:10Z</dcterms:modified>
</cp:coreProperties>
</file>