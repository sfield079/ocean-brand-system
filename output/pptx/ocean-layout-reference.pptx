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Illustrative series</c:v>
                </c:pt>
              </c:strCache>
            </c:strRef>
          </c:tx>
          <c:spPr>
            <a:solidFill>
              <a:srgbClr val="1B403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0B1617"/>
                    </a:solidFill>
                    <a:latin typeface="Stack Sans Headline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B4039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618C7C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02426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A9C2B8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A</c:v>
                  </c:pt>
                  <c:pt idx="1">
                    <c:v>B</c:v>
                  </c:pt>
                  <c:pt idx="2">
                    <c:v>C</c:v>
                  </c:pt>
                  <c:pt idx="3">
                    <c:v>D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</c:v>
                </c:pt>
                <c:pt idx="1">
                  <c:v>4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300" u="none">
                  <a:solidFill>
                    <a:srgbClr val="0B1617"/>
                  </a:solidFill>
                  <a:latin typeface="Stack Sans Headline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0B1617"/>
                </a:solidFill>
                <a:latin typeface="Stack Sans Headline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5DED9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0B1617"/>
                </a:solidFill>
                <a:latin typeface="Stack Sans Headline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Draft layout placeholder. Release mode blocks unresolved values.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cean:logo" descr="C:\Users\sctho\OneDrive\Documents\ChatGPT\Ocean Presentations\assets\logos\Ocean_LOGO_Horizonta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475488"/>
            <a:ext cx="1371600" cy="2926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48640" y="6281928"/>
            <a:ext cx="11094415" cy="0"/>
          </a:xfrm>
          <a:prstGeom prst="line">
            <a:avLst/>
          </a:prstGeom>
          <a:noFill/>
          <a:ln w="8890">
            <a:solidFill>
              <a:srgbClr val="D5DED9"/>
            </a:solidFill>
            <a:prstDash val="solid"/>
          </a:ln>
        </p:spPr>
      </p:sp>
      <p:sp>
        <p:nvSpPr>
          <p:cNvPr id="4" name="ocean:footer"/>
          <p:cNvSpPr/>
          <p:nvPr/>
        </p:nvSpPr>
        <p:spPr>
          <a:xfrm>
            <a:off x="548640" y="6382512"/>
            <a:ext cx="9144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Ocean RCS Design specimen</a:t>
            </a:r>
            <a:endParaRPr lang="en-US" sz="1000" dirty="0"/>
          </a:p>
        </p:txBody>
      </p:sp>
      <p:sp>
        <p:nvSpPr>
          <p:cNvPr id="5" name="ocean:footer"/>
          <p:cNvSpPr/>
          <p:nvPr/>
        </p:nvSpPr>
        <p:spPr>
          <a:xfrm>
            <a:off x="11185855" y="638251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01</a:t>
            </a:r>
            <a:endParaRPr lang="en-US" sz="1000" dirty="0"/>
          </a:p>
        </p:txBody>
      </p:sp>
      <p:sp>
        <p:nvSpPr>
          <p:cNvPr id="6" name="ocean:cover"/>
          <p:cNvSpPr/>
          <p:nvPr/>
        </p:nvSpPr>
        <p:spPr>
          <a:xfrm>
            <a:off x="548640" y="1847088"/>
            <a:ext cx="11094415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4800" b="1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One clear story.</a:t>
            </a:r>
            <a:endParaRPr lang="en-US" sz="48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4800" b="1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Every page considered.</a:t>
            </a:r>
            <a:endParaRPr lang="en-US" sz="4800" dirty="0"/>
          </a:p>
        </p:txBody>
      </p:sp>
      <p:sp>
        <p:nvSpPr>
          <p:cNvPr id="7" name="Shape 4"/>
          <p:cNvSpPr/>
          <p:nvPr/>
        </p:nvSpPr>
        <p:spPr>
          <a:xfrm>
            <a:off x="548640" y="4535424"/>
            <a:ext cx="7680960" cy="0"/>
          </a:xfrm>
          <a:prstGeom prst="line">
            <a:avLst/>
          </a:prstGeom>
          <a:noFill/>
          <a:ln w="8890">
            <a:solidFill>
              <a:srgbClr val="618C7C"/>
            </a:solidFill>
            <a:prstDash val="solid"/>
          </a:ln>
        </p:spPr>
      </p:sp>
      <p:sp>
        <p:nvSpPr>
          <p:cNvPr id="8" name="ocean:subhead"/>
          <p:cNvSpPr/>
          <p:nvPr/>
        </p:nvSpPr>
        <p:spPr>
          <a:xfrm>
            <a:off x="548640" y="477316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Ocean RCS / Renewable Connected Systems</a:t>
            </a:r>
            <a:endParaRPr lang="en-US" sz="1800" dirty="0"/>
          </a:p>
        </p:txBody>
      </p:sp>
      <p:sp>
        <p:nvSpPr>
          <p:cNvPr id="9" name="ocean:label"/>
          <p:cNvSpPr/>
          <p:nvPr/>
        </p:nvSpPr>
        <p:spPr>
          <a:xfrm>
            <a:off x="548640" y="5760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Publication system /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cean:logo" descr="C:\Users\sctho\OneDrive\Documents\ChatGPT\Ocean Presentations\assets\logos\Ocean_LOGO_Horizonta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475488"/>
            <a:ext cx="1371600" cy="2926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48640" y="6281928"/>
            <a:ext cx="11094415" cy="0"/>
          </a:xfrm>
          <a:prstGeom prst="line">
            <a:avLst/>
          </a:prstGeom>
          <a:noFill/>
          <a:ln w="8890">
            <a:solidFill>
              <a:srgbClr val="D5DED9"/>
            </a:solidFill>
            <a:prstDash val="solid"/>
          </a:ln>
        </p:spPr>
      </p:sp>
      <p:sp>
        <p:nvSpPr>
          <p:cNvPr id="4" name="ocean:footer"/>
          <p:cNvSpPr/>
          <p:nvPr/>
        </p:nvSpPr>
        <p:spPr>
          <a:xfrm>
            <a:off x="548640" y="6382512"/>
            <a:ext cx="9144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Ocean RCS Design specimen</a:t>
            </a:r>
            <a:endParaRPr lang="en-US" sz="1000" dirty="0"/>
          </a:p>
        </p:txBody>
      </p:sp>
      <p:sp>
        <p:nvSpPr>
          <p:cNvPr id="5" name="ocean:footer"/>
          <p:cNvSpPr/>
          <p:nvPr/>
        </p:nvSpPr>
        <p:spPr>
          <a:xfrm>
            <a:off x="11185855" y="638251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02</a:t>
            </a:r>
            <a:endParaRPr lang="en-US" sz="1000" dirty="0"/>
          </a:p>
        </p:txBody>
      </p:sp>
      <p:sp>
        <p:nvSpPr>
          <p:cNvPr id="6" name="ocean:metric"/>
          <p:cNvSpPr/>
          <p:nvPr/>
        </p:nvSpPr>
        <p:spPr>
          <a:xfrm>
            <a:off x="548640" y="137160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5400" b="1" dirty="0">
                <a:solidFill>
                  <a:srgbClr val="618C7C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01</a:t>
            </a:r>
            <a:endParaRPr lang="en-US" sz="5400" dirty="0"/>
          </a:p>
        </p:txBody>
      </p:sp>
      <p:sp>
        <p:nvSpPr>
          <p:cNvPr id="7" name="ocean:headline"/>
          <p:cNvSpPr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3600" b="1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Clarity starts with structure</a:t>
            </a:r>
            <a:endParaRPr lang="en-US" sz="3600" dirty="0"/>
          </a:p>
        </p:txBody>
      </p:sp>
      <p:sp>
        <p:nvSpPr>
          <p:cNvPr id="8" name="ocean:subhead"/>
          <p:cNvSpPr/>
          <p:nvPr/>
        </p:nvSpPr>
        <p:spPr>
          <a:xfrm>
            <a:off x="548640" y="4617720"/>
            <a:ext cx="8686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A shared visual language for presentations, proposals and reports.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cean:logo" descr="C:\Users\sctho\OneDrive\Documents\ChatGPT\Ocean Presentations\assets\logos\Ocean_LOGO_Horizonta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475488"/>
            <a:ext cx="1371600" cy="2926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48640" y="6281928"/>
            <a:ext cx="11094415" cy="0"/>
          </a:xfrm>
          <a:prstGeom prst="line">
            <a:avLst/>
          </a:prstGeom>
          <a:noFill/>
          <a:ln w="8890">
            <a:solidFill>
              <a:srgbClr val="D5DED9"/>
            </a:solidFill>
            <a:prstDash val="solid"/>
          </a:ln>
        </p:spPr>
      </p:sp>
      <p:sp>
        <p:nvSpPr>
          <p:cNvPr id="4" name="ocean:footer"/>
          <p:cNvSpPr/>
          <p:nvPr/>
        </p:nvSpPr>
        <p:spPr>
          <a:xfrm>
            <a:off x="548640" y="6382512"/>
            <a:ext cx="9144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Ocean RCS Design specimen</a:t>
            </a:r>
            <a:endParaRPr lang="en-US" sz="1000" dirty="0"/>
          </a:p>
        </p:txBody>
      </p:sp>
      <p:sp>
        <p:nvSpPr>
          <p:cNvPr id="5" name="ocean:footer"/>
          <p:cNvSpPr/>
          <p:nvPr/>
        </p:nvSpPr>
        <p:spPr>
          <a:xfrm>
            <a:off x="11185855" y="638251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03</a:t>
            </a:r>
            <a:endParaRPr lang="en-US" sz="1000" dirty="0"/>
          </a:p>
        </p:txBody>
      </p:sp>
      <p:sp>
        <p:nvSpPr>
          <p:cNvPr id="6" name="ocean:label"/>
          <p:cNvSpPr/>
          <p:nvPr/>
        </p:nvSpPr>
        <p:spPr>
          <a:xfrm>
            <a:off x="3657600" y="530352"/>
            <a:ext cx="79854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EDITORIAL STANDARD</a:t>
            </a:r>
            <a:endParaRPr lang="en-US" sz="1300" dirty="0"/>
          </a:p>
        </p:txBody>
      </p:sp>
      <p:sp>
        <p:nvSpPr>
          <p:cNvPr id="7" name="ocean:headline"/>
          <p:cNvSpPr/>
          <p:nvPr/>
        </p:nvSpPr>
        <p:spPr>
          <a:xfrm>
            <a:off x="548640" y="1115568"/>
            <a:ext cx="1109441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3200" b="1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The evidence leads the page</a:t>
            </a:r>
            <a:endParaRPr lang="en-US" sz="3200" dirty="0"/>
          </a:p>
        </p:txBody>
      </p:sp>
      <p:sp>
        <p:nvSpPr>
          <p:cNvPr id="8" name="Shape 5"/>
          <p:cNvSpPr/>
          <p:nvPr/>
        </p:nvSpPr>
        <p:spPr>
          <a:xfrm>
            <a:off x="548640" y="2331720"/>
            <a:ext cx="8595360" cy="0"/>
          </a:xfrm>
          <a:prstGeom prst="line">
            <a:avLst/>
          </a:prstGeom>
          <a:noFill/>
          <a:ln w="8890">
            <a:solidFill>
              <a:srgbClr val="618C7C"/>
            </a:solidFill>
            <a:prstDash val="solid"/>
          </a:ln>
        </p:spPr>
      </p:sp>
      <p:sp>
        <p:nvSpPr>
          <p:cNvPr id="9" name="ocean:statement"/>
          <p:cNvSpPr/>
          <p:nvPr/>
        </p:nvSpPr>
        <p:spPr>
          <a:xfrm>
            <a:off x="548640" y="2697480"/>
            <a:ext cx="85953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4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Make the important information easy to find. Use scale,</a:t>
            </a:r>
            <a:endParaRPr lang="en-US" sz="24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24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spacing and a clear hierarchy to guide the reader.</a:t>
            </a:r>
            <a:endParaRPr lang="en-US" sz="2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cean:logo" descr="C:\Users\sctho\OneDrive\Documents\ChatGPT\Ocean Presentations\assets\logos\Ocean_LOGO_Horizonta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475488"/>
            <a:ext cx="1371600" cy="2926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48640" y="6281928"/>
            <a:ext cx="11094415" cy="0"/>
          </a:xfrm>
          <a:prstGeom prst="line">
            <a:avLst/>
          </a:prstGeom>
          <a:noFill/>
          <a:ln w="8890">
            <a:solidFill>
              <a:srgbClr val="D5DED9"/>
            </a:solidFill>
            <a:prstDash val="solid"/>
          </a:ln>
        </p:spPr>
      </p:sp>
      <p:sp>
        <p:nvSpPr>
          <p:cNvPr id="4" name="ocean:footer"/>
          <p:cNvSpPr/>
          <p:nvPr/>
        </p:nvSpPr>
        <p:spPr>
          <a:xfrm>
            <a:off x="548640" y="6382512"/>
            <a:ext cx="9144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Ocean RCS Design specimen</a:t>
            </a:r>
            <a:endParaRPr lang="en-US" sz="1000" dirty="0"/>
          </a:p>
        </p:txBody>
      </p:sp>
      <p:sp>
        <p:nvSpPr>
          <p:cNvPr id="5" name="ocean:footer"/>
          <p:cNvSpPr/>
          <p:nvPr/>
        </p:nvSpPr>
        <p:spPr>
          <a:xfrm>
            <a:off x="11185855" y="638251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04</a:t>
            </a:r>
            <a:endParaRPr lang="en-US" sz="1000" dirty="0"/>
          </a:p>
        </p:txBody>
      </p:sp>
      <p:sp>
        <p:nvSpPr>
          <p:cNvPr id="6" name="ocean:label"/>
          <p:cNvSpPr/>
          <p:nvPr/>
        </p:nvSpPr>
        <p:spPr>
          <a:xfrm>
            <a:off x="3657600" y="530352"/>
            <a:ext cx="79854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CHOOSE THE RIGHT FORMAT</a:t>
            </a:r>
            <a:endParaRPr lang="en-US" sz="1300" dirty="0"/>
          </a:p>
        </p:txBody>
      </p:sp>
      <p:sp>
        <p:nvSpPr>
          <p:cNvPr id="7" name="ocean:headline"/>
          <p:cNvSpPr/>
          <p:nvPr/>
        </p:nvSpPr>
        <p:spPr>
          <a:xfrm>
            <a:off x="548640" y="1115568"/>
            <a:ext cx="1109441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3200" b="1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A presentation and a report serve different reading needs</a:t>
            </a:r>
            <a:endParaRPr lang="en-US" sz="3200" dirty="0"/>
          </a:p>
        </p:txBody>
      </p:sp>
      <p:sp>
        <p:nvSpPr>
          <p:cNvPr id="8" name="Shape 5"/>
          <p:cNvSpPr/>
          <p:nvPr/>
        </p:nvSpPr>
        <p:spPr>
          <a:xfrm>
            <a:off x="548640" y="2331720"/>
            <a:ext cx="5250028" cy="0"/>
          </a:xfrm>
          <a:prstGeom prst="line">
            <a:avLst/>
          </a:prstGeom>
          <a:noFill/>
          <a:ln w="8890">
            <a:solidFill>
              <a:srgbClr val="618C7C"/>
            </a:solidFill>
            <a:prstDash val="solid"/>
          </a:ln>
        </p:spPr>
      </p:sp>
      <p:sp>
        <p:nvSpPr>
          <p:cNvPr id="9" name="ocean:section"/>
          <p:cNvSpPr/>
          <p:nvPr/>
        </p:nvSpPr>
        <p:spPr>
          <a:xfrm>
            <a:off x="548640" y="2560320"/>
            <a:ext cx="52500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000" b="1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Presentation</a:t>
            </a:r>
            <a:endParaRPr lang="en-US" sz="2000" dirty="0"/>
          </a:p>
        </p:txBody>
      </p:sp>
      <p:sp>
        <p:nvSpPr>
          <p:cNvPr id="10" name="ocean:body"/>
          <p:cNvSpPr/>
          <p:nvPr/>
        </p:nvSpPr>
        <p:spPr>
          <a:xfrm>
            <a:off x="548640" y="3246120"/>
            <a:ext cx="52500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70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One idea per slide</a:t>
            </a:r>
            <a:endParaRPr lang="en-US" sz="1700" dirty="0"/>
          </a:p>
        </p:txBody>
      </p:sp>
      <p:sp>
        <p:nvSpPr>
          <p:cNvPr id="11" name="ocean:body"/>
          <p:cNvSpPr/>
          <p:nvPr/>
        </p:nvSpPr>
        <p:spPr>
          <a:xfrm>
            <a:off x="548640" y="4041648"/>
            <a:ext cx="52500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70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A concise narrative for a meeting</a:t>
            </a:r>
            <a:endParaRPr lang="en-US" sz="1700" dirty="0"/>
          </a:p>
        </p:txBody>
      </p:sp>
      <p:sp>
        <p:nvSpPr>
          <p:cNvPr id="12" name="ocean:body"/>
          <p:cNvSpPr/>
          <p:nvPr/>
        </p:nvSpPr>
        <p:spPr>
          <a:xfrm>
            <a:off x="548640" y="4837176"/>
            <a:ext cx="52500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70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Editable charts and supporting appendix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6393028" y="2331720"/>
            <a:ext cx="5250028" cy="0"/>
          </a:xfrm>
          <a:prstGeom prst="line">
            <a:avLst/>
          </a:prstGeom>
          <a:noFill/>
          <a:ln w="8890">
            <a:solidFill>
              <a:srgbClr val="618C7C"/>
            </a:solidFill>
            <a:prstDash val="solid"/>
          </a:ln>
        </p:spPr>
      </p:sp>
      <p:sp>
        <p:nvSpPr>
          <p:cNvPr id="14" name="ocean:section"/>
          <p:cNvSpPr/>
          <p:nvPr/>
        </p:nvSpPr>
        <p:spPr>
          <a:xfrm>
            <a:off x="6393028" y="2560320"/>
            <a:ext cx="52500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000" b="1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Proposal or report</a:t>
            </a:r>
            <a:endParaRPr lang="en-US" sz="2000" dirty="0"/>
          </a:p>
        </p:txBody>
      </p:sp>
      <p:sp>
        <p:nvSpPr>
          <p:cNvPr id="15" name="ocean:body"/>
          <p:cNvSpPr/>
          <p:nvPr/>
        </p:nvSpPr>
        <p:spPr>
          <a:xfrm>
            <a:off x="6393028" y="3246120"/>
            <a:ext cx="52500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70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Enough detail to make a decision</a:t>
            </a:r>
            <a:endParaRPr lang="en-US" sz="1700" dirty="0"/>
          </a:p>
        </p:txBody>
      </p:sp>
      <p:sp>
        <p:nvSpPr>
          <p:cNvPr id="16" name="ocean:body"/>
          <p:cNvSpPr/>
          <p:nvPr/>
        </p:nvSpPr>
        <p:spPr>
          <a:xfrm>
            <a:off x="6393028" y="4041648"/>
            <a:ext cx="52500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70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Flowing text with clear scope and evidence</a:t>
            </a:r>
            <a:endParaRPr lang="en-US" sz="1700" dirty="0"/>
          </a:p>
        </p:txBody>
      </p:sp>
      <p:sp>
        <p:nvSpPr>
          <p:cNvPr id="17" name="ocean:body"/>
          <p:cNvSpPr/>
          <p:nvPr/>
        </p:nvSpPr>
        <p:spPr>
          <a:xfrm>
            <a:off x="6393028" y="4837176"/>
            <a:ext cx="52500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70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Readable pages designed for PDF delivery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cean:logo" descr="C:\Users\sctho\OneDrive\Documents\ChatGPT\Ocean Presentations\assets\logos\Ocean_LOGO_Horizonta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475488"/>
            <a:ext cx="1371600" cy="2926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48640" y="6281928"/>
            <a:ext cx="11094415" cy="0"/>
          </a:xfrm>
          <a:prstGeom prst="line">
            <a:avLst/>
          </a:prstGeom>
          <a:noFill/>
          <a:ln w="8890">
            <a:solidFill>
              <a:srgbClr val="D5DED9"/>
            </a:solidFill>
            <a:prstDash val="solid"/>
          </a:ln>
        </p:spPr>
      </p:sp>
      <p:sp>
        <p:nvSpPr>
          <p:cNvPr id="4" name="ocean:footer"/>
          <p:cNvSpPr/>
          <p:nvPr/>
        </p:nvSpPr>
        <p:spPr>
          <a:xfrm>
            <a:off x="548640" y="6382512"/>
            <a:ext cx="9144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Ocean RCS Design specimen</a:t>
            </a:r>
            <a:endParaRPr lang="en-US" sz="1000" dirty="0"/>
          </a:p>
        </p:txBody>
      </p:sp>
      <p:sp>
        <p:nvSpPr>
          <p:cNvPr id="5" name="ocean:footer"/>
          <p:cNvSpPr/>
          <p:nvPr/>
        </p:nvSpPr>
        <p:spPr>
          <a:xfrm>
            <a:off x="11185855" y="638251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05</a:t>
            </a:r>
            <a:endParaRPr lang="en-US" sz="1000" dirty="0"/>
          </a:p>
        </p:txBody>
      </p:sp>
      <p:sp>
        <p:nvSpPr>
          <p:cNvPr id="6" name="ocean:label"/>
          <p:cNvSpPr/>
          <p:nvPr/>
        </p:nvSpPr>
        <p:spPr>
          <a:xfrm>
            <a:off x="3657600" y="530352"/>
            <a:ext cx="79854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SHARED DESIGN LANGUAGE</a:t>
            </a:r>
            <a:endParaRPr lang="en-US" sz="1300" dirty="0"/>
          </a:p>
        </p:txBody>
      </p:sp>
      <p:sp>
        <p:nvSpPr>
          <p:cNvPr id="7" name="ocean:headline"/>
          <p:cNvSpPr/>
          <p:nvPr/>
        </p:nvSpPr>
        <p:spPr>
          <a:xfrm>
            <a:off x="548640" y="1115568"/>
            <a:ext cx="1109441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3200" b="1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A consistent system with room for the content</a:t>
            </a:r>
            <a:endParaRPr lang="en-US" sz="3200" dirty="0"/>
          </a:p>
        </p:txBody>
      </p:sp>
      <p:sp>
        <p:nvSpPr>
          <p:cNvPr id="8" name="Shape 5"/>
          <p:cNvSpPr/>
          <p:nvPr/>
        </p:nvSpPr>
        <p:spPr>
          <a:xfrm>
            <a:off x="548640" y="2331720"/>
            <a:ext cx="3393338" cy="0"/>
          </a:xfrm>
          <a:prstGeom prst="line">
            <a:avLst/>
          </a:prstGeom>
          <a:noFill/>
          <a:ln w="8890">
            <a:solidFill>
              <a:srgbClr val="D5DED9"/>
            </a:solidFill>
            <a:prstDash val="solid"/>
          </a:ln>
        </p:spPr>
      </p:sp>
      <p:sp>
        <p:nvSpPr>
          <p:cNvPr id="9" name="ocean:label"/>
          <p:cNvSpPr/>
          <p:nvPr/>
        </p:nvSpPr>
        <p:spPr>
          <a:xfrm>
            <a:off x="548640" y="2532888"/>
            <a:ext cx="33933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01</a:t>
            </a:r>
            <a:endParaRPr lang="en-US" sz="1600" dirty="0"/>
          </a:p>
        </p:txBody>
      </p:sp>
      <p:sp>
        <p:nvSpPr>
          <p:cNvPr id="10" name="ocean:section"/>
          <p:cNvSpPr/>
          <p:nvPr/>
        </p:nvSpPr>
        <p:spPr>
          <a:xfrm>
            <a:off x="548640" y="3108960"/>
            <a:ext cx="33933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200" b="1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Typography</a:t>
            </a:r>
            <a:endParaRPr lang="en-US" sz="2200" dirty="0"/>
          </a:p>
        </p:txBody>
      </p:sp>
      <p:sp>
        <p:nvSpPr>
          <p:cNvPr id="11" name="ocean:body"/>
          <p:cNvSpPr/>
          <p:nvPr/>
        </p:nvSpPr>
        <p:spPr>
          <a:xfrm>
            <a:off x="548640" y="4114800"/>
            <a:ext cx="339333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70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Stack Sans Headline sets the</a:t>
            </a:r>
            <a:endParaRPr lang="en-US" sz="17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70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hierarchy. Font size follows the</a:t>
            </a:r>
            <a:endParaRPr lang="en-US" sz="17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70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reading format.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4399178" y="2331720"/>
            <a:ext cx="3393338" cy="0"/>
          </a:xfrm>
          <a:prstGeom prst="line">
            <a:avLst/>
          </a:prstGeom>
          <a:noFill/>
          <a:ln w="8890">
            <a:solidFill>
              <a:srgbClr val="D5DED9"/>
            </a:solidFill>
            <a:prstDash val="solid"/>
          </a:ln>
        </p:spPr>
      </p:sp>
      <p:sp>
        <p:nvSpPr>
          <p:cNvPr id="13" name="ocean:label"/>
          <p:cNvSpPr/>
          <p:nvPr/>
        </p:nvSpPr>
        <p:spPr>
          <a:xfrm>
            <a:off x="4399178" y="2532888"/>
            <a:ext cx="33933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02</a:t>
            </a:r>
            <a:endParaRPr lang="en-US" sz="1600" dirty="0"/>
          </a:p>
        </p:txBody>
      </p:sp>
      <p:sp>
        <p:nvSpPr>
          <p:cNvPr id="14" name="ocean:section"/>
          <p:cNvSpPr/>
          <p:nvPr/>
        </p:nvSpPr>
        <p:spPr>
          <a:xfrm>
            <a:off x="4399178" y="3108960"/>
            <a:ext cx="33933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200" b="1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Color</a:t>
            </a:r>
            <a:endParaRPr lang="en-US" sz="2200" dirty="0"/>
          </a:p>
        </p:txBody>
      </p:sp>
      <p:sp>
        <p:nvSpPr>
          <p:cNvPr id="15" name="ocean:body"/>
          <p:cNvSpPr/>
          <p:nvPr/>
        </p:nvSpPr>
        <p:spPr>
          <a:xfrm>
            <a:off x="4399178" y="4114800"/>
            <a:ext cx="339333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70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White creates space. Blackmoss</a:t>
            </a:r>
            <a:endParaRPr lang="en-US" sz="17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70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carries the message. Sage adds</a:t>
            </a:r>
            <a:endParaRPr lang="en-US" sz="17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70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restrained emphasis.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8249717" y="2331720"/>
            <a:ext cx="3393338" cy="0"/>
          </a:xfrm>
          <a:prstGeom prst="line">
            <a:avLst/>
          </a:prstGeom>
          <a:noFill/>
          <a:ln w="8890">
            <a:solidFill>
              <a:srgbClr val="D5DED9"/>
            </a:solidFill>
            <a:prstDash val="solid"/>
          </a:ln>
        </p:spPr>
      </p:sp>
      <p:sp>
        <p:nvSpPr>
          <p:cNvPr id="17" name="ocean:label"/>
          <p:cNvSpPr/>
          <p:nvPr/>
        </p:nvSpPr>
        <p:spPr>
          <a:xfrm>
            <a:off x="8249717" y="2532888"/>
            <a:ext cx="33933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03</a:t>
            </a:r>
            <a:endParaRPr lang="en-US" sz="1600" dirty="0"/>
          </a:p>
        </p:txBody>
      </p:sp>
      <p:sp>
        <p:nvSpPr>
          <p:cNvPr id="18" name="ocean:section"/>
          <p:cNvSpPr/>
          <p:nvPr/>
        </p:nvSpPr>
        <p:spPr>
          <a:xfrm>
            <a:off x="8249717" y="3108960"/>
            <a:ext cx="33933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200" b="1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Evidence</a:t>
            </a:r>
            <a:endParaRPr lang="en-US" sz="2200" dirty="0"/>
          </a:p>
        </p:txBody>
      </p:sp>
      <p:sp>
        <p:nvSpPr>
          <p:cNvPr id="19" name="ocean:body"/>
          <p:cNvSpPr/>
          <p:nvPr/>
        </p:nvSpPr>
        <p:spPr>
          <a:xfrm>
            <a:off x="8249717" y="4114800"/>
            <a:ext cx="339333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70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Tables, charts and real</a:t>
            </a:r>
            <a:endParaRPr lang="en-US" sz="17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70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photographs explain something</a:t>
            </a:r>
            <a:endParaRPr lang="en-US" sz="17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70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specific.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cean:logo" descr="C:\Users\sctho\OneDrive\Documents\ChatGPT\Ocean Presentations\assets\logos\Ocean_LOGO_Horizonta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475488"/>
            <a:ext cx="1371600" cy="2926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48640" y="6281928"/>
            <a:ext cx="11094415" cy="0"/>
          </a:xfrm>
          <a:prstGeom prst="line">
            <a:avLst/>
          </a:prstGeom>
          <a:noFill/>
          <a:ln w="8890">
            <a:solidFill>
              <a:srgbClr val="D5DED9"/>
            </a:solidFill>
            <a:prstDash val="solid"/>
          </a:ln>
        </p:spPr>
      </p:sp>
      <p:sp>
        <p:nvSpPr>
          <p:cNvPr id="4" name="ocean:footer"/>
          <p:cNvSpPr/>
          <p:nvPr/>
        </p:nvSpPr>
        <p:spPr>
          <a:xfrm>
            <a:off x="548640" y="6382512"/>
            <a:ext cx="9144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Ocean RCS Design specimen</a:t>
            </a:r>
            <a:endParaRPr lang="en-US" sz="1000" dirty="0"/>
          </a:p>
        </p:txBody>
      </p:sp>
      <p:sp>
        <p:nvSpPr>
          <p:cNvPr id="5" name="ocean:footer"/>
          <p:cNvSpPr/>
          <p:nvPr/>
        </p:nvSpPr>
        <p:spPr>
          <a:xfrm>
            <a:off x="11185855" y="638251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06</a:t>
            </a:r>
            <a:endParaRPr lang="en-US" sz="1000" dirty="0"/>
          </a:p>
        </p:txBody>
      </p:sp>
      <p:sp>
        <p:nvSpPr>
          <p:cNvPr id="6" name="ocean:label"/>
          <p:cNvSpPr/>
          <p:nvPr/>
        </p:nvSpPr>
        <p:spPr>
          <a:xfrm>
            <a:off x="3657600" y="530352"/>
            <a:ext cx="79854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TYPE SCALE</a:t>
            </a:r>
            <a:endParaRPr lang="en-US" sz="1300" dirty="0"/>
          </a:p>
        </p:txBody>
      </p:sp>
      <p:sp>
        <p:nvSpPr>
          <p:cNvPr id="7" name="ocean:headline"/>
          <p:cNvSpPr/>
          <p:nvPr/>
        </p:nvSpPr>
        <p:spPr>
          <a:xfrm>
            <a:off x="548640" y="1115568"/>
            <a:ext cx="1109441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3200" b="1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Scale gives the reader a clear entry point</a:t>
            </a:r>
            <a:endParaRPr lang="en-US" sz="3200" dirty="0"/>
          </a:p>
        </p:txBody>
      </p:sp>
      <p:sp>
        <p:nvSpPr>
          <p:cNvPr id="8" name="Shape 5"/>
          <p:cNvSpPr/>
          <p:nvPr/>
        </p:nvSpPr>
        <p:spPr>
          <a:xfrm>
            <a:off x="548640" y="2423160"/>
            <a:ext cx="2430704" cy="0"/>
          </a:xfrm>
          <a:prstGeom prst="line">
            <a:avLst/>
          </a:prstGeom>
          <a:noFill/>
          <a:ln w="8890">
            <a:solidFill>
              <a:srgbClr val="D5DED9"/>
            </a:solidFill>
            <a:prstDash val="solid"/>
          </a:ln>
        </p:spPr>
      </p:sp>
      <p:sp>
        <p:nvSpPr>
          <p:cNvPr id="9" name="ocean:metric"/>
          <p:cNvSpPr/>
          <p:nvPr/>
        </p:nvSpPr>
        <p:spPr>
          <a:xfrm>
            <a:off x="548640" y="2788920"/>
            <a:ext cx="24307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4000" b="1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48</a:t>
            </a:r>
            <a:endParaRPr lang="en-US" sz="4000" dirty="0"/>
          </a:p>
        </p:txBody>
      </p:sp>
      <p:sp>
        <p:nvSpPr>
          <p:cNvPr id="10" name="ocean:body"/>
          <p:cNvSpPr/>
          <p:nvPr/>
        </p:nvSpPr>
        <p:spPr>
          <a:xfrm>
            <a:off x="548640" y="3931920"/>
            <a:ext cx="243070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Cover title</a:t>
            </a:r>
            <a:endParaRPr lang="en-US" sz="1700" dirty="0"/>
          </a:p>
        </p:txBody>
      </p:sp>
      <p:sp>
        <p:nvSpPr>
          <p:cNvPr id="11" name="ocean:label"/>
          <p:cNvSpPr/>
          <p:nvPr/>
        </p:nvSpPr>
        <p:spPr>
          <a:xfrm>
            <a:off x="548640" y="4983480"/>
            <a:ext cx="24307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Points / presentation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3436544" y="2423160"/>
            <a:ext cx="2430704" cy="0"/>
          </a:xfrm>
          <a:prstGeom prst="line">
            <a:avLst/>
          </a:prstGeom>
          <a:noFill/>
          <a:ln w="8890">
            <a:solidFill>
              <a:srgbClr val="D5DED9"/>
            </a:solidFill>
            <a:prstDash val="solid"/>
          </a:ln>
        </p:spPr>
      </p:sp>
      <p:sp>
        <p:nvSpPr>
          <p:cNvPr id="13" name="ocean:metric"/>
          <p:cNvSpPr/>
          <p:nvPr/>
        </p:nvSpPr>
        <p:spPr>
          <a:xfrm>
            <a:off x="3436544" y="2788920"/>
            <a:ext cx="24307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4000" b="1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32</a:t>
            </a:r>
            <a:endParaRPr lang="en-US" sz="4000" dirty="0"/>
          </a:p>
        </p:txBody>
      </p:sp>
      <p:sp>
        <p:nvSpPr>
          <p:cNvPr id="14" name="ocean:body"/>
          <p:cNvSpPr/>
          <p:nvPr/>
        </p:nvSpPr>
        <p:spPr>
          <a:xfrm>
            <a:off x="3436544" y="3931920"/>
            <a:ext cx="243070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Page headline</a:t>
            </a:r>
            <a:endParaRPr lang="en-US" sz="1700" dirty="0"/>
          </a:p>
        </p:txBody>
      </p:sp>
      <p:sp>
        <p:nvSpPr>
          <p:cNvPr id="15" name="ocean:label"/>
          <p:cNvSpPr/>
          <p:nvPr/>
        </p:nvSpPr>
        <p:spPr>
          <a:xfrm>
            <a:off x="3436544" y="4983480"/>
            <a:ext cx="24307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Points / presentation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6324448" y="2423160"/>
            <a:ext cx="2430704" cy="0"/>
          </a:xfrm>
          <a:prstGeom prst="line">
            <a:avLst/>
          </a:prstGeom>
          <a:noFill/>
          <a:ln w="8890">
            <a:solidFill>
              <a:srgbClr val="D5DED9"/>
            </a:solidFill>
            <a:prstDash val="solid"/>
          </a:ln>
        </p:spPr>
      </p:sp>
      <p:sp>
        <p:nvSpPr>
          <p:cNvPr id="17" name="ocean:metric"/>
          <p:cNvSpPr/>
          <p:nvPr/>
        </p:nvSpPr>
        <p:spPr>
          <a:xfrm>
            <a:off x="6324448" y="2788920"/>
            <a:ext cx="24307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4000" b="1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17</a:t>
            </a:r>
            <a:endParaRPr lang="en-US" sz="4000" dirty="0"/>
          </a:p>
        </p:txBody>
      </p:sp>
      <p:sp>
        <p:nvSpPr>
          <p:cNvPr id="18" name="ocean:body"/>
          <p:cNvSpPr/>
          <p:nvPr/>
        </p:nvSpPr>
        <p:spPr>
          <a:xfrm>
            <a:off x="6324448" y="3931920"/>
            <a:ext cx="243070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Body copy</a:t>
            </a:r>
            <a:endParaRPr lang="en-US" sz="1700" dirty="0"/>
          </a:p>
        </p:txBody>
      </p:sp>
      <p:sp>
        <p:nvSpPr>
          <p:cNvPr id="19" name="ocean:label"/>
          <p:cNvSpPr/>
          <p:nvPr/>
        </p:nvSpPr>
        <p:spPr>
          <a:xfrm>
            <a:off x="6324448" y="4983480"/>
            <a:ext cx="24307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Points / presentation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9212351" y="2423160"/>
            <a:ext cx="2430704" cy="0"/>
          </a:xfrm>
          <a:prstGeom prst="line">
            <a:avLst/>
          </a:prstGeom>
          <a:noFill/>
          <a:ln w="8890">
            <a:solidFill>
              <a:srgbClr val="D5DED9"/>
            </a:solidFill>
            <a:prstDash val="solid"/>
          </a:ln>
        </p:spPr>
      </p:sp>
      <p:sp>
        <p:nvSpPr>
          <p:cNvPr id="21" name="ocean:metric"/>
          <p:cNvSpPr/>
          <p:nvPr/>
        </p:nvSpPr>
        <p:spPr>
          <a:xfrm>
            <a:off x="9212351" y="2788920"/>
            <a:ext cx="24307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4000" b="1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11</a:t>
            </a:r>
            <a:endParaRPr lang="en-US" sz="4000" dirty="0"/>
          </a:p>
        </p:txBody>
      </p:sp>
      <p:sp>
        <p:nvSpPr>
          <p:cNvPr id="22" name="ocean:body"/>
          <p:cNvSpPr/>
          <p:nvPr/>
        </p:nvSpPr>
        <p:spPr>
          <a:xfrm>
            <a:off x="9212351" y="3931920"/>
            <a:ext cx="243070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Report prose</a:t>
            </a:r>
            <a:endParaRPr lang="en-US" sz="1700" dirty="0"/>
          </a:p>
        </p:txBody>
      </p:sp>
      <p:sp>
        <p:nvSpPr>
          <p:cNvPr id="23" name="ocean:label"/>
          <p:cNvSpPr/>
          <p:nvPr/>
        </p:nvSpPr>
        <p:spPr>
          <a:xfrm>
            <a:off x="9212351" y="4983480"/>
            <a:ext cx="24307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Points / Letter document</a:t>
            </a:r>
            <a:endParaRPr lang="en-US" sz="1300" dirty="0"/>
          </a:p>
        </p:txBody>
      </p:sp>
      <p:sp>
        <p:nvSpPr>
          <p:cNvPr id="24" name="ocean:footnote"/>
          <p:cNvSpPr/>
          <p:nvPr/>
        </p:nvSpPr>
        <p:spPr>
          <a:xfrm>
            <a:off x="548640" y="592531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Design specifications only. These values are not business metrics.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cean:logo" descr="C:\Users\sctho\OneDrive\Documents\ChatGPT\Ocean Presentations\assets\logos\Ocean_LOGO_Horizonta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475488"/>
            <a:ext cx="1371600" cy="2926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48640" y="6281928"/>
            <a:ext cx="11094415" cy="0"/>
          </a:xfrm>
          <a:prstGeom prst="line">
            <a:avLst/>
          </a:prstGeom>
          <a:noFill/>
          <a:ln w="8890">
            <a:solidFill>
              <a:srgbClr val="D5DED9"/>
            </a:solidFill>
            <a:prstDash val="solid"/>
          </a:ln>
        </p:spPr>
      </p:sp>
      <p:sp>
        <p:nvSpPr>
          <p:cNvPr id="4" name="ocean:footer"/>
          <p:cNvSpPr/>
          <p:nvPr/>
        </p:nvSpPr>
        <p:spPr>
          <a:xfrm>
            <a:off x="548640" y="6382512"/>
            <a:ext cx="9144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Ocean RCS Design specimen</a:t>
            </a:r>
            <a:endParaRPr lang="en-US" sz="1000" dirty="0"/>
          </a:p>
        </p:txBody>
      </p:sp>
      <p:sp>
        <p:nvSpPr>
          <p:cNvPr id="5" name="ocean:footer"/>
          <p:cNvSpPr/>
          <p:nvPr/>
        </p:nvSpPr>
        <p:spPr>
          <a:xfrm>
            <a:off x="11185855" y="638251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07</a:t>
            </a:r>
            <a:endParaRPr lang="en-US" sz="1000" dirty="0"/>
          </a:p>
        </p:txBody>
      </p:sp>
      <p:sp>
        <p:nvSpPr>
          <p:cNvPr id="6" name="ocean:label"/>
          <p:cNvSpPr/>
          <p:nvPr/>
        </p:nvSpPr>
        <p:spPr>
          <a:xfrm>
            <a:off x="3657600" y="530352"/>
            <a:ext cx="79854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PRODUCTION</a:t>
            </a:r>
            <a:endParaRPr lang="en-US" sz="1300" dirty="0"/>
          </a:p>
        </p:txBody>
      </p:sp>
      <p:sp>
        <p:nvSpPr>
          <p:cNvPr id="7" name="ocean:headline"/>
          <p:cNvSpPr/>
          <p:nvPr/>
        </p:nvSpPr>
        <p:spPr>
          <a:xfrm>
            <a:off x="548640" y="1115568"/>
            <a:ext cx="1109441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3200" b="1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A repeatable path from brief to final PDF</a:t>
            </a:r>
            <a:endParaRPr lang="en-US" sz="3200" dirty="0"/>
          </a:p>
        </p:txBody>
      </p:sp>
      <p:sp>
        <p:nvSpPr>
          <p:cNvPr id="8" name="Shape 5"/>
          <p:cNvSpPr/>
          <p:nvPr/>
        </p:nvSpPr>
        <p:spPr>
          <a:xfrm>
            <a:off x="548640" y="2834640"/>
            <a:ext cx="11094415" cy="0"/>
          </a:xfrm>
          <a:prstGeom prst="line">
            <a:avLst/>
          </a:prstGeom>
          <a:noFill/>
          <a:ln w="8890">
            <a:solidFill>
              <a:srgbClr val="618C7C"/>
            </a:solidFill>
            <a:prstDash val="solid"/>
          </a:ln>
        </p:spPr>
      </p:sp>
      <p:sp>
        <p:nvSpPr>
          <p:cNvPr id="9" name="ocean:label"/>
          <p:cNvSpPr/>
          <p:nvPr/>
        </p:nvSpPr>
        <p:spPr>
          <a:xfrm>
            <a:off x="548640" y="2331720"/>
            <a:ext cx="24992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01 / Brief</a:t>
            </a:r>
            <a:endParaRPr lang="en-US" sz="1300" dirty="0"/>
          </a:p>
        </p:txBody>
      </p:sp>
      <p:sp>
        <p:nvSpPr>
          <p:cNvPr id="10" name="ocean:section"/>
          <p:cNvSpPr/>
          <p:nvPr/>
        </p:nvSpPr>
        <p:spPr>
          <a:xfrm>
            <a:off x="548640" y="3200400"/>
            <a:ext cx="249928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000" b="1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Define the decision</a:t>
            </a:r>
            <a:endParaRPr lang="en-US" sz="2000" dirty="0"/>
          </a:p>
        </p:txBody>
      </p:sp>
      <p:sp>
        <p:nvSpPr>
          <p:cNvPr id="11" name="ocean:body"/>
          <p:cNvSpPr/>
          <p:nvPr/>
        </p:nvSpPr>
        <p:spPr>
          <a:xfrm>
            <a:off x="548640" y="4160520"/>
            <a:ext cx="249928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70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Identify the audience</a:t>
            </a:r>
            <a:endParaRPr lang="en-US" sz="17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70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and the evidence</a:t>
            </a:r>
            <a:endParaRPr lang="en-US" sz="17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70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needed.</a:t>
            </a:r>
            <a:endParaRPr lang="en-US" sz="1700" dirty="0"/>
          </a:p>
        </p:txBody>
      </p:sp>
      <p:sp>
        <p:nvSpPr>
          <p:cNvPr id="12" name="ocean:label"/>
          <p:cNvSpPr/>
          <p:nvPr/>
        </p:nvSpPr>
        <p:spPr>
          <a:xfrm>
            <a:off x="3413684" y="2331720"/>
            <a:ext cx="24992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02 / Compose</a:t>
            </a:r>
            <a:endParaRPr lang="en-US" sz="1300" dirty="0"/>
          </a:p>
        </p:txBody>
      </p:sp>
      <p:sp>
        <p:nvSpPr>
          <p:cNvPr id="13" name="ocean:section"/>
          <p:cNvSpPr/>
          <p:nvPr/>
        </p:nvSpPr>
        <p:spPr>
          <a:xfrm>
            <a:off x="3413684" y="3200400"/>
            <a:ext cx="249928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000" b="1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Build the narrative</a:t>
            </a:r>
            <a:endParaRPr lang="en-US" sz="2000" dirty="0"/>
          </a:p>
        </p:txBody>
      </p:sp>
      <p:sp>
        <p:nvSpPr>
          <p:cNvPr id="14" name="ocean:body"/>
          <p:cNvSpPr/>
          <p:nvPr/>
        </p:nvSpPr>
        <p:spPr>
          <a:xfrm>
            <a:off x="3413684" y="4160520"/>
            <a:ext cx="249928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70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Select layouts that fit</a:t>
            </a:r>
            <a:endParaRPr lang="en-US" sz="17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70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the content.</a:t>
            </a:r>
            <a:endParaRPr lang="en-US" sz="1700" dirty="0"/>
          </a:p>
        </p:txBody>
      </p:sp>
      <p:sp>
        <p:nvSpPr>
          <p:cNvPr id="15" name="ocean:label"/>
          <p:cNvSpPr/>
          <p:nvPr/>
        </p:nvSpPr>
        <p:spPr>
          <a:xfrm>
            <a:off x="6278728" y="2331720"/>
            <a:ext cx="24992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03 / Verify</a:t>
            </a:r>
            <a:endParaRPr lang="en-US" sz="1300" dirty="0"/>
          </a:p>
        </p:txBody>
      </p:sp>
      <p:sp>
        <p:nvSpPr>
          <p:cNvPr id="16" name="ocean:section"/>
          <p:cNvSpPr/>
          <p:nvPr/>
        </p:nvSpPr>
        <p:spPr>
          <a:xfrm>
            <a:off x="6278728" y="3200400"/>
            <a:ext cx="249928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000" b="1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Inspect every page</a:t>
            </a:r>
            <a:endParaRPr lang="en-US" sz="2000" dirty="0"/>
          </a:p>
        </p:txBody>
      </p:sp>
      <p:sp>
        <p:nvSpPr>
          <p:cNvPr id="17" name="ocean:body"/>
          <p:cNvSpPr/>
          <p:nvPr/>
        </p:nvSpPr>
        <p:spPr>
          <a:xfrm>
            <a:off x="6278728" y="4160520"/>
            <a:ext cx="249928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70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Check fonts, fit,</a:t>
            </a:r>
            <a:endParaRPr lang="en-US" sz="17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70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evidence and visual</a:t>
            </a:r>
            <a:endParaRPr lang="en-US" sz="17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70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balance.</a:t>
            </a:r>
            <a:endParaRPr lang="en-US" sz="1700" dirty="0"/>
          </a:p>
        </p:txBody>
      </p:sp>
      <p:sp>
        <p:nvSpPr>
          <p:cNvPr id="18" name="ocean:label"/>
          <p:cNvSpPr/>
          <p:nvPr/>
        </p:nvSpPr>
        <p:spPr>
          <a:xfrm>
            <a:off x="9143771" y="2331720"/>
            <a:ext cx="24992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04 / Deliver</a:t>
            </a:r>
            <a:endParaRPr lang="en-US" sz="1300" dirty="0"/>
          </a:p>
        </p:txBody>
      </p:sp>
      <p:sp>
        <p:nvSpPr>
          <p:cNvPr id="19" name="ocean:section"/>
          <p:cNvSpPr/>
          <p:nvPr/>
        </p:nvSpPr>
        <p:spPr>
          <a:xfrm>
            <a:off x="9143771" y="3200400"/>
            <a:ext cx="249928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000" b="1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Share the final</a:t>
            </a:r>
            <a:endParaRPr lang="en-US" sz="2000" dirty="0"/>
          </a:p>
        </p:txBody>
      </p:sp>
      <p:sp>
        <p:nvSpPr>
          <p:cNvPr id="20" name="ocean:body"/>
          <p:cNvSpPr/>
          <p:nvPr/>
        </p:nvSpPr>
        <p:spPr>
          <a:xfrm>
            <a:off x="9143771" y="4160520"/>
            <a:ext cx="249928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70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Provide a verified PDF</a:t>
            </a:r>
            <a:endParaRPr lang="en-US" sz="17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70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and editable source.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cean:logo" descr="C:\Users\sctho\OneDrive\Documents\ChatGPT\Ocean Presentations\assets\logos\Ocean_LOGO_Horizonta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475488"/>
            <a:ext cx="1371600" cy="2926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48640" y="6281928"/>
            <a:ext cx="11094415" cy="0"/>
          </a:xfrm>
          <a:prstGeom prst="line">
            <a:avLst/>
          </a:prstGeom>
          <a:noFill/>
          <a:ln w="8890">
            <a:solidFill>
              <a:srgbClr val="D5DED9"/>
            </a:solidFill>
            <a:prstDash val="solid"/>
          </a:ln>
        </p:spPr>
      </p:sp>
      <p:sp>
        <p:nvSpPr>
          <p:cNvPr id="4" name="ocean:footer"/>
          <p:cNvSpPr/>
          <p:nvPr/>
        </p:nvSpPr>
        <p:spPr>
          <a:xfrm>
            <a:off x="548640" y="6382512"/>
            <a:ext cx="9144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Ocean RCS Design specimen</a:t>
            </a:r>
            <a:endParaRPr lang="en-US" sz="1000" dirty="0"/>
          </a:p>
        </p:txBody>
      </p:sp>
      <p:sp>
        <p:nvSpPr>
          <p:cNvPr id="5" name="ocean:footer"/>
          <p:cNvSpPr/>
          <p:nvPr/>
        </p:nvSpPr>
        <p:spPr>
          <a:xfrm>
            <a:off x="11185855" y="638251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08</a:t>
            </a:r>
            <a:endParaRPr lang="en-US" sz="1000" dirty="0"/>
          </a:p>
        </p:txBody>
      </p:sp>
      <p:sp>
        <p:nvSpPr>
          <p:cNvPr id="6" name="ocean:label"/>
          <p:cNvSpPr/>
          <p:nvPr/>
        </p:nvSpPr>
        <p:spPr>
          <a:xfrm>
            <a:off x="3657600" y="530352"/>
            <a:ext cx="79854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COLOR ROLES</a:t>
            </a:r>
            <a:endParaRPr lang="en-US" sz="1300" dirty="0"/>
          </a:p>
        </p:txBody>
      </p:sp>
      <p:sp>
        <p:nvSpPr>
          <p:cNvPr id="7" name="ocean:headline"/>
          <p:cNvSpPr/>
          <p:nvPr/>
        </p:nvSpPr>
        <p:spPr>
          <a:xfrm>
            <a:off x="548640" y="1115568"/>
            <a:ext cx="1109441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3200" b="1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The same palette, used with more restraint</a:t>
            </a:r>
            <a:endParaRPr lang="en-US" sz="3200" dirty="0"/>
          </a:p>
        </p:txBody>
      </p:sp>
      <p:graphicFrame>
        <p:nvGraphicFramePr>
          <p:cNvPr id="9" name="ocean: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331720"/>
          <a:ext cx="1109441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5608015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Role</a:t>
                      </a:r>
                      <a:endParaRPr lang="en-US" sz="15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4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Color</a:t>
                      </a:r>
                      <a:endParaRPr lang="en-US" sz="15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4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Primary use</a:t>
                      </a:r>
                      <a:endParaRPr lang="en-US" sz="15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426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617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Canvas</a:t>
                      </a:r>
                      <a:endParaRPr lang="en-US" sz="15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617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White</a:t>
                      </a:r>
                      <a:endParaRPr lang="en-US" sz="15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617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Open backgrounds and light covers</a:t>
                      </a:r>
                      <a:endParaRPr lang="en-US" sz="15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617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Primary ink</a:t>
                      </a:r>
                      <a:endParaRPr lang="en-US" sz="15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617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Blackmoss</a:t>
                      </a:r>
                      <a:endParaRPr lang="en-US" sz="15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617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Headlines, prose and numbers</a:t>
                      </a:r>
                      <a:endParaRPr lang="en-US" sz="15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617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Accent</a:t>
                      </a:r>
                      <a:endParaRPr lang="en-US" sz="15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617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Sage</a:t>
                      </a:r>
                      <a:endParaRPr lang="en-US" sz="15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617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Large emphasis and restrained rules</a:t>
                      </a:r>
                      <a:endParaRPr lang="en-US" sz="15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617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Secondary ink</a:t>
                      </a:r>
                      <a:endParaRPr lang="en-US" sz="15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617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Cedar</a:t>
                      </a:r>
                      <a:endParaRPr lang="en-US" sz="15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617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Small labels and supporting copy</a:t>
                      </a:r>
                      <a:endParaRPr lang="en-US" sz="15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617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Structure</a:t>
                      </a:r>
                      <a:endParaRPr lang="en-US" sz="15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617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Peacock</a:t>
                      </a:r>
                      <a:endParaRPr lang="en-US" sz="15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617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Table headers and chart series</a:t>
                      </a:r>
                      <a:endParaRPr lang="en-US" sz="15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cean:logo" descr="C:\Users\sctho\OneDrive\Documents\ChatGPT\Ocean Presentations\assets\logos\Ocean_LOGO_Horizonta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475488"/>
            <a:ext cx="1371600" cy="2926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48640" y="6281928"/>
            <a:ext cx="11094415" cy="0"/>
          </a:xfrm>
          <a:prstGeom prst="line">
            <a:avLst/>
          </a:prstGeom>
          <a:noFill/>
          <a:ln w="8890">
            <a:solidFill>
              <a:srgbClr val="D5DED9"/>
            </a:solidFill>
            <a:prstDash val="solid"/>
          </a:ln>
        </p:spPr>
      </p:sp>
      <p:sp>
        <p:nvSpPr>
          <p:cNvPr id="4" name="ocean:footer"/>
          <p:cNvSpPr/>
          <p:nvPr/>
        </p:nvSpPr>
        <p:spPr>
          <a:xfrm>
            <a:off x="548640" y="6382512"/>
            <a:ext cx="9144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Ocean RCS Design specimen</a:t>
            </a:r>
            <a:endParaRPr lang="en-US" sz="1000" dirty="0"/>
          </a:p>
        </p:txBody>
      </p:sp>
      <p:sp>
        <p:nvSpPr>
          <p:cNvPr id="5" name="ocean:footer"/>
          <p:cNvSpPr/>
          <p:nvPr/>
        </p:nvSpPr>
        <p:spPr>
          <a:xfrm>
            <a:off x="11185855" y="638251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09</a:t>
            </a:r>
            <a:endParaRPr lang="en-US" sz="1000" dirty="0"/>
          </a:p>
        </p:txBody>
      </p:sp>
      <p:sp>
        <p:nvSpPr>
          <p:cNvPr id="6" name="ocean:label"/>
          <p:cNvSpPr/>
          <p:nvPr/>
        </p:nvSpPr>
        <p:spPr>
          <a:xfrm>
            <a:off x="3657600" y="530352"/>
            <a:ext cx="79854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EDITABLE EVIDENCE</a:t>
            </a:r>
            <a:endParaRPr lang="en-US" sz="1300" dirty="0"/>
          </a:p>
        </p:txBody>
      </p:sp>
      <p:sp>
        <p:nvSpPr>
          <p:cNvPr id="7" name="ocean:headline"/>
          <p:cNvSpPr/>
          <p:nvPr/>
        </p:nvSpPr>
        <p:spPr>
          <a:xfrm>
            <a:off x="548640" y="1115568"/>
            <a:ext cx="1109441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3200" b="1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Charts explain a comparison without decoration</a:t>
            </a:r>
            <a:endParaRPr lang="en-US" sz="32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48640" y="2331720"/>
          <a:ext cx="7315200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Shape 5"/>
          <p:cNvSpPr/>
          <p:nvPr/>
        </p:nvSpPr>
        <p:spPr>
          <a:xfrm>
            <a:off x="8366760" y="2331720"/>
            <a:ext cx="3273552" cy="0"/>
          </a:xfrm>
          <a:prstGeom prst="line">
            <a:avLst/>
          </a:prstGeom>
          <a:noFill/>
          <a:ln w="8890">
            <a:solidFill>
              <a:srgbClr val="618C7C"/>
            </a:solidFill>
            <a:prstDash val="solid"/>
          </a:ln>
        </p:spPr>
      </p:sp>
      <p:sp>
        <p:nvSpPr>
          <p:cNvPr id="10" name="ocean:body"/>
          <p:cNvSpPr/>
          <p:nvPr/>
        </p:nvSpPr>
        <p:spPr>
          <a:xfrm>
            <a:off x="8366760" y="2606040"/>
            <a:ext cx="3273552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Use direct units and a visible</a:t>
            </a:r>
            <a:endParaRPr lang="en-US" sz="18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source. Keep the key</a:t>
            </a:r>
            <a:endParaRPr lang="en-US" sz="18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comparison easy to read.</a:t>
            </a:r>
            <a:endParaRPr lang="en-US" sz="1800" dirty="0"/>
          </a:p>
        </p:txBody>
      </p:sp>
      <p:sp>
        <p:nvSpPr>
          <p:cNvPr id="11" name="ocean:footnote"/>
          <p:cNvSpPr/>
          <p:nvPr/>
        </p:nvSpPr>
        <p:spPr>
          <a:xfrm>
            <a:off x="548640" y="592531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ILLUSTRATIVE DESIGN DATA ONLY. Not a forecast or Ocean performance claim.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cean:logo" descr="C:\Users\sctho\OneDrive\Documents\ChatGPT\Ocean Presentations\assets\logos\Ocean_LOGO_Horizonta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475488"/>
            <a:ext cx="1371600" cy="2926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48640" y="6281928"/>
            <a:ext cx="11094415" cy="0"/>
          </a:xfrm>
          <a:prstGeom prst="line">
            <a:avLst/>
          </a:prstGeom>
          <a:noFill/>
          <a:ln w="8890">
            <a:solidFill>
              <a:srgbClr val="D5DED9"/>
            </a:solidFill>
            <a:prstDash val="solid"/>
          </a:ln>
        </p:spPr>
      </p:sp>
      <p:sp>
        <p:nvSpPr>
          <p:cNvPr id="4" name="ocean:footer"/>
          <p:cNvSpPr/>
          <p:nvPr/>
        </p:nvSpPr>
        <p:spPr>
          <a:xfrm>
            <a:off x="548640" y="6382512"/>
            <a:ext cx="9144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Ocean RCS Design specimen</a:t>
            </a:r>
            <a:endParaRPr lang="en-US" sz="1000" dirty="0"/>
          </a:p>
        </p:txBody>
      </p:sp>
      <p:sp>
        <p:nvSpPr>
          <p:cNvPr id="5" name="ocean:footer"/>
          <p:cNvSpPr/>
          <p:nvPr/>
        </p:nvSpPr>
        <p:spPr>
          <a:xfrm>
            <a:off x="11185855" y="638251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ocean:label"/>
          <p:cNvSpPr/>
          <p:nvPr/>
        </p:nvSpPr>
        <p:spPr>
          <a:xfrm>
            <a:off x="3657600" y="530352"/>
            <a:ext cx="79854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PROJECT EVIDENCE</a:t>
            </a:r>
            <a:endParaRPr lang="en-US" sz="1300" dirty="0"/>
          </a:p>
        </p:txBody>
      </p:sp>
      <p:sp>
        <p:nvSpPr>
          <p:cNvPr id="7" name="ocean:headline"/>
          <p:cNvSpPr/>
          <p:nvPr/>
        </p:nvSpPr>
        <p:spPr>
          <a:xfrm>
            <a:off x="548640" y="1115568"/>
            <a:ext cx="1109441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3200" b="1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A case study begins with verified facts</a:t>
            </a:r>
            <a:endParaRPr lang="en-US" sz="3200" dirty="0"/>
          </a:p>
        </p:txBody>
      </p:sp>
      <p:sp>
        <p:nvSpPr>
          <p:cNvPr id="8" name="ocean:label"/>
          <p:cNvSpPr/>
          <p:nvPr/>
        </p:nvSpPr>
        <p:spPr>
          <a:xfrm>
            <a:off x="548640" y="2331720"/>
            <a:ext cx="443776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Identity</a:t>
            </a:r>
            <a:endParaRPr lang="en-US" sz="1300" dirty="0"/>
          </a:p>
        </p:txBody>
      </p:sp>
      <p:sp>
        <p:nvSpPr>
          <p:cNvPr id="9" name="ocean:body"/>
          <p:cNvSpPr/>
          <p:nvPr/>
        </p:nvSpPr>
        <p:spPr>
          <a:xfrm>
            <a:off x="5319239" y="2331720"/>
            <a:ext cx="632381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Name the actual project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48640" y="2843784"/>
            <a:ext cx="11094415" cy="0"/>
          </a:xfrm>
          <a:prstGeom prst="line">
            <a:avLst/>
          </a:prstGeom>
          <a:noFill/>
          <a:ln w="8890">
            <a:solidFill>
              <a:srgbClr val="D5DED9"/>
            </a:solidFill>
            <a:prstDash val="solid"/>
          </a:ln>
        </p:spPr>
      </p:sp>
      <p:sp>
        <p:nvSpPr>
          <p:cNvPr id="11" name="ocean:label"/>
          <p:cNvSpPr/>
          <p:nvPr/>
        </p:nvSpPr>
        <p:spPr>
          <a:xfrm>
            <a:off x="548640" y="2944368"/>
            <a:ext cx="443776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Scope</a:t>
            </a:r>
            <a:endParaRPr lang="en-US" sz="1300" dirty="0"/>
          </a:p>
        </p:txBody>
      </p:sp>
      <p:sp>
        <p:nvSpPr>
          <p:cNvPr id="12" name="ocean:body"/>
          <p:cNvSpPr/>
          <p:nvPr/>
        </p:nvSpPr>
        <p:spPr>
          <a:xfrm>
            <a:off x="5319239" y="2944368"/>
            <a:ext cx="632381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State the delivered work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548640" y="3456432"/>
            <a:ext cx="11094415" cy="0"/>
          </a:xfrm>
          <a:prstGeom prst="line">
            <a:avLst/>
          </a:prstGeom>
          <a:noFill/>
          <a:ln w="8890">
            <a:solidFill>
              <a:srgbClr val="D5DED9"/>
            </a:solidFill>
            <a:prstDash val="solid"/>
          </a:ln>
        </p:spPr>
      </p:sp>
      <p:sp>
        <p:nvSpPr>
          <p:cNvPr id="14" name="ocean:label"/>
          <p:cNvSpPr/>
          <p:nvPr/>
        </p:nvSpPr>
        <p:spPr>
          <a:xfrm>
            <a:off x="548640" y="3557016"/>
            <a:ext cx="443776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Status</a:t>
            </a:r>
            <a:endParaRPr lang="en-US" sz="1300" dirty="0"/>
          </a:p>
        </p:txBody>
      </p:sp>
      <p:sp>
        <p:nvSpPr>
          <p:cNvPr id="15" name="ocean:body"/>
          <p:cNvSpPr/>
          <p:nvPr/>
        </p:nvSpPr>
        <p:spPr>
          <a:xfrm>
            <a:off x="5319239" y="3557016"/>
            <a:ext cx="632381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Distinguish planned and completed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548640" y="4069080"/>
            <a:ext cx="11094415" cy="0"/>
          </a:xfrm>
          <a:prstGeom prst="line">
            <a:avLst/>
          </a:prstGeom>
          <a:noFill/>
          <a:ln w="8890">
            <a:solidFill>
              <a:srgbClr val="D5DED9"/>
            </a:solidFill>
            <a:prstDash val="solid"/>
          </a:ln>
        </p:spPr>
      </p:sp>
      <p:sp>
        <p:nvSpPr>
          <p:cNvPr id="17" name="ocean:label"/>
          <p:cNvSpPr/>
          <p:nvPr/>
        </p:nvSpPr>
        <p:spPr>
          <a:xfrm>
            <a:off x="548640" y="4169664"/>
            <a:ext cx="443776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Source</a:t>
            </a:r>
            <a:endParaRPr lang="en-US" sz="1300" dirty="0"/>
          </a:p>
        </p:txBody>
      </p:sp>
      <p:sp>
        <p:nvSpPr>
          <p:cNvPr id="18" name="ocean:body"/>
          <p:cNvSpPr/>
          <p:nvPr/>
        </p:nvSpPr>
        <p:spPr>
          <a:xfrm>
            <a:off x="5319239" y="4169664"/>
            <a:ext cx="632381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Link the supporting record</a:t>
            </a:r>
            <a:endParaRPr lang="en-US" sz="1700" dirty="0"/>
          </a:p>
        </p:txBody>
      </p:sp>
      <p:sp>
        <p:nvSpPr>
          <p:cNvPr id="19" name="Shape 16"/>
          <p:cNvSpPr/>
          <p:nvPr/>
        </p:nvSpPr>
        <p:spPr>
          <a:xfrm>
            <a:off x="548640" y="4681728"/>
            <a:ext cx="11094415" cy="0"/>
          </a:xfrm>
          <a:prstGeom prst="line">
            <a:avLst/>
          </a:prstGeom>
          <a:noFill/>
          <a:ln w="8890">
            <a:solidFill>
              <a:srgbClr val="D5DED9"/>
            </a:solidFill>
            <a:prstDash val="solid"/>
          </a:ln>
        </p:spPr>
      </p:sp>
      <p:sp>
        <p:nvSpPr>
          <p:cNvPr id="20" name="ocean:body"/>
          <p:cNvSpPr/>
          <p:nvPr/>
        </p:nvSpPr>
        <p:spPr>
          <a:xfrm>
            <a:off x="548640" y="5010912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70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Add a real project photograph when available. Never create a synthetic site to imply execution.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cean:logo" descr="C:\Users\sctho\OneDrive\Documents\ChatGPT\Ocean Presentations\assets\logos\Ocean_LOGO_Horizonta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475488"/>
            <a:ext cx="1371600" cy="2926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48640" y="6281928"/>
            <a:ext cx="11094415" cy="0"/>
          </a:xfrm>
          <a:prstGeom prst="line">
            <a:avLst/>
          </a:prstGeom>
          <a:noFill/>
          <a:ln w="8890">
            <a:solidFill>
              <a:srgbClr val="D5DED9"/>
            </a:solidFill>
            <a:prstDash val="solid"/>
          </a:ln>
        </p:spPr>
      </p:sp>
      <p:sp>
        <p:nvSpPr>
          <p:cNvPr id="4" name="ocean:footer"/>
          <p:cNvSpPr/>
          <p:nvPr/>
        </p:nvSpPr>
        <p:spPr>
          <a:xfrm>
            <a:off x="548640" y="6382512"/>
            <a:ext cx="9144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Ocean RCS Design specimen</a:t>
            </a:r>
            <a:endParaRPr lang="en-US" sz="1000" dirty="0"/>
          </a:p>
        </p:txBody>
      </p:sp>
      <p:sp>
        <p:nvSpPr>
          <p:cNvPr id="5" name="ocean:footer"/>
          <p:cNvSpPr/>
          <p:nvPr/>
        </p:nvSpPr>
        <p:spPr>
          <a:xfrm>
            <a:off x="11185855" y="638251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11</a:t>
            </a:r>
            <a:endParaRPr lang="en-US" sz="1000" dirty="0"/>
          </a:p>
        </p:txBody>
      </p:sp>
      <p:sp>
        <p:nvSpPr>
          <p:cNvPr id="6" name="ocean:label"/>
          <p:cNvSpPr/>
          <p:nvPr/>
        </p:nvSpPr>
        <p:spPr>
          <a:xfrm>
            <a:off x="3657600" y="530352"/>
            <a:ext cx="79854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COMPANY OVERVIEW</a:t>
            </a:r>
            <a:endParaRPr lang="en-US" sz="1300" dirty="0"/>
          </a:p>
        </p:txBody>
      </p:sp>
      <p:sp>
        <p:nvSpPr>
          <p:cNvPr id="7" name="ocean:headline"/>
          <p:cNvSpPr/>
          <p:nvPr/>
        </p:nvSpPr>
        <p:spPr>
          <a:xfrm>
            <a:off x="548640" y="1115568"/>
            <a:ext cx="1109441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3200" b="1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Credibility comes from specific responsibilities</a:t>
            </a:r>
            <a:endParaRPr lang="en-US" sz="3200" dirty="0"/>
          </a:p>
        </p:txBody>
      </p:sp>
      <p:sp>
        <p:nvSpPr>
          <p:cNvPr id="8" name="Shape 5"/>
          <p:cNvSpPr/>
          <p:nvPr/>
        </p:nvSpPr>
        <p:spPr>
          <a:xfrm>
            <a:off x="548640" y="2331720"/>
            <a:ext cx="3393338" cy="0"/>
          </a:xfrm>
          <a:prstGeom prst="line">
            <a:avLst/>
          </a:prstGeom>
          <a:noFill/>
          <a:ln w="8890">
            <a:solidFill>
              <a:srgbClr val="D5DED9"/>
            </a:solidFill>
            <a:prstDash val="solid"/>
          </a:ln>
        </p:spPr>
      </p:sp>
      <p:sp>
        <p:nvSpPr>
          <p:cNvPr id="9" name="ocean:section"/>
          <p:cNvSpPr/>
          <p:nvPr/>
        </p:nvSpPr>
        <p:spPr>
          <a:xfrm>
            <a:off x="548640" y="2697480"/>
            <a:ext cx="33933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200" b="1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Leadership</a:t>
            </a:r>
            <a:endParaRPr lang="en-US" sz="2200" dirty="0"/>
          </a:p>
        </p:txBody>
      </p:sp>
      <p:sp>
        <p:nvSpPr>
          <p:cNvPr id="10" name="ocean:label"/>
          <p:cNvSpPr/>
          <p:nvPr/>
        </p:nvSpPr>
        <p:spPr>
          <a:xfrm>
            <a:off x="548640" y="3566160"/>
            <a:ext cx="339333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COMMERCIAL RESPONSIBILITY</a:t>
            </a:r>
            <a:endParaRPr lang="en-US" sz="1300" dirty="0"/>
          </a:p>
        </p:txBody>
      </p:sp>
      <p:sp>
        <p:nvSpPr>
          <p:cNvPr id="11" name="ocean:body"/>
          <p:cNvSpPr/>
          <p:nvPr/>
        </p:nvSpPr>
        <p:spPr>
          <a:xfrm>
            <a:off x="548640" y="4297680"/>
            <a:ext cx="339333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70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Use a verified name, role and</a:t>
            </a:r>
            <a:endParaRPr lang="en-US" sz="17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70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concise record of relevant</a:t>
            </a:r>
            <a:endParaRPr lang="en-US" sz="17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70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experience.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4399178" y="2331720"/>
            <a:ext cx="3393338" cy="0"/>
          </a:xfrm>
          <a:prstGeom prst="line">
            <a:avLst/>
          </a:prstGeom>
          <a:noFill/>
          <a:ln w="8890">
            <a:solidFill>
              <a:srgbClr val="D5DED9"/>
            </a:solidFill>
            <a:prstDash val="solid"/>
          </a:ln>
        </p:spPr>
      </p:sp>
      <p:sp>
        <p:nvSpPr>
          <p:cNvPr id="13" name="ocean:section"/>
          <p:cNvSpPr/>
          <p:nvPr/>
        </p:nvSpPr>
        <p:spPr>
          <a:xfrm>
            <a:off x="4399178" y="2697480"/>
            <a:ext cx="33933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200" b="1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Operations</a:t>
            </a:r>
            <a:endParaRPr lang="en-US" sz="2200" dirty="0"/>
          </a:p>
        </p:txBody>
      </p:sp>
      <p:sp>
        <p:nvSpPr>
          <p:cNvPr id="14" name="ocean:label"/>
          <p:cNvSpPr/>
          <p:nvPr/>
        </p:nvSpPr>
        <p:spPr>
          <a:xfrm>
            <a:off x="4399178" y="3566160"/>
            <a:ext cx="339333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DELIVERY RESPONSIBILITY</a:t>
            </a:r>
            <a:endParaRPr lang="en-US" sz="1300" dirty="0"/>
          </a:p>
        </p:txBody>
      </p:sp>
      <p:sp>
        <p:nvSpPr>
          <p:cNvPr id="15" name="ocean:body"/>
          <p:cNvSpPr/>
          <p:nvPr/>
        </p:nvSpPr>
        <p:spPr>
          <a:xfrm>
            <a:off x="4399178" y="4297680"/>
            <a:ext cx="339333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70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Explain the work this person</a:t>
            </a:r>
            <a:endParaRPr lang="en-US" sz="17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70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owns. Avoid inflated descriptions.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8249717" y="2331720"/>
            <a:ext cx="3393338" cy="0"/>
          </a:xfrm>
          <a:prstGeom prst="line">
            <a:avLst/>
          </a:prstGeom>
          <a:noFill/>
          <a:ln w="8890">
            <a:solidFill>
              <a:srgbClr val="D5DED9"/>
            </a:solidFill>
            <a:prstDash val="solid"/>
          </a:ln>
        </p:spPr>
      </p:sp>
      <p:sp>
        <p:nvSpPr>
          <p:cNvPr id="17" name="ocean:section"/>
          <p:cNvSpPr/>
          <p:nvPr/>
        </p:nvSpPr>
        <p:spPr>
          <a:xfrm>
            <a:off x="8249717" y="2697480"/>
            <a:ext cx="33933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200" b="1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Technical</a:t>
            </a:r>
            <a:endParaRPr lang="en-US" sz="2200" dirty="0"/>
          </a:p>
        </p:txBody>
      </p:sp>
      <p:sp>
        <p:nvSpPr>
          <p:cNvPr id="18" name="ocean:label"/>
          <p:cNvSpPr/>
          <p:nvPr/>
        </p:nvSpPr>
        <p:spPr>
          <a:xfrm>
            <a:off x="8249717" y="3566160"/>
            <a:ext cx="339333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TECHNICAL RESPONSIBILITY</a:t>
            </a:r>
            <a:endParaRPr lang="en-US" sz="1300" dirty="0"/>
          </a:p>
        </p:txBody>
      </p:sp>
      <p:sp>
        <p:nvSpPr>
          <p:cNvPr id="19" name="ocean:body"/>
          <p:cNvSpPr/>
          <p:nvPr/>
        </p:nvSpPr>
        <p:spPr>
          <a:xfrm>
            <a:off x="8249717" y="4297680"/>
            <a:ext cx="339333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70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Include confirmed qualifications.</a:t>
            </a:r>
            <a:endParaRPr lang="en-US" sz="17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70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Use a supplied headshot or no</a:t>
            </a:r>
            <a:endParaRPr lang="en-US" sz="17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70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photo.</a:t>
            </a: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cean:logo" descr="C:\Users\sctho\OneDrive\Documents\ChatGPT\Ocean Presentations\assets\logos\Ocean_LOGO_Horizonta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475488"/>
            <a:ext cx="1371600" cy="2926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48640" y="6281928"/>
            <a:ext cx="11094415" cy="0"/>
          </a:xfrm>
          <a:prstGeom prst="line">
            <a:avLst/>
          </a:prstGeom>
          <a:noFill/>
          <a:ln w="8890">
            <a:solidFill>
              <a:srgbClr val="D5DED9"/>
            </a:solidFill>
            <a:prstDash val="solid"/>
          </a:ln>
        </p:spPr>
      </p:sp>
      <p:sp>
        <p:nvSpPr>
          <p:cNvPr id="4" name="ocean:footer"/>
          <p:cNvSpPr/>
          <p:nvPr/>
        </p:nvSpPr>
        <p:spPr>
          <a:xfrm>
            <a:off x="548640" y="6382512"/>
            <a:ext cx="9144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Ocean RCS Design specimen</a:t>
            </a:r>
            <a:endParaRPr lang="en-US" sz="1000" dirty="0"/>
          </a:p>
        </p:txBody>
      </p:sp>
      <p:sp>
        <p:nvSpPr>
          <p:cNvPr id="5" name="ocean:footer"/>
          <p:cNvSpPr/>
          <p:nvPr/>
        </p:nvSpPr>
        <p:spPr>
          <a:xfrm>
            <a:off x="11185855" y="638251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12</a:t>
            </a:r>
            <a:endParaRPr lang="en-US" sz="1000" dirty="0"/>
          </a:p>
        </p:txBody>
      </p:sp>
      <p:sp>
        <p:nvSpPr>
          <p:cNvPr id="7" name="ocean:label"/>
          <p:cNvSpPr/>
          <p:nvPr/>
        </p:nvSpPr>
        <p:spPr>
          <a:xfrm>
            <a:off x="3657600" y="530352"/>
            <a:ext cx="79854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NEXT ACTION</a:t>
            </a:r>
            <a:endParaRPr lang="en-US" sz="1300" dirty="0"/>
          </a:p>
        </p:txBody>
      </p:sp>
      <p:sp>
        <p:nvSpPr>
          <p:cNvPr id="8" name="ocean:headline"/>
          <p:cNvSpPr/>
          <p:nvPr/>
        </p:nvSpPr>
        <p:spPr>
          <a:xfrm>
            <a:off x="548640" y="1115568"/>
            <a:ext cx="1109441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3200" b="1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Close with the decision and its supporting steps</a:t>
            </a:r>
            <a:endParaRPr lang="en-US" sz="3200" dirty="0"/>
          </a:p>
        </p:txBody>
      </p:sp>
      <p:sp>
        <p:nvSpPr>
          <p:cNvPr id="9" name="ocean:metric"/>
          <p:cNvSpPr/>
          <p:nvPr/>
        </p:nvSpPr>
        <p:spPr>
          <a:xfrm>
            <a:off x="548640" y="2331720"/>
            <a:ext cx="4663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4800" b="1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[TBD]</a:t>
            </a:r>
            <a:endParaRPr lang="en-US" sz="4800" dirty="0"/>
          </a:p>
        </p:txBody>
      </p:sp>
      <p:sp>
        <p:nvSpPr>
          <p:cNvPr id="10" name="ocean:body"/>
          <p:cNvSpPr/>
          <p:nvPr/>
        </p:nvSpPr>
        <p:spPr>
          <a:xfrm>
            <a:off x="548640" y="347472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7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Verified project amount</a:t>
            </a:r>
            <a:endParaRPr lang="en-US" sz="1700" dirty="0"/>
          </a:p>
        </p:txBody>
      </p:sp>
      <p:sp>
        <p:nvSpPr>
          <p:cNvPr id="11" name="ocean:body"/>
          <p:cNvSpPr/>
          <p:nvPr/>
        </p:nvSpPr>
        <p:spPr>
          <a:xfrm>
            <a:off x="548640" y="41605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Approved scope</a:t>
            </a:r>
            <a:endParaRPr lang="en-US" sz="1600" dirty="0"/>
          </a:p>
        </p:txBody>
      </p:sp>
      <p:sp>
        <p:nvSpPr>
          <p:cNvPr id="12" name="ocean:body"/>
          <p:cNvSpPr/>
          <p:nvPr/>
        </p:nvSpPr>
        <p:spPr>
          <a:xfrm>
            <a:off x="4114800" y="416052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[TBD]</a:t>
            </a:r>
            <a:endParaRPr lang="en-US" sz="1600" dirty="0"/>
          </a:p>
        </p:txBody>
      </p:sp>
      <p:sp>
        <p:nvSpPr>
          <p:cNvPr id="13" name="ocean:body"/>
          <p:cNvSpPr/>
          <p:nvPr/>
        </p:nvSpPr>
        <p:spPr>
          <a:xfrm>
            <a:off x="548640" y="45720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Terms</a:t>
            </a:r>
            <a:endParaRPr lang="en-US" sz="1600" dirty="0"/>
          </a:p>
        </p:txBody>
      </p:sp>
      <p:sp>
        <p:nvSpPr>
          <p:cNvPr id="14" name="ocean:body"/>
          <p:cNvSpPr/>
          <p:nvPr/>
        </p:nvSpPr>
        <p:spPr>
          <a:xfrm>
            <a:off x="4114800" y="457200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[TBD]</a:t>
            </a:r>
            <a:endParaRPr lang="en-US" sz="1600" dirty="0"/>
          </a:p>
        </p:txBody>
      </p:sp>
      <p:sp>
        <p:nvSpPr>
          <p:cNvPr id="15" name="Shape 11"/>
          <p:cNvSpPr/>
          <p:nvPr/>
        </p:nvSpPr>
        <p:spPr>
          <a:xfrm>
            <a:off x="6400800" y="2331720"/>
            <a:ext cx="5239512" cy="0"/>
          </a:xfrm>
          <a:prstGeom prst="line">
            <a:avLst/>
          </a:prstGeom>
          <a:noFill/>
          <a:ln w="8890">
            <a:solidFill>
              <a:srgbClr val="618C7C"/>
            </a:solidFill>
            <a:prstDash val="solid"/>
          </a:ln>
        </p:spPr>
      </p:sp>
      <p:sp>
        <p:nvSpPr>
          <p:cNvPr id="16" name="ocean:body"/>
          <p:cNvSpPr/>
          <p:nvPr/>
        </p:nvSpPr>
        <p:spPr>
          <a:xfrm>
            <a:off x="6400800" y="2651760"/>
            <a:ext cx="52395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70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1. Review the evidence</a:t>
            </a:r>
            <a:endParaRPr lang="en-US" sz="1700" dirty="0"/>
          </a:p>
        </p:txBody>
      </p:sp>
      <p:sp>
        <p:nvSpPr>
          <p:cNvPr id="17" name="ocean:body"/>
          <p:cNvSpPr/>
          <p:nvPr/>
        </p:nvSpPr>
        <p:spPr>
          <a:xfrm>
            <a:off x="6400800" y="3401568"/>
            <a:ext cx="52395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70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2. Resolve open assumptions</a:t>
            </a:r>
            <a:endParaRPr lang="en-US" sz="1700" dirty="0"/>
          </a:p>
        </p:txBody>
      </p:sp>
      <p:sp>
        <p:nvSpPr>
          <p:cNvPr id="18" name="ocean:body"/>
          <p:cNvSpPr/>
          <p:nvPr/>
        </p:nvSpPr>
        <p:spPr>
          <a:xfrm>
            <a:off x="6400800" y="4151376"/>
            <a:ext cx="52395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70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3. Confirm the agreed next action</a:t>
            </a:r>
            <a:endParaRPr lang="en-US" sz="1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cean:logo" descr="C:\Users\sctho\OneDrive\Documents\ChatGPT\Ocean Presentations\assets\logos\Ocean_LOGO_Horizonta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475488"/>
            <a:ext cx="1371600" cy="2926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48640" y="6281928"/>
            <a:ext cx="11094415" cy="0"/>
          </a:xfrm>
          <a:prstGeom prst="line">
            <a:avLst/>
          </a:prstGeom>
          <a:noFill/>
          <a:ln w="8890">
            <a:solidFill>
              <a:srgbClr val="D5DED9"/>
            </a:solidFill>
            <a:prstDash val="solid"/>
          </a:ln>
        </p:spPr>
      </p:sp>
      <p:sp>
        <p:nvSpPr>
          <p:cNvPr id="4" name="ocean:footer"/>
          <p:cNvSpPr/>
          <p:nvPr/>
        </p:nvSpPr>
        <p:spPr>
          <a:xfrm>
            <a:off x="548640" y="6382512"/>
            <a:ext cx="9144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Ocean RCS Design specimen</a:t>
            </a:r>
            <a:endParaRPr lang="en-US" sz="1000" dirty="0"/>
          </a:p>
        </p:txBody>
      </p:sp>
      <p:sp>
        <p:nvSpPr>
          <p:cNvPr id="5" name="ocean:footer"/>
          <p:cNvSpPr/>
          <p:nvPr/>
        </p:nvSpPr>
        <p:spPr>
          <a:xfrm>
            <a:off x="11185855" y="638251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13</a:t>
            </a:r>
            <a:endParaRPr lang="en-US" sz="1000" dirty="0"/>
          </a:p>
        </p:txBody>
      </p:sp>
      <p:sp>
        <p:nvSpPr>
          <p:cNvPr id="6" name="ocean:label"/>
          <p:cNvSpPr/>
          <p:nvPr/>
        </p:nvSpPr>
        <p:spPr>
          <a:xfrm>
            <a:off x="3657600" y="530352"/>
            <a:ext cx="79854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APPENDIX</a:t>
            </a:r>
            <a:endParaRPr lang="en-US" sz="1300" dirty="0"/>
          </a:p>
        </p:txBody>
      </p:sp>
      <p:sp>
        <p:nvSpPr>
          <p:cNvPr id="7" name="ocean:headline"/>
          <p:cNvSpPr/>
          <p:nvPr/>
        </p:nvSpPr>
        <p:spPr>
          <a:xfrm>
            <a:off x="548640" y="1115568"/>
            <a:ext cx="1109441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3200" b="1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Keep useful detail accessible</a:t>
            </a:r>
            <a:endParaRPr lang="en-US" sz="3200" dirty="0"/>
          </a:p>
        </p:txBody>
      </p:sp>
      <p:graphicFrame>
        <p:nvGraphicFramePr>
          <p:cNvPr id="14" name="ocean: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331720"/>
          <a:ext cx="1109441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5029200"/>
                <a:gridCol w="3322015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Record</a:t>
                      </a:r>
                      <a:endParaRPr lang="en-US" sz="13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4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Include</a:t>
                      </a:r>
                      <a:endParaRPr lang="en-US" sz="13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4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Purpose</a:t>
                      </a:r>
                      <a:endParaRPr lang="en-US" sz="13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426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617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Source register</a:t>
                      </a:r>
                      <a:endParaRPr lang="en-US" sz="13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617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Document, date and owner</a:t>
                      </a:r>
                      <a:endParaRPr lang="en-US" sz="13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617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Trace each important claim</a:t>
                      </a:r>
                      <a:endParaRPr lang="en-US" sz="13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617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Assumptions</a:t>
                      </a:r>
                      <a:endParaRPr lang="en-US" sz="13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617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Input, basis and limitation</a:t>
                      </a:r>
                      <a:endParaRPr lang="en-US" sz="13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617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Show what remains uncertain</a:t>
                      </a:r>
                      <a:endParaRPr lang="en-US" sz="13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617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Technical detail</a:t>
                      </a:r>
                      <a:endParaRPr lang="en-US" sz="13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617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Relevant scope and specifications</a:t>
                      </a:r>
                      <a:endParaRPr lang="en-US" sz="13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617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Support diligence</a:t>
                      </a:r>
                      <a:endParaRPr lang="en-US" sz="13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617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Commercial terms</a:t>
                      </a:r>
                      <a:endParaRPr lang="en-US" sz="13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617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Verified inclusions and exclusions</a:t>
                      </a:r>
                      <a:endParaRPr lang="en-US" sz="13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617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Make boundaries explicit</a:t>
                      </a:r>
                      <a:endParaRPr lang="en-US" sz="13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109728" marR="109728" marT="64008" marB="64008" anchor="ctr">
                    <a:lnL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Stack Sans Headline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tack Sans Headline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Ocean RCS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Ocean RCS publication system</dc:title>
  <dc:subject>PptxGenJS Presentation</dc:subject>
  <dc:creator>PptxGenJS</dc:creator>
  <cp:lastModifiedBy>PptxGenJS</cp:lastModifiedBy>
  <cp:revision>1</cp:revision>
  <dcterms:created xsi:type="dcterms:W3CDTF">2026-09-26T02:20:37Z</dcterms:created>
  <dcterms:modified xsi:type="dcterms:W3CDTF">2026-09-26T02:20:37Z</dcterms:modified>
</cp:coreProperties>
</file>