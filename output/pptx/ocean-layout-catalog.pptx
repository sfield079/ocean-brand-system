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Ocean voice, Guide 06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ean:environment" descr="/home/user/workspace/audit/repo/output/.cache/env/rooftop-peacock-light-c41deb64da7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cean:frame"/>
          <p:cNvSpPr/>
          <p:nvPr/>
        </p:nvSpPr>
        <p:spPr>
          <a:xfrm>
            <a:off x="304800" y="304800"/>
            <a:ext cx="11582095" cy="6248400"/>
          </a:xfrm>
          <a:custGeom>
            <a:avLst/>
            <a:gdLst/>
            <a:ahLst/>
            <a:cxnLst/>
            <a:rect l="l" t="t" r="r" b="b"/>
            <a:pathLst>
              <a:path w="11582095" h="6248400">
                <a:moveTo>
                  <a:pt x="0" y="279400"/>
                </a:moveTo>
                <a:lnTo>
                  <a:pt x="279400" y="0"/>
                </a:lnTo>
                <a:lnTo>
                  <a:pt x="11455095" y="0"/>
                </a:lnTo>
                <a:quadBezTo>
                  <a:pt x="11582095" y="0"/>
                  <a:pt x="11582095" y="127000"/>
                </a:quadBezTo>
                <a:lnTo>
                  <a:pt x="11582095" y="6121400"/>
                </a:lnTo>
                <a:quadBezTo>
                  <a:pt x="11582095" y="6248400"/>
                  <a:pt x="11455095" y="6248400"/>
                </a:quadBezTo>
                <a:lnTo>
                  <a:pt x="127000" y="6248400"/>
                </a:lnTo>
                <a:quadBezTo>
                  <a:pt x="0" y="6248400"/>
                  <a:pt x="0" y="6121400"/>
                </a:quadBezTo>
                <a:close/>
              </a:path>
            </a:pathLst>
          </a:custGeom>
          <a:ln w="12700">
            <a:solidFill>
              <a:srgbClr val="F3FBF8"/>
            </a:solidFill>
            <a:prstDash val="solid"/>
          </a:ln>
        </p:spPr>
      </p:sp>
      <p:pic>
        <p:nvPicPr>
          <p:cNvPr id="4" name="ocean:logo-vertical" descr="/home/user/workspace/audit/repo/assets/logos/png/logo_vertical_honeyd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" y="685800"/>
            <a:ext cx="952536" cy="838200"/>
          </a:xfrm>
          <a:prstGeom prst="rect">
            <a:avLst/>
          </a:prstGeom>
        </p:spPr>
      </p:pic>
      <p:sp>
        <p:nvSpPr>
          <p:cNvPr id="5" name="ocean:label"/>
          <p:cNvSpPr/>
          <p:nvPr/>
        </p:nvSpPr>
        <p:spPr>
          <a:xfrm>
            <a:off x="8554415" y="63500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3720"/>
              </a:lnSpc>
              <a:buNone/>
            </a:pPr>
            <a:r>
              <a:rPr lang="en-US" sz="3000" spc="-6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2026</a:t>
            </a:r>
            <a:endParaRPr lang="en-US" sz="3000" dirty="0"/>
          </a:p>
        </p:txBody>
      </p:sp>
      <p:sp>
        <p:nvSpPr>
          <p:cNvPr id="6" name="ocean:label"/>
          <p:cNvSpPr/>
          <p:nvPr/>
        </p:nvSpPr>
        <p:spPr>
          <a:xfrm>
            <a:off x="7640015" y="12435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4"/>
              </a:lnSpc>
              <a:buNone/>
            </a:pPr>
            <a:r>
              <a:rPr lang="en-US" sz="1100" spc="275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LAYOUT CATALOG</a:t>
            </a:r>
            <a:endParaRPr lang="en-US" sz="1100" dirty="0"/>
          </a:p>
        </p:txBody>
      </p:sp>
      <p:sp>
        <p:nvSpPr>
          <p:cNvPr id="7" name="ocean:label"/>
          <p:cNvSpPr/>
          <p:nvPr/>
        </p:nvSpPr>
        <p:spPr>
          <a:xfrm>
            <a:off x="711200" y="3017520"/>
            <a:ext cx="10769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8"/>
              </a:lnSpc>
              <a:buNone/>
            </a:pPr>
            <a:r>
              <a:rPr lang="en-US" sz="1200" b="1" spc="30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INVESTOR BRIEFING</a:t>
            </a:r>
            <a:endParaRPr lang="en-US" sz="1200" dirty="0"/>
          </a:p>
        </p:txBody>
      </p:sp>
      <p:sp>
        <p:nvSpPr>
          <p:cNvPr id="8" name="ocean:cover"/>
          <p:cNvSpPr/>
          <p:nvPr/>
        </p:nvSpPr>
        <p:spPr>
          <a:xfrm>
            <a:off x="660400" y="3291840"/>
            <a:ext cx="10769295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8400" spc="-336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Layout</a:t>
            </a:r>
            <a:endParaRPr lang="en-US" sz="8400" dirty="0"/>
          </a:p>
          <a:p>
            <a:pPr algn="l" indent="0" marL="0">
              <a:lnSpc>
                <a:spcPts val="7200"/>
              </a:lnSpc>
              <a:buNone/>
            </a:pPr>
            <a:r>
              <a:rPr lang="en-US" sz="8400" spc="-336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Catalog</a:t>
            </a:r>
            <a:endParaRPr lang="en-US" sz="8400" dirty="0"/>
          </a:p>
        </p:txBody>
      </p:sp>
      <p:sp>
        <p:nvSpPr>
          <p:cNvPr id="9" name="ocean:notice"/>
          <p:cNvSpPr/>
          <p:nvPr/>
        </p:nvSpPr>
        <p:spPr>
          <a:xfrm>
            <a:off x="711200" y="5537200"/>
            <a:ext cx="10769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Confidential. For discussion only. Not an offer to sell or a solicitation of an offer to buy any security. Design specimen with illustrative figures and representative images. Do not use for any commercial</a:t>
            </a:r>
            <a:endParaRPr lang="en-US" sz="90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purpose.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711200" y="6083300"/>
            <a:ext cx="10769295" cy="0"/>
          </a:xfrm>
          <a:prstGeom prst="line">
            <a:avLst/>
          </a:prstGeom>
          <a:noFill/>
          <a:ln w="12700">
            <a:solidFill>
              <a:srgbClr val="F3FBF8"/>
            </a:solidFill>
            <a:prstDash val="solid"/>
          </a:ln>
        </p:spPr>
      </p:sp>
      <p:sp>
        <p:nvSpPr>
          <p:cNvPr id="11" name="ocean:meta"/>
          <p:cNvSpPr/>
          <p:nvPr/>
        </p:nvSpPr>
        <p:spPr>
          <a:xfrm>
            <a:off x="711200" y="6235700"/>
            <a:ext cx="135597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spc="250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PREPARED FOR</a:t>
            </a:r>
            <a:endParaRPr lang="en-US" sz="1000" dirty="0"/>
          </a:p>
        </p:txBody>
      </p:sp>
      <p:sp>
        <p:nvSpPr>
          <p:cNvPr id="12" name="ocean:meta"/>
          <p:cNvSpPr/>
          <p:nvPr/>
        </p:nvSpPr>
        <p:spPr>
          <a:xfrm>
            <a:off x="2176907" y="6235700"/>
            <a:ext cx="14753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spc="25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INVESTOR NAME</a:t>
            </a:r>
            <a:endParaRPr lang="en-US" sz="1000" dirty="0"/>
          </a:p>
        </p:txBody>
      </p:sp>
      <p:sp>
        <p:nvSpPr>
          <p:cNvPr id="13" name="ocean:meta"/>
          <p:cNvSpPr/>
          <p:nvPr/>
        </p:nvSpPr>
        <p:spPr>
          <a:xfrm>
            <a:off x="4091178" y="6235700"/>
            <a:ext cx="50304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spc="250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DATE</a:t>
            </a:r>
            <a:endParaRPr lang="en-US" sz="1000" dirty="0"/>
          </a:p>
        </p:txBody>
      </p:sp>
      <p:sp>
        <p:nvSpPr>
          <p:cNvPr id="14" name="ocean:meta"/>
          <p:cNvSpPr/>
          <p:nvPr/>
        </p:nvSpPr>
        <p:spPr>
          <a:xfrm>
            <a:off x="4703953" y="6235700"/>
            <a:ext cx="11696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spc="25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26 SEP 2026</a:t>
            </a:r>
            <a:endParaRPr lang="en-US" sz="1000" dirty="0"/>
          </a:p>
        </p:txBody>
      </p:sp>
      <p:sp>
        <p:nvSpPr>
          <p:cNvPr id="15" name="ocean:meta"/>
          <p:cNvSpPr/>
          <p:nvPr/>
        </p:nvSpPr>
        <p:spPr>
          <a:xfrm>
            <a:off x="6312535" y="6235700"/>
            <a:ext cx="71742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spc="250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STATUS</a:t>
            </a:r>
            <a:endParaRPr lang="en-US" sz="1000" dirty="0"/>
          </a:p>
        </p:txBody>
      </p:sp>
      <p:sp>
        <p:nvSpPr>
          <p:cNvPr id="16" name="ocean:meta"/>
          <p:cNvSpPr/>
          <p:nvPr/>
        </p:nvSpPr>
        <p:spPr>
          <a:xfrm>
            <a:off x="7139686" y="6235700"/>
            <a:ext cx="9563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spc="25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SPECIMEN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cean:header"/>
          <p:cNvSpPr/>
          <p:nvPr/>
        </p:nvSpPr>
        <p:spPr>
          <a:xfrm>
            <a:off x="548640" y="329184"/>
            <a:ext cx="11094415" cy="609600"/>
          </a:xfrm>
          <a:prstGeom prst="rect">
            <a:avLst/>
          </a:prstGeom>
          <a:ln w="12700">
            <a:solidFill>
              <a:srgbClr val="1B4039"/>
            </a:solidFill>
            <a:prstDash val="solid"/>
          </a:ln>
        </p:spPr>
      </p:sp>
      <p:pic>
        <p:nvPicPr>
          <p:cNvPr id="3" name="ocean:logo-horizontal" descr="/home/user/workspace/audit/repo/assets/logos/png/logo_horizontal_ce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440" y="494284"/>
            <a:ext cx="1000657" cy="279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644140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5" name="ocean:header"/>
          <p:cNvSpPr/>
          <p:nvPr/>
        </p:nvSpPr>
        <p:spPr>
          <a:xfrm>
            <a:off x="2783840" y="420624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PAGE</a:t>
            </a:r>
            <a:endParaRPr lang="en-US" sz="900" dirty="0"/>
          </a:p>
        </p:txBody>
      </p:sp>
      <p:sp>
        <p:nvSpPr>
          <p:cNvPr id="6" name="ocean:header"/>
          <p:cNvSpPr/>
          <p:nvPr/>
        </p:nvSpPr>
        <p:spPr>
          <a:xfrm>
            <a:off x="2783840" y="630936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533140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87064" y="515112"/>
            <a:ext cx="765124" cy="237744"/>
          </a:xfrm>
          <a:prstGeom prst="rect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9" name="ocean:header"/>
          <p:cNvSpPr/>
          <p:nvPr/>
        </p:nvSpPr>
        <p:spPr>
          <a:xfrm>
            <a:off x="3751072" y="551688"/>
            <a:ext cx="765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COMPANY</a:t>
            </a:r>
            <a:endParaRPr lang="en-US" sz="900" dirty="0"/>
          </a:p>
        </p:txBody>
      </p:sp>
      <p:sp>
        <p:nvSpPr>
          <p:cNvPr id="10" name="ocean:header"/>
          <p:cNvSpPr/>
          <p:nvPr/>
        </p:nvSpPr>
        <p:spPr>
          <a:xfrm>
            <a:off x="4662500" y="551688"/>
            <a:ext cx="4788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TEAM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84299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12" name="ocean:header"/>
          <p:cNvSpPr/>
          <p:nvPr/>
        </p:nvSpPr>
        <p:spPr>
          <a:xfrm>
            <a:off x="8595055" y="420624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LAYOUT CATALOG</a:t>
            </a:r>
            <a:endParaRPr lang="en-US" sz="900" dirty="0"/>
          </a:p>
        </p:txBody>
      </p:sp>
      <p:sp>
        <p:nvSpPr>
          <p:cNvPr id="13" name="ocean:header"/>
          <p:cNvSpPr/>
          <p:nvPr/>
        </p:nvSpPr>
        <p:spPr>
          <a:xfrm>
            <a:off x="8595055" y="630936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OCEAN RCS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05254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525455" y="329184"/>
            <a:ext cx="558800" cy="609600"/>
          </a:xfrm>
          <a:prstGeom prst="rect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16" name="ocean:header"/>
          <p:cNvSpPr/>
          <p:nvPr/>
        </p:nvSpPr>
        <p:spPr>
          <a:xfrm>
            <a:off x="105711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01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10842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18" name="ocean:header"/>
          <p:cNvSpPr/>
          <p:nvPr/>
        </p:nvSpPr>
        <p:spPr>
          <a:xfrm>
            <a:off x="111299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ocean:label"/>
          <p:cNvSpPr/>
          <p:nvPr/>
        </p:nvSpPr>
        <p:spPr>
          <a:xfrm>
            <a:off x="548640" y="1335024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01 COMPANY</a:t>
            </a:r>
            <a:endParaRPr lang="en-US" sz="1100" dirty="0"/>
          </a:p>
        </p:txBody>
      </p:sp>
      <p:sp>
        <p:nvSpPr>
          <p:cNvPr id="20" name="ocean:headline"/>
          <p:cNvSpPr/>
          <p:nvPr/>
        </p:nvSpPr>
        <p:spPr>
          <a:xfrm>
            <a:off x="530352" y="1572768"/>
            <a:ext cx="634593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1B4039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Emphasis without noise</a:t>
            </a:r>
            <a:endParaRPr lang="en-US" sz="3500" dirty="0"/>
          </a:p>
        </p:txBody>
      </p:sp>
      <p:sp>
        <p:nvSpPr>
          <p:cNvPr id="21" name="Shape 18"/>
          <p:cNvSpPr/>
          <p:nvPr/>
        </p:nvSpPr>
        <p:spPr>
          <a:xfrm>
            <a:off x="548640" y="2734056"/>
            <a:ext cx="11094415" cy="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22" name="ocean:statement"/>
          <p:cNvSpPr/>
          <p:nvPr/>
        </p:nvSpPr>
        <p:spPr>
          <a:xfrm>
            <a:off x="548640" y="3044952"/>
            <a:ext cx="859536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Use</a:t>
            </a:r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 </a:t>
            </a:r>
            <a:pPr algn="l" indent="0" marL="0">
              <a:lnSpc>
                <a:spcPts val="3300"/>
              </a:lnSpc>
              <a:buNone/>
            </a:pPr>
            <a:r>
              <a:rPr lang="en-US" sz="2600" b="1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Bold</a:t>
            </a:r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 </a:t>
            </a:r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for the words that carry the point,</a:t>
            </a:r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 </a:t>
            </a:r>
            <a:pPr algn="l" indent="0" marL="0">
              <a:lnSpc>
                <a:spcPts val="3300"/>
              </a:lnSpc>
              <a:buNone/>
            </a:pPr>
            <a:r>
              <a:rPr lang="en-US" sz="2600" b="1" dirty="0">
                <a:solidFill>
                  <a:srgbClr val="F3FBF8"/>
                </a:solidFill>
                <a:highlight>
                  <a:srgbClr val="1B4039"/>
                </a:highlight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 a chip </a:t>
            </a:r>
            <a:endParaRPr lang="en-US" sz="2600" dirty="0"/>
          </a:p>
          <a:p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for the one fact that must pop, and a bottom line for the</a:t>
            </a:r>
            <a:endParaRPr lang="en-US" sz="2600" dirty="0"/>
          </a:p>
          <a:p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conclusion.</a:t>
            </a:r>
            <a:endParaRPr lang="en-US" sz="2600" dirty="0"/>
          </a:p>
        </p:txBody>
      </p:sp>
      <p:sp>
        <p:nvSpPr>
          <p:cNvPr id="23" name="ocean:bottom-line"/>
          <p:cNvSpPr/>
          <p:nvPr/>
        </p:nvSpPr>
        <p:spPr>
          <a:xfrm>
            <a:off x="548640" y="5559552"/>
            <a:ext cx="11094415" cy="493776"/>
          </a:xfrm>
          <a:custGeom>
            <a:avLst/>
            <a:gdLst/>
            <a:ahLst/>
            <a:cxnLst/>
            <a:rect l="l" t="t" r="r" b="b"/>
            <a:pathLst>
              <a:path w="11094415" h="493776">
                <a:moveTo>
                  <a:pt x="63500" y="0"/>
                </a:moveTo>
                <a:lnTo>
                  <a:pt x="11030915" y="0"/>
                </a:lnTo>
                <a:quadBezTo>
                  <a:pt x="11094415" y="0"/>
                  <a:pt x="11094415" y="63500"/>
                </a:quadBezTo>
                <a:lnTo>
                  <a:pt x="11094415" y="341376"/>
                </a:lnTo>
                <a:lnTo>
                  <a:pt x="10942015" y="493776"/>
                </a:lnTo>
                <a:lnTo>
                  <a:pt x="63500" y="493776"/>
                </a:lnTo>
                <a:quadBezTo>
                  <a:pt x="0" y="493776"/>
                  <a:pt x="0" y="430276"/>
                </a:quadBezTo>
                <a:lnTo>
                  <a:pt x="0" y="63500"/>
                </a:lnTo>
                <a:quadBezTo>
                  <a:pt x="0" y="0"/>
                  <a:pt x="63500" y="0"/>
                </a:quadBezTo>
                <a:close/>
              </a:path>
            </a:pathLst>
          </a:cu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31520" y="5755640"/>
            <a:ext cx="101600" cy="101600"/>
          </a:xfrm>
          <a:prstGeom prst="diamond">
            <a:avLst/>
          </a:prstGeom>
          <a:solidFill>
            <a:srgbClr val="F3FBF8"/>
          </a:solidFill>
          <a:ln w="12700">
            <a:solidFill>
              <a:srgbClr val="F3FBF8"/>
            </a:solidFill>
            <a:prstDash val="solid"/>
          </a:ln>
        </p:spPr>
      </p:sp>
      <p:sp>
        <p:nvSpPr>
          <p:cNvPr id="25" name="ocean:label"/>
          <p:cNvSpPr/>
          <p:nvPr/>
        </p:nvSpPr>
        <p:spPr>
          <a:xfrm>
            <a:off x="960120" y="5715000"/>
            <a:ext cx="1274318" cy="18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spc="250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BOTTOM LINE</a:t>
            </a:r>
            <a:endParaRPr lang="en-US" sz="1000" dirty="0"/>
          </a:p>
        </p:txBody>
      </p:sp>
      <p:sp>
        <p:nvSpPr>
          <p:cNvPr id="26" name="ocean:bottom-line"/>
          <p:cNvSpPr/>
          <p:nvPr/>
        </p:nvSpPr>
        <p:spPr>
          <a:xfrm>
            <a:off x="2325878" y="5669280"/>
            <a:ext cx="908857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500" b="1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One emphasis device per idea. Never all three on one line.</a:t>
            </a:r>
            <a:endParaRPr lang="en-US" sz="1500" dirty="0"/>
          </a:p>
        </p:txBody>
      </p:sp>
      <p:sp>
        <p:nvSpPr>
          <p:cNvPr id="27" name="ocean:footer"/>
          <p:cNvSpPr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RCS · CONFIDENTIAL · FOR DISCUSSION ONLY · DESIGN SPECIMEN · DO NOT USE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cean:header"/>
          <p:cNvSpPr/>
          <p:nvPr/>
        </p:nvSpPr>
        <p:spPr>
          <a:xfrm>
            <a:off x="548640" y="329184"/>
            <a:ext cx="11094415" cy="609600"/>
          </a:xfrm>
          <a:prstGeom prst="rect">
            <a:avLst/>
          </a:prstGeom>
          <a:ln w="12700">
            <a:solidFill>
              <a:srgbClr val="1B4039"/>
            </a:solidFill>
            <a:prstDash val="solid"/>
          </a:ln>
        </p:spPr>
      </p:sp>
      <p:pic>
        <p:nvPicPr>
          <p:cNvPr id="3" name="ocean:logo-horizontal" descr="/home/user/workspace/audit/repo/assets/logos/png/logo_horizontal_ce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440" y="494284"/>
            <a:ext cx="1000657" cy="279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644140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5" name="ocean:header"/>
          <p:cNvSpPr/>
          <p:nvPr/>
        </p:nvSpPr>
        <p:spPr>
          <a:xfrm>
            <a:off x="2783840" y="420624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PAGE</a:t>
            </a:r>
            <a:endParaRPr lang="en-US" sz="900" dirty="0"/>
          </a:p>
        </p:txBody>
      </p:sp>
      <p:sp>
        <p:nvSpPr>
          <p:cNvPr id="6" name="ocean:header"/>
          <p:cNvSpPr/>
          <p:nvPr/>
        </p:nvSpPr>
        <p:spPr>
          <a:xfrm>
            <a:off x="2783840" y="630936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533140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87064" y="515112"/>
            <a:ext cx="765124" cy="237744"/>
          </a:xfrm>
          <a:prstGeom prst="rect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9" name="ocean:header"/>
          <p:cNvSpPr/>
          <p:nvPr/>
        </p:nvSpPr>
        <p:spPr>
          <a:xfrm>
            <a:off x="3751072" y="551688"/>
            <a:ext cx="765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COMPANY</a:t>
            </a:r>
            <a:endParaRPr lang="en-US" sz="900" dirty="0"/>
          </a:p>
        </p:txBody>
      </p:sp>
      <p:sp>
        <p:nvSpPr>
          <p:cNvPr id="10" name="ocean:header"/>
          <p:cNvSpPr/>
          <p:nvPr/>
        </p:nvSpPr>
        <p:spPr>
          <a:xfrm>
            <a:off x="4662500" y="551688"/>
            <a:ext cx="4788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TEAM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84299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12" name="ocean:header"/>
          <p:cNvSpPr/>
          <p:nvPr/>
        </p:nvSpPr>
        <p:spPr>
          <a:xfrm>
            <a:off x="8595055" y="420624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LAYOUT CATALOG</a:t>
            </a:r>
            <a:endParaRPr lang="en-US" sz="900" dirty="0"/>
          </a:p>
        </p:txBody>
      </p:sp>
      <p:sp>
        <p:nvSpPr>
          <p:cNvPr id="13" name="ocean:header"/>
          <p:cNvSpPr/>
          <p:nvPr/>
        </p:nvSpPr>
        <p:spPr>
          <a:xfrm>
            <a:off x="8595055" y="630936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OCEAN RCS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05254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525455" y="329184"/>
            <a:ext cx="558800" cy="609600"/>
          </a:xfrm>
          <a:prstGeom prst="rect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16" name="ocean:header"/>
          <p:cNvSpPr/>
          <p:nvPr/>
        </p:nvSpPr>
        <p:spPr>
          <a:xfrm>
            <a:off x="105711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01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10842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18" name="ocean:header"/>
          <p:cNvSpPr/>
          <p:nvPr/>
        </p:nvSpPr>
        <p:spPr>
          <a:xfrm>
            <a:off x="111299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ocean:label"/>
          <p:cNvSpPr/>
          <p:nvPr/>
        </p:nvSpPr>
        <p:spPr>
          <a:xfrm>
            <a:off x="548640" y="1335024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01 COMPANY</a:t>
            </a:r>
            <a:endParaRPr lang="en-US" sz="1100" dirty="0"/>
          </a:p>
        </p:txBody>
      </p:sp>
      <p:sp>
        <p:nvSpPr>
          <p:cNvPr id="20" name="ocean:headline"/>
          <p:cNvSpPr/>
          <p:nvPr/>
        </p:nvSpPr>
        <p:spPr>
          <a:xfrm>
            <a:off x="530352" y="1572768"/>
            <a:ext cx="634593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1B4039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Presentations and reports</a:t>
            </a:r>
            <a:endParaRPr lang="en-US" sz="3500" dirty="0"/>
          </a:p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1B4039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serve different readers</a:t>
            </a:r>
            <a:endParaRPr lang="en-US" sz="3500" dirty="0"/>
          </a:p>
        </p:txBody>
      </p:sp>
      <p:sp>
        <p:nvSpPr>
          <p:cNvPr id="21" name="ocean:lede"/>
          <p:cNvSpPr/>
          <p:nvPr/>
        </p:nvSpPr>
        <p:spPr>
          <a:xfrm>
            <a:off x="7040880" y="1572768"/>
            <a:ext cx="4602175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b="1" spc="263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SAME BRAND, DIFFERENT SYSTEMS.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48640" y="2734056"/>
            <a:ext cx="11094415" cy="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23" name="ocean:frame"/>
          <p:cNvSpPr/>
          <p:nvPr/>
        </p:nvSpPr>
        <p:spPr>
          <a:xfrm>
            <a:off x="548640" y="3044952"/>
            <a:ext cx="5318608" cy="3127248"/>
          </a:xfrm>
          <a:custGeom>
            <a:avLst/>
            <a:gdLst/>
            <a:ahLst/>
            <a:cxnLst/>
            <a:rect l="l" t="t" r="r" b="b"/>
            <a:pathLst>
              <a:path w="5318608" h="3127248">
                <a:moveTo>
                  <a:pt x="114300" y="0"/>
                </a:moveTo>
                <a:lnTo>
                  <a:pt x="5204308" y="0"/>
                </a:lnTo>
                <a:quadBezTo>
                  <a:pt x="5318608" y="0"/>
                  <a:pt x="5318608" y="114300"/>
                </a:quadBezTo>
                <a:lnTo>
                  <a:pt x="5318608" y="2898648"/>
                </a:lnTo>
                <a:lnTo>
                  <a:pt x="5090008" y="3127248"/>
                </a:lnTo>
                <a:lnTo>
                  <a:pt x="114300" y="3127248"/>
                </a:lnTo>
                <a:quadBezTo>
                  <a:pt x="0" y="3127248"/>
                  <a:pt x="0" y="3012948"/>
                </a:quadBezTo>
                <a:lnTo>
                  <a:pt x="0" y="114300"/>
                </a:lnTo>
                <a:quadBezTo>
                  <a:pt x="0" y="0"/>
                  <a:pt x="114300" y="0"/>
                </a:quadBezTo>
                <a:close/>
              </a:path>
            </a:pathLst>
          </a:custGeom>
          <a:ln w="9525">
            <a:solidFill>
              <a:srgbClr val="1B403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547208" y="3282696"/>
            <a:ext cx="82550" cy="82550"/>
          </a:xfrm>
          <a:prstGeom prst="diamond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25" name="ocean:section"/>
          <p:cNvSpPr/>
          <p:nvPr/>
        </p:nvSpPr>
        <p:spPr>
          <a:xfrm>
            <a:off x="777240" y="3246120"/>
            <a:ext cx="422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PRESENTATION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77240" y="3703320"/>
            <a:ext cx="4861408" cy="0"/>
          </a:xfrm>
          <a:prstGeom prst="line">
            <a:avLst/>
          </a:prstGeom>
          <a:noFill/>
          <a:ln w="6350">
            <a:solidFill>
              <a:srgbClr val="1B4039"/>
            </a:solidFill>
            <a:prstDash val="solid"/>
          </a:ln>
        </p:spPr>
      </p:sp>
      <p:sp>
        <p:nvSpPr>
          <p:cNvPr id="27" name="ocean:body"/>
          <p:cNvSpPr/>
          <p:nvPr/>
        </p:nvSpPr>
        <p:spPr>
          <a:xfrm>
            <a:off x="777240" y="3813048"/>
            <a:ext cx="486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5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One idea per slide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777240" y="4434840"/>
            <a:ext cx="4861408" cy="0"/>
          </a:xfrm>
          <a:prstGeom prst="line">
            <a:avLst/>
          </a:prstGeom>
          <a:noFill/>
          <a:ln w="6350">
            <a:solidFill>
              <a:srgbClr val="1B4039"/>
            </a:solidFill>
            <a:prstDash val="solid"/>
          </a:ln>
        </p:spPr>
      </p:sp>
      <p:sp>
        <p:nvSpPr>
          <p:cNvPr id="29" name="ocean:body"/>
          <p:cNvSpPr/>
          <p:nvPr/>
        </p:nvSpPr>
        <p:spPr>
          <a:xfrm>
            <a:off x="777240" y="4544568"/>
            <a:ext cx="486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5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A concise narrative for a</a:t>
            </a:r>
            <a:pPr algn="l" indent="0" marL="0">
              <a:lnSpc>
                <a:spcPts val="1860"/>
              </a:lnSpc>
              <a:buNone/>
            </a:pPr>
            <a:r>
              <a:rPr lang="en-US" sz="15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 </a:t>
            </a:r>
            <a:pPr algn="l" indent="0" marL="0">
              <a:lnSpc>
                <a:spcPts val="1860"/>
              </a:lnSpc>
              <a:buNone/>
            </a:pPr>
            <a:r>
              <a:rPr lang="en-US" sz="1500" b="1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meeting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777240" y="5166360"/>
            <a:ext cx="4861408" cy="0"/>
          </a:xfrm>
          <a:prstGeom prst="line">
            <a:avLst/>
          </a:prstGeom>
          <a:noFill/>
          <a:ln w="6350">
            <a:solidFill>
              <a:srgbClr val="1B4039"/>
            </a:solidFill>
            <a:prstDash val="solid"/>
          </a:ln>
        </p:spPr>
      </p:sp>
      <p:sp>
        <p:nvSpPr>
          <p:cNvPr id="31" name="ocean:body"/>
          <p:cNvSpPr/>
          <p:nvPr/>
        </p:nvSpPr>
        <p:spPr>
          <a:xfrm>
            <a:off x="777240" y="5276088"/>
            <a:ext cx="486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5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Editable charts and an appendix</a:t>
            </a:r>
            <a:endParaRPr lang="en-US" sz="1500" dirty="0"/>
          </a:p>
        </p:txBody>
      </p:sp>
      <p:sp>
        <p:nvSpPr>
          <p:cNvPr id="32" name="ocean:frame"/>
          <p:cNvSpPr/>
          <p:nvPr/>
        </p:nvSpPr>
        <p:spPr>
          <a:xfrm>
            <a:off x="6324448" y="3044952"/>
            <a:ext cx="5318608" cy="3127248"/>
          </a:xfrm>
          <a:custGeom>
            <a:avLst/>
            <a:gdLst/>
            <a:ahLst/>
            <a:cxnLst/>
            <a:rect l="l" t="t" r="r" b="b"/>
            <a:pathLst>
              <a:path w="5318608" h="3127248">
                <a:moveTo>
                  <a:pt x="114300" y="0"/>
                </a:moveTo>
                <a:lnTo>
                  <a:pt x="5204308" y="0"/>
                </a:lnTo>
                <a:quadBezTo>
                  <a:pt x="5318608" y="0"/>
                  <a:pt x="5318608" y="114300"/>
                </a:quadBezTo>
                <a:lnTo>
                  <a:pt x="5318608" y="2898648"/>
                </a:lnTo>
                <a:lnTo>
                  <a:pt x="5090008" y="3127248"/>
                </a:lnTo>
                <a:lnTo>
                  <a:pt x="114300" y="3127248"/>
                </a:lnTo>
                <a:quadBezTo>
                  <a:pt x="0" y="3127248"/>
                  <a:pt x="0" y="3012948"/>
                </a:quadBezTo>
                <a:lnTo>
                  <a:pt x="0" y="114300"/>
                </a:lnTo>
                <a:quadBezTo>
                  <a:pt x="0" y="0"/>
                  <a:pt x="114300" y="0"/>
                </a:quadBezTo>
                <a:close/>
              </a:path>
            </a:pathLst>
          </a:custGeom>
          <a:ln w="9525">
            <a:solidFill>
              <a:srgbClr val="1B4039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1323015" y="3282696"/>
            <a:ext cx="82550" cy="82550"/>
          </a:xfrm>
          <a:prstGeom prst="diamond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1183315" y="3282696"/>
            <a:ext cx="82550" cy="82550"/>
          </a:xfrm>
          <a:prstGeom prst="diamond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35" name="ocean:section"/>
          <p:cNvSpPr/>
          <p:nvPr/>
        </p:nvSpPr>
        <p:spPr>
          <a:xfrm>
            <a:off x="6553048" y="3246120"/>
            <a:ext cx="422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REPORT OR PROPOSAL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553048" y="3703320"/>
            <a:ext cx="4861408" cy="0"/>
          </a:xfrm>
          <a:prstGeom prst="line">
            <a:avLst/>
          </a:prstGeom>
          <a:noFill/>
          <a:ln w="6350">
            <a:solidFill>
              <a:srgbClr val="1B4039"/>
            </a:solidFill>
            <a:prstDash val="solid"/>
          </a:ln>
        </p:spPr>
      </p:sp>
      <p:sp>
        <p:nvSpPr>
          <p:cNvPr id="37" name="ocean:body"/>
          <p:cNvSpPr/>
          <p:nvPr/>
        </p:nvSpPr>
        <p:spPr>
          <a:xfrm>
            <a:off x="6553048" y="3813048"/>
            <a:ext cx="486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5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Enough detail to</a:t>
            </a:r>
            <a:pPr algn="l" indent="0" marL="0">
              <a:lnSpc>
                <a:spcPts val="1860"/>
              </a:lnSpc>
              <a:buNone/>
            </a:pPr>
            <a:r>
              <a:rPr lang="en-US" sz="15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 </a:t>
            </a:r>
            <a:pPr algn="l" indent="0" marL="0">
              <a:lnSpc>
                <a:spcPts val="1860"/>
              </a:lnSpc>
              <a:buNone/>
            </a:pPr>
            <a:r>
              <a:rPr lang="en-US" sz="1500" b="1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decide</a:t>
            </a:r>
            <a:endParaRPr lang="en-US" sz="1500" dirty="0"/>
          </a:p>
        </p:txBody>
      </p:sp>
      <p:sp>
        <p:nvSpPr>
          <p:cNvPr id="38" name="Shape 35"/>
          <p:cNvSpPr/>
          <p:nvPr/>
        </p:nvSpPr>
        <p:spPr>
          <a:xfrm>
            <a:off x="6553048" y="4434840"/>
            <a:ext cx="4861408" cy="0"/>
          </a:xfrm>
          <a:prstGeom prst="line">
            <a:avLst/>
          </a:prstGeom>
          <a:noFill/>
          <a:ln w="6350">
            <a:solidFill>
              <a:srgbClr val="1B4039"/>
            </a:solidFill>
            <a:prstDash val="solid"/>
          </a:ln>
        </p:spPr>
      </p:sp>
      <p:sp>
        <p:nvSpPr>
          <p:cNvPr id="39" name="ocean:body"/>
          <p:cNvSpPr/>
          <p:nvPr/>
        </p:nvSpPr>
        <p:spPr>
          <a:xfrm>
            <a:off x="6553048" y="4544568"/>
            <a:ext cx="486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5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Flowing text with scope and evidence</a:t>
            </a:r>
            <a:endParaRPr lang="en-US" sz="1500" dirty="0"/>
          </a:p>
        </p:txBody>
      </p:sp>
      <p:sp>
        <p:nvSpPr>
          <p:cNvPr id="40" name="Shape 37"/>
          <p:cNvSpPr/>
          <p:nvPr/>
        </p:nvSpPr>
        <p:spPr>
          <a:xfrm>
            <a:off x="6553048" y="5166360"/>
            <a:ext cx="4861408" cy="0"/>
          </a:xfrm>
          <a:prstGeom prst="line">
            <a:avLst/>
          </a:prstGeom>
          <a:noFill/>
          <a:ln w="6350">
            <a:solidFill>
              <a:srgbClr val="1B4039"/>
            </a:solidFill>
            <a:prstDash val="solid"/>
          </a:ln>
        </p:spPr>
      </p:sp>
      <p:sp>
        <p:nvSpPr>
          <p:cNvPr id="41" name="ocean:body"/>
          <p:cNvSpPr/>
          <p:nvPr/>
        </p:nvSpPr>
        <p:spPr>
          <a:xfrm>
            <a:off x="6553048" y="5276088"/>
            <a:ext cx="486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5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Readable Letter pages for PDF</a:t>
            </a:r>
            <a:endParaRPr lang="en-US" sz="1500" dirty="0"/>
          </a:p>
        </p:txBody>
      </p:sp>
      <p:sp>
        <p:nvSpPr>
          <p:cNvPr id="42" name="ocean:footer"/>
          <p:cNvSpPr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RCS · CONFIDENTIAL · FOR DISCUSSION ONLY · DESIGN SPECIMEN · DO NOT USE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5CC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cean:header"/>
          <p:cNvSpPr/>
          <p:nvPr/>
        </p:nvSpPr>
        <p:spPr>
          <a:xfrm>
            <a:off x="548640" y="329184"/>
            <a:ext cx="11094415" cy="609600"/>
          </a:xfrm>
          <a:prstGeom prst="rect">
            <a:avLst/>
          </a:prstGeom>
          <a:ln w="12700">
            <a:solidFill>
              <a:srgbClr val="102426"/>
            </a:solidFill>
            <a:prstDash val="solid"/>
          </a:ln>
        </p:spPr>
      </p:sp>
      <p:pic>
        <p:nvPicPr>
          <p:cNvPr id="3" name="ocean:logo-horizontal" descr="/home/user/workspace/audit/repo/assets/logos/png/logo_horizontal_peac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440" y="494284"/>
            <a:ext cx="1000657" cy="279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644140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5" name="ocean:header"/>
          <p:cNvSpPr/>
          <p:nvPr/>
        </p:nvSpPr>
        <p:spPr>
          <a:xfrm>
            <a:off x="2783840" y="420624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PAGE</a:t>
            </a:r>
            <a:endParaRPr lang="en-US" sz="900" dirty="0"/>
          </a:p>
        </p:txBody>
      </p:sp>
      <p:sp>
        <p:nvSpPr>
          <p:cNvPr id="6" name="ocean:header"/>
          <p:cNvSpPr/>
          <p:nvPr/>
        </p:nvSpPr>
        <p:spPr>
          <a:xfrm>
            <a:off x="2783840" y="630936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533140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8" name="ocean:header"/>
          <p:cNvSpPr/>
          <p:nvPr/>
        </p:nvSpPr>
        <p:spPr>
          <a:xfrm>
            <a:off x="3751072" y="551688"/>
            <a:ext cx="765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COMPANY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98492" y="515112"/>
            <a:ext cx="478803" cy="237744"/>
          </a:xfrm>
          <a:prstGeom prst="rect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10" name="ocean:header"/>
          <p:cNvSpPr/>
          <p:nvPr/>
        </p:nvSpPr>
        <p:spPr>
          <a:xfrm>
            <a:off x="4662500" y="551688"/>
            <a:ext cx="4788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D5CCA0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TEAM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8429955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12" name="ocean:header"/>
          <p:cNvSpPr/>
          <p:nvPr/>
        </p:nvSpPr>
        <p:spPr>
          <a:xfrm>
            <a:off x="8595055" y="420624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LAYOUT CATALOG</a:t>
            </a:r>
            <a:endParaRPr lang="en-US" sz="900" dirty="0"/>
          </a:p>
        </p:txBody>
      </p:sp>
      <p:sp>
        <p:nvSpPr>
          <p:cNvPr id="13" name="ocean:header"/>
          <p:cNvSpPr/>
          <p:nvPr/>
        </p:nvSpPr>
        <p:spPr>
          <a:xfrm>
            <a:off x="8595055" y="630936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OCEAN RCS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0525455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15" name="ocean:header"/>
          <p:cNvSpPr/>
          <p:nvPr/>
        </p:nvSpPr>
        <p:spPr>
          <a:xfrm>
            <a:off x="105711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01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11084255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1084255" y="329184"/>
            <a:ext cx="558800" cy="609600"/>
          </a:xfrm>
          <a:prstGeom prst="rect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18" name="ocean:header"/>
          <p:cNvSpPr/>
          <p:nvPr/>
        </p:nvSpPr>
        <p:spPr>
          <a:xfrm>
            <a:off x="111299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D5CCA0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ocean:label"/>
          <p:cNvSpPr/>
          <p:nvPr/>
        </p:nvSpPr>
        <p:spPr>
          <a:xfrm>
            <a:off x="548640" y="1335024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 TEAM</a:t>
            </a:r>
            <a:endParaRPr lang="en-US" sz="1100" dirty="0"/>
          </a:p>
        </p:txBody>
      </p:sp>
      <p:sp>
        <p:nvSpPr>
          <p:cNvPr id="20" name="ocean:headline"/>
          <p:cNvSpPr/>
          <p:nvPr/>
        </p:nvSpPr>
        <p:spPr>
          <a:xfrm>
            <a:off x="530352" y="1572768"/>
            <a:ext cx="634593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102426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Credibility comes from</a:t>
            </a:r>
            <a:endParaRPr lang="en-US" sz="3500" dirty="0"/>
          </a:p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102426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specific responsibilities</a:t>
            </a:r>
            <a:endParaRPr lang="en-US" sz="3500" dirty="0"/>
          </a:p>
        </p:txBody>
      </p:sp>
      <p:sp>
        <p:nvSpPr>
          <p:cNvPr id="21" name="Shape 18"/>
          <p:cNvSpPr/>
          <p:nvPr/>
        </p:nvSpPr>
        <p:spPr>
          <a:xfrm>
            <a:off x="548640" y="2734056"/>
            <a:ext cx="11094415" cy="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48640" y="3044952"/>
            <a:ext cx="3515258" cy="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23" name="ocean:section"/>
          <p:cNvSpPr/>
          <p:nvPr/>
        </p:nvSpPr>
        <p:spPr>
          <a:xfrm>
            <a:off x="548640" y="3273552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8"/>
              </a:lnSpc>
              <a:buNone/>
            </a:pPr>
            <a:r>
              <a:rPr lang="en-US" sz="2200" spc="-22" kern="0" dirty="0">
                <a:solidFill>
                  <a:srgbClr val="102426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Leadership</a:t>
            </a:r>
            <a:endParaRPr lang="en-US" sz="2200" dirty="0"/>
          </a:p>
        </p:txBody>
      </p:sp>
      <p:sp>
        <p:nvSpPr>
          <p:cNvPr id="24" name="ocean:label"/>
          <p:cNvSpPr/>
          <p:nvPr/>
        </p:nvSpPr>
        <p:spPr>
          <a:xfrm>
            <a:off x="548640" y="3776472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b="1" spc="238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COMMERCIAL RESPONSIBILITY</a:t>
            </a:r>
            <a:endParaRPr lang="en-US" sz="950" dirty="0"/>
          </a:p>
        </p:txBody>
      </p:sp>
      <p:sp>
        <p:nvSpPr>
          <p:cNvPr id="25" name="ocean:body"/>
          <p:cNvSpPr/>
          <p:nvPr/>
        </p:nvSpPr>
        <p:spPr>
          <a:xfrm>
            <a:off x="548640" y="4187952"/>
            <a:ext cx="3515258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Use a verified name, role and concise record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of relevant experience.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338218" y="3044952"/>
            <a:ext cx="3515258" cy="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27" name="ocean:section"/>
          <p:cNvSpPr/>
          <p:nvPr/>
        </p:nvSpPr>
        <p:spPr>
          <a:xfrm>
            <a:off x="4338218" y="3273552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8"/>
              </a:lnSpc>
              <a:buNone/>
            </a:pPr>
            <a:r>
              <a:rPr lang="en-US" sz="2200" spc="-22" kern="0" dirty="0">
                <a:solidFill>
                  <a:srgbClr val="102426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Operations</a:t>
            </a:r>
            <a:endParaRPr lang="en-US" sz="2200" dirty="0"/>
          </a:p>
        </p:txBody>
      </p:sp>
      <p:sp>
        <p:nvSpPr>
          <p:cNvPr id="28" name="ocean:label"/>
          <p:cNvSpPr/>
          <p:nvPr/>
        </p:nvSpPr>
        <p:spPr>
          <a:xfrm>
            <a:off x="4338218" y="3776472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b="1" spc="238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DELIVERY RESPONSIBILITY</a:t>
            </a:r>
            <a:endParaRPr lang="en-US" sz="950" dirty="0"/>
          </a:p>
        </p:txBody>
      </p:sp>
      <p:sp>
        <p:nvSpPr>
          <p:cNvPr id="29" name="ocean:body"/>
          <p:cNvSpPr/>
          <p:nvPr/>
        </p:nvSpPr>
        <p:spPr>
          <a:xfrm>
            <a:off x="4338218" y="4187952"/>
            <a:ext cx="3515258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Explain the work this person owns. Avoid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inflated descriptions.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8127797" y="3044952"/>
            <a:ext cx="3515258" cy="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31" name="ocean:section"/>
          <p:cNvSpPr/>
          <p:nvPr/>
        </p:nvSpPr>
        <p:spPr>
          <a:xfrm>
            <a:off x="8127797" y="3273552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8"/>
              </a:lnSpc>
              <a:buNone/>
            </a:pPr>
            <a:r>
              <a:rPr lang="en-US" sz="2200" spc="-22" kern="0" dirty="0">
                <a:solidFill>
                  <a:srgbClr val="102426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Technical</a:t>
            </a:r>
            <a:endParaRPr lang="en-US" sz="2200" dirty="0"/>
          </a:p>
        </p:txBody>
      </p:sp>
      <p:sp>
        <p:nvSpPr>
          <p:cNvPr id="32" name="ocean:label"/>
          <p:cNvSpPr/>
          <p:nvPr/>
        </p:nvSpPr>
        <p:spPr>
          <a:xfrm>
            <a:off x="8127797" y="3776472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b="1" spc="238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TECHNICAL RESPONSIBILITY</a:t>
            </a:r>
            <a:endParaRPr lang="en-US" sz="950" dirty="0"/>
          </a:p>
        </p:txBody>
      </p:sp>
      <p:sp>
        <p:nvSpPr>
          <p:cNvPr id="33" name="ocean:body"/>
          <p:cNvSpPr/>
          <p:nvPr/>
        </p:nvSpPr>
        <p:spPr>
          <a:xfrm>
            <a:off x="8127797" y="4187952"/>
            <a:ext cx="3515258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Include confirmed qualifications. Use a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supplied headshot or none.</a:t>
            </a:r>
            <a:endParaRPr lang="en-US" sz="1300" dirty="0"/>
          </a:p>
        </p:txBody>
      </p:sp>
      <p:sp>
        <p:nvSpPr>
          <p:cNvPr id="34" name="ocean:footer"/>
          <p:cNvSpPr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RCS · CONFIDENTIAL · FOR DISCUSSION ONLY · DESIGN SPECIMEN · DO NOT USE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cean:header"/>
          <p:cNvSpPr/>
          <p:nvPr/>
        </p:nvSpPr>
        <p:spPr>
          <a:xfrm>
            <a:off x="548640" y="329184"/>
            <a:ext cx="11094415" cy="609600"/>
          </a:xfrm>
          <a:prstGeom prst="rect">
            <a:avLst/>
          </a:prstGeom>
          <a:ln w="12700">
            <a:solidFill>
              <a:srgbClr val="0B1617"/>
            </a:solidFill>
            <a:prstDash val="solid"/>
          </a:ln>
        </p:spPr>
      </p:sp>
      <p:pic>
        <p:nvPicPr>
          <p:cNvPr id="3" name="ocean:logo-horizontal" descr="/home/user/workspace/audit/repo/assets/logos/png/logo_horizontal_blackm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440" y="494284"/>
            <a:ext cx="1000657" cy="279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644140" y="329184"/>
            <a:ext cx="0" cy="60960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5" name="ocean:header"/>
          <p:cNvSpPr/>
          <p:nvPr/>
        </p:nvSpPr>
        <p:spPr>
          <a:xfrm>
            <a:off x="2783840" y="420624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PAGE</a:t>
            </a:r>
            <a:endParaRPr lang="en-US" sz="900" dirty="0"/>
          </a:p>
        </p:txBody>
      </p:sp>
      <p:sp>
        <p:nvSpPr>
          <p:cNvPr id="6" name="ocean:header"/>
          <p:cNvSpPr/>
          <p:nvPr/>
        </p:nvSpPr>
        <p:spPr>
          <a:xfrm>
            <a:off x="2783840" y="630936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533140" y="329184"/>
            <a:ext cx="0" cy="60960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8" name="ocean:header"/>
          <p:cNvSpPr/>
          <p:nvPr/>
        </p:nvSpPr>
        <p:spPr>
          <a:xfrm>
            <a:off x="3751072" y="551688"/>
            <a:ext cx="765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COMPANY</a:t>
            </a:r>
            <a:endParaRPr lang="en-US" sz="900" dirty="0"/>
          </a:p>
        </p:txBody>
      </p:sp>
      <p:sp>
        <p:nvSpPr>
          <p:cNvPr id="9" name="ocean:header"/>
          <p:cNvSpPr/>
          <p:nvPr/>
        </p:nvSpPr>
        <p:spPr>
          <a:xfrm>
            <a:off x="4662500" y="551688"/>
            <a:ext cx="4788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TEAM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8429955" y="329184"/>
            <a:ext cx="0" cy="60960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11" name="ocean:header"/>
          <p:cNvSpPr/>
          <p:nvPr/>
        </p:nvSpPr>
        <p:spPr>
          <a:xfrm>
            <a:off x="8595055" y="420624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LAYOUT CATALOG</a:t>
            </a:r>
            <a:endParaRPr lang="en-US" sz="900" dirty="0"/>
          </a:p>
        </p:txBody>
      </p:sp>
      <p:sp>
        <p:nvSpPr>
          <p:cNvPr id="12" name="ocean:header"/>
          <p:cNvSpPr/>
          <p:nvPr/>
        </p:nvSpPr>
        <p:spPr>
          <a:xfrm>
            <a:off x="8595055" y="630936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OCEAN RCS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0525455" y="329184"/>
            <a:ext cx="0" cy="60960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14" name="ocean:header"/>
          <p:cNvSpPr/>
          <p:nvPr/>
        </p:nvSpPr>
        <p:spPr>
          <a:xfrm>
            <a:off x="105711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01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11084255" y="329184"/>
            <a:ext cx="0" cy="60960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16" name="ocean:header"/>
          <p:cNvSpPr/>
          <p:nvPr/>
        </p:nvSpPr>
        <p:spPr>
          <a:xfrm>
            <a:off x="111299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ocean:label"/>
          <p:cNvSpPr/>
          <p:nvPr/>
        </p:nvSpPr>
        <p:spPr>
          <a:xfrm>
            <a:off x="548640" y="1335024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APPENDIX</a:t>
            </a:r>
            <a:endParaRPr lang="en-US" sz="1100" dirty="0"/>
          </a:p>
        </p:txBody>
      </p:sp>
      <p:sp>
        <p:nvSpPr>
          <p:cNvPr id="18" name="ocean:headline"/>
          <p:cNvSpPr/>
          <p:nvPr/>
        </p:nvSpPr>
        <p:spPr>
          <a:xfrm>
            <a:off x="530352" y="1572768"/>
            <a:ext cx="634593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0B1617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Keep useful detail</a:t>
            </a:r>
            <a:endParaRPr lang="en-US" sz="3500" dirty="0"/>
          </a:p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0B1617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accessible</a:t>
            </a:r>
            <a:endParaRPr lang="en-US" sz="3500" dirty="0"/>
          </a:p>
        </p:txBody>
      </p:sp>
      <p:sp>
        <p:nvSpPr>
          <p:cNvPr id="19" name="Shape 16"/>
          <p:cNvSpPr/>
          <p:nvPr/>
        </p:nvSpPr>
        <p:spPr>
          <a:xfrm>
            <a:off x="548640" y="2734056"/>
            <a:ext cx="11094415" cy="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graphicFrame>
        <p:nvGraphicFramePr>
          <p:cNvPr id="6" name="ocean: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44952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029200"/>
                <a:gridCol w="3322015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225" kern="0" dirty="0">
                          <a:solidFill>
                            <a:srgbClr val="0B1617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RECORD</a:t>
                      </a:r>
                      <a:endParaRPr lang="en-US" sz="9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B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225" kern="0" dirty="0">
                          <a:solidFill>
                            <a:srgbClr val="0B1617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INCLUDE</a:t>
                      </a:r>
                      <a:endParaRPr lang="en-US" sz="9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B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225" kern="0" dirty="0">
                          <a:solidFill>
                            <a:srgbClr val="0B1617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PURPOSE</a:t>
                      </a:r>
                      <a:endParaRPr lang="en-US" sz="9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B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617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Source register</a:t>
                      </a:r>
                      <a:endParaRPr lang="en-US" sz="12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617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Document, date and owner</a:t>
                      </a:r>
                      <a:endParaRPr lang="en-US" sz="12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617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Trace each important claim</a:t>
                      </a:r>
                      <a:endParaRPr lang="en-US" sz="12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617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Assumptions</a:t>
                      </a:r>
                      <a:endParaRPr lang="en-US" sz="12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617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Input, basis and limitation</a:t>
                      </a:r>
                      <a:endParaRPr lang="en-US" sz="12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617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Show what remains uncertain</a:t>
                      </a:r>
                      <a:endParaRPr lang="en-US" sz="12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617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Technical detail</a:t>
                      </a:r>
                      <a:endParaRPr lang="en-US" sz="12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617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Relevant scope and specifications</a:t>
                      </a:r>
                      <a:endParaRPr lang="en-US" sz="12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617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Support diligence</a:t>
                      </a:r>
                      <a:endParaRPr lang="en-US" sz="12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617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Commercial terms</a:t>
                      </a:r>
                      <a:endParaRPr lang="en-US" sz="12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617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Verified inclusions and exclusions</a:t>
                      </a:r>
                      <a:endParaRPr lang="en-US" sz="12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617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Make boundaries explicit</a:t>
                      </a:r>
                      <a:endParaRPr lang="en-US" sz="12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</a:tr>
            </a:tbl>
          </a:graphicData>
        </a:graphic>
      </p:graphicFrame>
      <p:sp>
        <p:nvSpPr>
          <p:cNvPr id="21" name="ocean:footer"/>
          <p:cNvSpPr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RCS · CONFIDENTIAL · FOR DISCUSSION ONLY · DESIGN SPECIMEN · DO NOT USE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5CC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ean:environment" descr="/home/user/workspace/audit/repo/assets/environments/env_sprig_map_light_sof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ocean:logo-graphic" descr="/home/user/workspace/audit/repo/assets/logos/png/logo_graphic_s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7455" y="406400"/>
            <a:ext cx="355600" cy="355600"/>
          </a:xfrm>
          <a:prstGeom prst="rect">
            <a:avLst/>
          </a:prstGeom>
        </p:spPr>
      </p:pic>
      <p:sp>
        <p:nvSpPr>
          <p:cNvPr id="4" name="ocean:quote"/>
          <p:cNvSpPr/>
          <p:nvPr/>
        </p:nvSpPr>
        <p:spPr>
          <a:xfrm>
            <a:off x="548640" y="1645920"/>
            <a:ext cx="9692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5400" spc="-108" kern="0" dirty="0">
                <a:solidFill>
                  <a:srgbClr val="618C7C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Steel and sunlight shape</a:t>
            </a:r>
            <a:endParaRPr lang="en-US" sz="5400" dirty="0"/>
          </a:p>
          <a:p>
            <a:pPr algn="l" indent="0" marL="0">
              <a:lnSpc>
                <a:spcPts val="6000"/>
              </a:lnSpc>
              <a:buNone/>
            </a:pPr>
            <a:r>
              <a:rPr lang="en-US" sz="5400" spc="-108" kern="0" dirty="0">
                <a:solidFill>
                  <a:srgbClr val="618C7C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tomorrow's world today.</a:t>
            </a:r>
            <a:endParaRPr lang="en-US" sz="5400" dirty="0"/>
          </a:p>
        </p:txBody>
      </p:sp>
      <p:sp>
        <p:nvSpPr>
          <p:cNvPr id="6" name="ocean:footer"/>
          <p:cNvSpPr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RCS · CONFIDENTIAL · FOR DISCUSSION ONLY · DESIGN SPECIMEN · DO NOT USE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ean:logo-graphic" descr="/home/user/workspace/audit/repo/assets/logos/png/logo_graphic_blackm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7455" y="406400"/>
            <a:ext cx="355600" cy="355600"/>
          </a:xfrm>
          <a:prstGeom prst="rect">
            <a:avLst/>
          </a:prstGeom>
        </p:spPr>
      </p:pic>
      <p:sp>
        <p:nvSpPr>
          <p:cNvPr id="3" name="ocean:label"/>
          <p:cNvSpPr/>
          <p:nvPr/>
        </p:nvSpPr>
        <p:spPr>
          <a:xfrm>
            <a:off x="548640" y="133502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NOTICE</a:t>
            </a:r>
            <a:endParaRPr lang="en-US" sz="1100" dirty="0"/>
          </a:p>
        </p:txBody>
      </p:sp>
      <p:sp>
        <p:nvSpPr>
          <p:cNvPr id="4" name="ocean:headline"/>
          <p:cNvSpPr/>
          <p:nvPr/>
        </p:nvSpPr>
        <p:spPr>
          <a:xfrm>
            <a:off x="530352" y="1572768"/>
            <a:ext cx="7315200" cy="578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40"/>
              </a:lnSpc>
              <a:buNone/>
            </a:pPr>
            <a:r>
              <a:rPr lang="en-US" sz="3500" spc="-35" kern="0" dirty="0">
                <a:solidFill>
                  <a:srgbClr val="0B1617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Important notice</a:t>
            </a:r>
            <a:endParaRPr lang="en-US" sz="3500" dirty="0"/>
          </a:p>
        </p:txBody>
      </p:sp>
      <p:sp>
        <p:nvSpPr>
          <p:cNvPr id="5" name="Shape 2"/>
          <p:cNvSpPr/>
          <p:nvPr/>
        </p:nvSpPr>
        <p:spPr>
          <a:xfrm>
            <a:off x="548640" y="2734056"/>
            <a:ext cx="11094415" cy="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6" name="ocean:notice"/>
          <p:cNvSpPr/>
          <p:nvPr/>
        </p:nvSpPr>
        <p:spPr>
          <a:xfrm>
            <a:off x="7022592" y="3044952"/>
            <a:ext cx="460217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This presentation is confidential and is provided for discussion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purposes only. It is not an offer to sell or a solicitation of an offer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to buy any security. Forward-looking statements, projections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and estimates reflect current assumptions, are not guarantees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and may differ materially from actual results. Do not copy,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forward or distribute without the written consent of Ocean RCS.</a:t>
            </a:r>
            <a:endParaRPr lang="en-US" sz="1200" dirty="0"/>
          </a:p>
        </p:txBody>
      </p:sp>
      <p:sp>
        <p:nvSpPr>
          <p:cNvPr id="7" name="ocean:footer"/>
          <p:cNvSpPr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RCS · CONFIDENTIAL · FOR DISCUSSION ONLY · DESIGN SPECIMEN · DO NOT USE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2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ean:environment" descr="/home/user/workspace/audit/repo/output/.cache/env/rooftop-peacock-light-c41deb64da7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ocean:logo-vertical" descr="/home/user/workspace/audit/repo/assets/logos/png/logo_vertical_honeyd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744" y="2603500"/>
            <a:ext cx="1876207" cy="1651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tack Sans Headlin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tack Sans Headlin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Ocean RCS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Ocean RCS layout catalog</dc:title>
  <dc:subject>PptxGenJS Presentation</dc:subject>
  <dc:creator>PptxGenJS</dc:creator>
  <cp:lastModifiedBy>PptxGenJS</cp:lastModifiedBy>
  <cp:revision>1</cp:revision>
  <dcterms:created xsi:type="dcterms:W3CDTF">2026-09-26T20:04:04Z</dcterms:created>
  <dcterms:modified xsi:type="dcterms:W3CDTF">2026-09-26T20:04:04Z</dcterms:modified>
</cp:coreProperties>
</file>