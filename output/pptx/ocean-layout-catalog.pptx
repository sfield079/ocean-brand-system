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Ocean voice, Guide 06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output/.cache/env/rooftop-peacock-light-c41deb64da7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cean:frame"/>
          <p:cNvSpPr/>
          <p:nvPr/>
        </p:nvSpPr>
        <p:spPr>
          <a:xfrm>
            <a:off x="304800" y="304800"/>
            <a:ext cx="11582095" cy="6248400"/>
          </a:xfrm>
          <a:custGeom>
            <a:avLst/>
            <a:gdLst/>
            <a:ahLst/>
            <a:cxnLst/>
            <a:rect l="l" t="t" r="r" b="b"/>
            <a:pathLst>
              <a:path w="11582095" h="6248400">
                <a:moveTo>
                  <a:pt x="0" y="279400"/>
                </a:moveTo>
                <a:lnTo>
                  <a:pt x="279400" y="0"/>
                </a:lnTo>
                <a:lnTo>
                  <a:pt x="11455095" y="0"/>
                </a:lnTo>
                <a:quadBezTo>
                  <a:pt x="11582095" y="0"/>
                  <a:pt x="11582095" y="127000"/>
                </a:quadBezTo>
                <a:lnTo>
                  <a:pt x="11582095" y="6121400"/>
                </a:lnTo>
                <a:quadBezTo>
                  <a:pt x="11582095" y="6248400"/>
                  <a:pt x="11455095" y="6248400"/>
                </a:quadBezTo>
                <a:lnTo>
                  <a:pt x="127000" y="6248400"/>
                </a:lnTo>
                <a:quadBezTo>
                  <a:pt x="0" y="6248400"/>
                  <a:pt x="0" y="6121400"/>
                </a:quadBezTo>
                <a:close/>
              </a:path>
            </a:pathLst>
          </a:custGeom>
          <a:ln w="12700">
            <a:solidFill>
              <a:srgbClr val="F3FBF8"/>
            </a:solidFill>
            <a:prstDash val="solid"/>
          </a:ln>
        </p:spPr>
      </p:sp>
      <p:pic>
        <p:nvPicPr>
          <p:cNvPr id="4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" y="685800"/>
            <a:ext cx="952536" cy="838200"/>
          </a:xfrm>
          <a:prstGeom prst="rect">
            <a:avLst/>
          </a:prstGeom>
        </p:spPr>
      </p:pic>
      <p:sp>
        <p:nvSpPr>
          <p:cNvPr id="5" name="ocean:label"/>
          <p:cNvSpPr/>
          <p:nvPr/>
        </p:nvSpPr>
        <p:spPr>
          <a:xfrm>
            <a:off x="8554415" y="6350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720"/>
              </a:lnSpc>
              <a:buNone/>
            </a:pPr>
            <a:r>
              <a:rPr lang="en-US" sz="3000" spc="-6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2026</a:t>
            </a:r>
            <a:endParaRPr lang="en-US" sz="3000" dirty="0"/>
          </a:p>
        </p:txBody>
      </p:sp>
      <p:sp>
        <p:nvSpPr>
          <p:cNvPr id="6" name="ocean:label"/>
          <p:cNvSpPr/>
          <p:nvPr/>
        </p:nvSpPr>
        <p:spPr>
          <a:xfrm>
            <a:off x="7640015" y="1243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4"/>
              </a:lnSpc>
              <a:buNone/>
            </a:pPr>
            <a:r>
              <a:rPr lang="en-US" sz="1100" spc="27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CATALOG</a:t>
            </a:r>
            <a:endParaRPr lang="en-US" sz="1100" dirty="0"/>
          </a:p>
        </p:txBody>
      </p:sp>
      <p:sp>
        <p:nvSpPr>
          <p:cNvPr id="7" name="ocean:label"/>
          <p:cNvSpPr/>
          <p:nvPr/>
        </p:nvSpPr>
        <p:spPr>
          <a:xfrm>
            <a:off x="711200" y="3017520"/>
            <a:ext cx="10769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b="1" spc="30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INVESTOR BRIEFING</a:t>
            </a:r>
            <a:endParaRPr lang="en-US" sz="1200" dirty="0"/>
          </a:p>
        </p:txBody>
      </p:sp>
      <p:sp>
        <p:nvSpPr>
          <p:cNvPr id="8" name="ocean:cover"/>
          <p:cNvSpPr/>
          <p:nvPr/>
        </p:nvSpPr>
        <p:spPr>
          <a:xfrm>
            <a:off x="660400" y="3291840"/>
            <a:ext cx="1076929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</a:t>
            </a:r>
            <a:endParaRPr lang="en-US" sz="8400" dirty="0"/>
          </a:p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Catalog</a:t>
            </a:r>
            <a:endParaRPr lang="en-US" sz="8400" dirty="0"/>
          </a:p>
        </p:txBody>
      </p:sp>
      <p:sp>
        <p:nvSpPr>
          <p:cNvPr id="9" name="ocean:notice"/>
          <p:cNvSpPr/>
          <p:nvPr/>
        </p:nvSpPr>
        <p:spPr>
          <a:xfrm>
            <a:off x="711200" y="5537200"/>
            <a:ext cx="10769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Confidential. For discussion only. Not an offer to sell or a solicitation of an offer to buy any security. Design specimen with illustrative figures and representative images. Do not use for any commercial</a:t>
            </a:r>
            <a:endParaRPr lang="en-US" sz="90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purpose.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711200" y="6083300"/>
            <a:ext cx="1076929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11" name="ocean:meta"/>
          <p:cNvSpPr/>
          <p:nvPr/>
        </p:nvSpPr>
        <p:spPr>
          <a:xfrm>
            <a:off x="711200" y="6235700"/>
            <a:ext cx="13559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PREPARED FOR</a:t>
            </a:r>
            <a:endParaRPr lang="en-US" sz="1000" dirty="0"/>
          </a:p>
        </p:txBody>
      </p:sp>
      <p:sp>
        <p:nvSpPr>
          <p:cNvPr id="12" name="ocean:meta"/>
          <p:cNvSpPr/>
          <p:nvPr/>
        </p:nvSpPr>
        <p:spPr>
          <a:xfrm>
            <a:off x="2176907" y="6235700"/>
            <a:ext cx="14753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INVESTOR NAME</a:t>
            </a:r>
            <a:endParaRPr lang="en-US" sz="1000" dirty="0"/>
          </a:p>
        </p:txBody>
      </p:sp>
      <p:sp>
        <p:nvSpPr>
          <p:cNvPr id="13" name="ocean:meta"/>
          <p:cNvSpPr/>
          <p:nvPr/>
        </p:nvSpPr>
        <p:spPr>
          <a:xfrm>
            <a:off x="4091178" y="6235700"/>
            <a:ext cx="503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DATE</a:t>
            </a:r>
            <a:endParaRPr lang="en-US" sz="1000" dirty="0"/>
          </a:p>
        </p:txBody>
      </p:sp>
      <p:sp>
        <p:nvSpPr>
          <p:cNvPr id="14" name="ocean:meta"/>
          <p:cNvSpPr/>
          <p:nvPr/>
        </p:nvSpPr>
        <p:spPr>
          <a:xfrm>
            <a:off x="4703953" y="6235700"/>
            <a:ext cx="11696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26 SEP 2026</a:t>
            </a:r>
            <a:endParaRPr lang="en-US" sz="1000" dirty="0"/>
          </a:p>
        </p:txBody>
      </p:sp>
      <p:sp>
        <p:nvSpPr>
          <p:cNvPr id="15" name="ocean:meta"/>
          <p:cNvSpPr/>
          <p:nvPr/>
        </p:nvSpPr>
        <p:spPr>
          <a:xfrm>
            <a:off x="6312535" y="62357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6" name="ocean:meta"/>
          <p:cNvSpPr/>
          <p:nvPr/>
        </p:nvSpPr>
        <p:spPr>
          <a:xfrm>
            <a:off x="7139686" y="6235700"/>
            <a:ext cx="9563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SPECIMEN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765124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7651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COMPANY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662500" y="551688"/>
            <a:ext cx="478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TEAM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4299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2" name="ocean:header"/>
          <p:cNvSpPr/>
          <p:nvPr/>
        </p:nvSpPr>
        <p:spPr>
          <a:xfrm>
            <a:off x="85950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CATALOG</a:t>
            </a:r>
            <a:endParaRPr lang="en-US" sz="900" dirty="0"/>
          </a:p>
        </p:txBody>
      </p:sp>
      <p:sp>
        <p:nvSpPr>
          <p:cNvPr id="13" name="ocean:header"/>
          <p:cNvSpPr/>
          <p:nvPr/>
        </p:nvSpPr>
        <p:spPr>
          <a:xfrm>
            <a:off x="85950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6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COMPANY</a:t>
            </a:r>
            <a:endParaRPr lang="en-US" sz="1100" dirty="0"/>
          </a:p>
        </p:txBody>
      </p:sp>
      <p:sp>
        <p:nvSpPr>
          <p:cNvPr id="20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Emphasis without noise</a:t>
            </a:r>
            <a:endParaRPr lang="en-US" sz="3500" dirty="0"/>
          </a:p>
        </p:txBody>
      </p:sp>
      <p:sp>
        <p:nvSpPr>
          <p:cNvPr id="21" name="Shape 18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statement"/>
          <p:cNvSpPr/>
          <p:nvPr/>
        </p:nvSpPr>
        <p:spPr>
          <a:xfrm>
            <a:off x="548640" y="3044952"/>
            <a:ext cx="859536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Use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Bold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for the words that carry the point,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F3FBF8"/>
                </a:solidFill>
                <a:highlight>
                  <a:srgbClr val="1B4039"/>
                </a:highlight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 a chip 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for the one fact that must pop, and a bottom line for the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conclusion.</a:t>
            </a:r>
            <a:endParaRPr lang="en-US" sz="2600" dirty="0"/>
          </a:p>
        </p:txBody>
      </p:sp>
      <p:sp>
        <p:nvSpPr>
          <p:cNvPr id="23" name="ocean:bottom-line"/>
          <p:cNvSpPr/>
          <p:nvPr/>
        </p:nvSpPr>
        <p:spPr>
          <a:xfrm>
            <a:off x="548640" y="5559552"/>
            <a:ext cx="11094415" cy="493776"/>
          </a:xfrm>
          <a:custGeom>
            <a:avLst/>
            <a:gdLst/>
            <a:ahLst/>
            <a:cxnLst/>
            <a:rect l="l" t="t" r="r" b="b"/>
            <a:pathLst>
              <a:path w="11094415" h="493776">
                <a:moveTo>
                  <a:pt x="63500" y="0"/>
                </a:moveTo>
                <a:lnTo>
                  <a:pt x="11030915" y="0"/>
                </a:lnTo>
                <a:quadBezTo>
                  <a:pt x="11094415" y="0"/>
                  <a:pt x="11094415" y="63500"/>
                </a:quadBezTo>
                <a:lnTo>
                  <a:pt x="11094415" y="341376"/>
                </a:lnTo>
                <a:lnTo>
                  <a:pt x="10942015" y="493776"/>
                </a:lnTo>
                <a:lnTo>
                  <a:pt x="63500" y="493776"/>
                </a:lnTo>
                <a:quadBezTo>
                  <a:pt x="0" y="493776"/>
                  <a:pt x="0" y="430276"/>
                </a:quadBezTo>
                <a:lnTo>
                  <a:pt x="0" y="63500"/>
                </a:lnTo>
                <a:quadBezTo>
                  <a:pt x="0" y="0"/>
                  <a:pt x="63500" y="0"/>
                </a:quadBezTo>
                <a:close/>
              </a:path>
            </a:pathLst>
          </a:cu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31520" y="5755640"/>
            <a:ext cx="101600" cy="10160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25" name="ocean:label"/>
          <p:cNvSpPr/>
          <p:nvPr/>
        </p:nvSpPr>
        <p:spPr>
          <a:xfrm>
            <a:off x="960120" y="5715000"/>
            <a:ext cx="1274318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BOTTOM LINE</a:t>
            </a:r>
            <a:endParaRPr lang="en-US" sz="1000" dirty="0"/>
          </a:p>
        </p:txBody>
      </p:sp>
      <p:sp>
        <p:nvSpPr>
          <p:cNvPr id="26" name="ocean:bottom-line"/>
          <p:cNvSpPr/>
          <p:nvPr/>
        </p:nvSpPr>
        <p:spPr>
          <a:xfrm>
            <a:off x="2325878" y="5669280"/>
            <a:ext cx="908857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One emphasis device per idea. Never all three on one line.</a:t>
            </a:r>
            <a:endParaRPr lang="en-US" sz="1500" dirty="0"/>
          </a:p>
        </p:txBody>
      </p:sp>
      <p:sp>
        <p:nvSpPr>
          <p:cNvPr id="2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765124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7651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COMPANY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662500" y="551688"/>
            <a:ext cx="478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TEAM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4299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2" name="ocean:header"/>
          <p:cNvSpPr/>
          <p:nvPr/>
        </p:nvSpPr>
        <p:spPr>
          <a:xfrm>
            <a:off x="85950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CATALOG</a:t>
            </a:r>
            <a:endParaRPr lang="en-US" sz="900" dirty="0"/>
          </a:p>
        </p:txBody>
      </p:sp>
      <p:sp>
        <p:nvSpPr>
          <p:cNvPr id="13" name="ocean:header"/>
          <p:cNvSpPr/>
          <p:nvPr/>
        </p:nvSpPr>
        <p:spPr>
          <a:xfrm>
            <a:off x="85950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6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COMPANY</a:t>
            </a:r>
            <a:endParaRPr lang="en-US" sz="1100" dirty="0"/>
          </a:p>
        </p:txBody>
      </p:sp>
      <p:sp>
        <p:nvSpPr>
          <p:cNvPr id="20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Presentations and reports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serve different readers</a:t>
            </a:r>
            <a:endParaRPr lang="en-US" sz="3500" dirty="0"/>
          </a:p>
        </p:txBody>
      </p:sp>
      <p:sp>
        <p:nvSpPr>
          <p:cNvPr id="21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SAME BRAND, DIFFERENT SYSTEMS.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3" name="ocean:frame"/>
          <p:cNvSpPr/>
          <p:nvPr/>
        </p:nvSpPr>
        <p:spPr>
          <a:xfrm>
            <a:off x="548640" y="3044952"/>
            <a:ext cx="5318608" cy="3127248"/>
          </a:xfrm>
          <a:custGeom>
            <a:avLst/>
            <a:gdLst/>
            <a:ahLst/>
            <a:cxnLst/>
            <a:rect l="l" t="t" r="r" b="b"/>
            <a:pathLst>
              <a:path w="5318608" h="3127248">
                <a:moveTo>
                  <a:pt x="114300" y="0"/>
                </a:moveTo>
                <a:lnTo>
                  <a:pt x="5204308" y="0"/>
                </a:lnTo>
                <a:quadBezTo>
                  <a:pt x="5318608" y="0"/>
                  <a:pt x="5318608" y="114300"/>
                </a:quadBezTo>
                <a:lnTo>
                  <a:pt x="5318608" y="2898648"/>
                </a:lnTo>
                <a:lnTo>
                  <a:pt x="509000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47208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5" name="ocean:section"/>
          <p:cNvSpPr/>
          <p:nvPr/>
        </p:nvSpPr>
        <p:spPr>
          <a:xfrm>
            <a:off x="777240" y="3246120"/>
            <a:ext cx="422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77240" y="3703320"/>
            <a:ext cx="4861408" cy="0"/>
          </a:xfrm>
          <a:prstGeom prst="line">
            <a:avLst/>
          </a:prstGeom>
          <a:noFill/>
          <a:ln w="6350">
            <a:solidFill>
              <a:srgbClr val="1B4039"/>
            </a:solidFill>
            <a:prstDash val="solid"/>
          </a:ln>
        </p:spPr>
      </p:sp>
      <p:sp>
        <p:nvSpPr>
          <p:cNvPr id="27" name="ocean:body"/>
          <p:cNvSpPr/>
          <p:nvPr/>
        </p:nvSpPr>
        <p:spPr>
          <a:xfrm>
            <a:off x="777240" y="3813048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One idea per slide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777240" y="4434840"/>
            <a:ext cx="4861408" cy="0"/>
          </a:xfrm>
          <a:prstGeom prst="line">
            <a:avLst/>
          </a:prstGeom>
          <a:noFill/>
          <a:ln w="6350">
            <a:solidFill>
              <a:srgbClr val="1B4039"/>
            </a:solidFill>
            <a:prstDash val="solid"/>
          </a:ln>
        </p:spPr>
      </p:sp>
      <p:sp>
        <p:nvSpPr>
          <p:cNvPr id="29" name="ocean:body"/>
          <p:cNvSpPr/>
          <p:nvPr/>
        </p:nvSpPr>
        <p:spPr>
          <a:xfrm>
            <a:off x="777240" y="4544568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concise narrative for a</a:t>
            </a:r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meeting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777240" y="5166360"/>
            <a:ext cx="4861408" cy="0"/>
          </a:xfrm>
          <a:prstGeom prst="line">
            <a:avLst/>
          </a:prstGeom>
          <a:noFill/>
          <a:ln w="6350">
            <a:solidFill>
              <a:srgbClr val="1B4039"/>
            </a:solidFill>
            <a:prstDash val="solid"/>
          </a:ln>
        </p:spPr>
      </p:sp>
      <p:sp>
        <p:nvSpPr>
          <p:cNvPr id="31" name="ocean:body"/>
          <p:cNvSpPr/>
          <p:nvPr/>
        </p:nvSpPr>
        <p:spPr>
          <a:xfrm>
            <a:off x="777240" y="5276088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Editable charts and an appendix</a:t>
            </a:r>
            <a:endParaRPr lang="en-US" sz="1500" dirty="0"/>
          </a:p>
        </p:txBody>
      </p:sp>
      <p:sp>
        <p:nvSpPr>
          <p:cNvPr id="32" name="ocean:frame"/>
          <p:cNvSpPr/>
          <p:nvPr/>
        </p:nvSpPr>
        <p:spPr>
          <a:xfrm>
            <a:off x="6324448" y="3044952"/>
            <a:ext cx="5318608" cy="3127248"/>
          </a:xfrm>
          <a:custGeom>
            <a:avLst/>
            <a:gdLst/>
            <a:ahLst/>
            <a:cxnLst/>
            <a:rect l="l" t="t" r="r" b="b"/>
            <a:pathLst>
              <a:path w="5318608" h="3127248">
                <a:moveTo>
                  <a:pt x="114300" y="0"/>
                </a:moveTo>
                <a:lnTo>
                  <a:pt x="5204308" y="0"/>
                </a:lnTo>
                <a:quadBezTo>
                  <a:pt x="5318608" y="0"/>
                  <a:pt x="5318608" y="114300"/>
                </a:quadBezTo>
                <a:lnTo>
                  <a:pt x="5318608" y="2898648"/>
                </a:lnTo>
                <a:lnTo>
                  <a:pt x="509000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13230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11833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5" name="ocean:section"/>
          <p:cNvSpPr/>
          <p:nvPr/>
        </p:nvSpPr>
        <p:spPr>
          <a:xfrm>
            <a:off x="6553048" y="3246120"/>
            <a:ext cx="422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REPORT OR PROPOSAL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553048" y="3703320"/>
            <a:ext cx="4861408" cy="0"/>
          </a:xfrm>
          <a:prstGeom prst="line">
            <a:avLst/>
          </a:prstGeom>
          <a:noFill/>
          <a:ln w="6350">
            <a:solidFill>
              <a:srgbClr val="1B4039"/>
            </a:solidFill>
            <a:prstDash val="solid"/>
          </a:ln>
        </p:spPr>
      </p:sp>
      <p:sp>
        <p:nvSpPr>
          <p:cNvPr id="37" name="ocean:body"/>
          <p:cNvSpPr/>
          <p:nvPr/>
        </p:nvSpPr>
        <p:spPr>
          <a:xfrm>
            <a:off x="6553048" y="3813048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Enough detail to</a:t>
            </a:r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decide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6553048" y="4434840"/>
            <a:ext cx="4861408" cy="0"/>
          </a:xfrm>
          <a:prstGeom prst="line">
            <a:avLst/>
          </a:prstGeom>
          <a:noFill/>
          <a:ln w="6350">
            <a:solidFill>
              <a:srgbClr val="1B4039"/>
            </a:solidFill>
            <a:prstDash val="solid"/>
          </a:ln>
        </p:spPr>
      </p:sp>
      <p:sp>
        <p:nvSpPr>
          <p:cNvPr id="39" name="ocean:body"/>
          <p:cNvSpPr/>
          <p:nvPr/>
        </p:nvSpPr>
        <p:spPr>
          <a:xfrm>
            <a:off x="6553048" y="4544568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Flowing text with scope and evidence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553048" y="5166360"/>
            <a:ext cx="4861408" cy="0"/>
          </a:xfrm>
          <a:prstGeom prst="line">
            <a:avLst/>
          </a:prstGeom>
          <a:noFill/>
          <a:ln w="6350">
            <a:solidFill>
              <a:srgbClr val="1B4039"/>
            </a:solidFill>
            <a:prstDash val="solid"/>
          </a:ln>
        </p:spPr>
      </p:sp>
      <p:sp>
        <p:nvSpPr>
          <p:cNvPr id="41" name="ocean:body"/>
          <p:cNvSpPr/>
          <p:nvPr/>
        </p:nvSpPr>
        <p:spPr>
          <a:xfrm>
            <a:off x="6553048" y="5276088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Readable Letter pages for PDF</a:t>
            </a:r>
            <a:endParaRPr lang="en-US" sz="1500" dirty="0"/>
          </a:p>
        </p:txBody>
      </p:sp>
      <p:sp>
        <p:nvSpPr>
          <p:cNvPr id="42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7651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COMPANY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98492" y="515112"/>
            <a:ext cx="478803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662500" y="551688"/>
            <a:ext cx="478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TEAM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4299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2" name="ocean:header"/>
          <p:cNvSpPr/>
          <p:nvPr/>
        </p:nvSpPr>
        <p:spPr>
          <a:xfrm>
            <a:off x="85950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CATALOG</a:t>
            </a:r>
            <a:endParaRPr lang="en-US" sz="900" dirty="0"/>
          </a:p>
        </p:txBody>
      </p:sp>
      <p:sp>
        <p:nvSpPr>
          <p:cNvPr id="13" name="ocean:header"/>
          <p:cNvSpPr/>
          <p:nvPr/>
        </p:nvSpPr>
        <p:spPr>
          <a:xfrm>
            <a:off x="85950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0842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TEAM</a:t>
            </a:r>
            <a:endParaRPr lang="en-US" sz="1100" dirty="0"/>
          </a:p>
        </p:txBody>
      </p:sp>
      <p:sp>
        <p:nvSpPr>
          <p:cNvPr id="20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Credibility comes from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specific responsibilities</a:t>
            </a:r>
            <a:endParaRPr lang="en-US" sz="3500" dirty="0"/>
          </a:p>
        </p:txBody>
      </p:sp>
      <p:sp>
        <p:nvSpPr>
          <p:cNvPr id="21" name="Shape 18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3044952"/>
            <a:ext cx="3515258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3" name="ocean:section"/>
          <p:cNvSpPr/>
          <p:nvPr/>
        </p:nvSpPr>
        <p:spPr>
          <a:xfrm>
            <a:off x="548640" y="3273552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8"/>
              </a:lnSpc>
              <a:buNone/>
            </a:pPr>
            <a:r>
              <a:rPr lang="en-US" sz="2200" spc="-22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Leadership</a:t>
            </a:r>
            <a:endParaRPr lang="en-US" sz="2200" dirty="0"/>
          </a:p>
        </p:txBody>
      </p:sp>
      <p:sp>
        <p:nvSpPr>
          <p:cNvPr id="24" name="ocean:label"/>
          <p:cNvSpPr/>
          <p:nvPr/>
        </p:nvSpPr>
        <p:spPr>
          <a:xfrm>
            <a:off x="548640" y="3776472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50" b="1" spc="23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COMMERCIAL RESPONSIBILITY</a:t>
            </a:r>
            <a:endParaRPr lang="en-US" sz="950" dirty="0"/>
          </a:p>
        </p:txBody>
      </p:sp>
      <p:sp>
        <p:nvSpPr>
          <p:cNvPr id="25" name="ocean:body"/>
          <p:cNvSpPr/>
          <p:nvPr/>
        </p:nvSpPr>
        <p:spPr>
          <a:xfrm>
            <a:off x="548640" y="4187952"/>
            <a:ext cx="3515258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Use a verified name, role and concise record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of relevant experience.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338218" y="3044952"/>
            <a:ext cx="3515258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7" name="ocean:section"/>
          <p:cNvSpPr/>
          <p:nvPr/>
        </p:nvSpPr>
        <p:spPr>
          <a:xfrm>
            <a:off x="4338218" y="3273552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8"/>
              </a:lnSpc>
              <a:buNone/>
            </a:pPr>
            <a:r>
              <a:rPr lang="en-US" sz="2200" spc="-22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Operations</a:t>
            </a:r>
            <a:endParaRPr lang="en-US" sz="2200" dirty="0"/>
          </a:p>
        </p:txBody>
      </p:sp>
      <p:sp>
        <p:nvSpPr>
          <p:cNvPr id="28" name="ocean:label"/>
          <p:cNvSpPr/>
          <p:nvPr/>
        </p:nvSpPr>
        <p:spPr>
          <a:xfrm>
            <a:off x="4338218" y="3776472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50" b="1" spc="23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DELIVERY RESPONSIBILITY</a:t>
            </a:r>
            <a:endParaRPr lang="en-US" sz="950" dirty="0"/>
          </a:p>
        </p:txBody>
      </p:sp>
      <p:sp>
        <p:nvSpPr>
          <p:cNvPr id="29" name="ocean:body"/>
          <p:cNvSpPr/>
          <p:nvPr/>
        </p:nvSpPr>
        <p:spPr>
          <a:xfrm>
            <a:off x="4338218" y="4187952"/>
            <a:ext cx="3515258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Explain the work this person owns. Avoid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inflated descriptions.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8127797" y="3044952"/>
            <a:ext cx="3515258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31" name="ocean:section"/>
          <p:cNvSpPr/>
          <p:nvPr/>
        </p:nvSpPr>
        <p:spPr>
          <a:xfrm>
            <a:off x="8127797" y="3273552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8"/>
              </a:lnSpc>
              <a:buNone/>
            </a:pPr>
            <a:r>
              <a:rPr lang="en-US" sz="2200" spc="-22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Technical</a:t>
            </a:r>
            <a:endParaRPr lang="en-US" sz="2200" dirty="0"/>
          </a:p>
        </p:txBody>
      </p:sp>
      <p:sp>
        <p:nvSpPr>
          <p:cNvPr id="32" name="ocean:label"/>
          <p:cNvSpPr/>
          <p:nvPr/>
        </p:nvSpPr>
        <p:spPr>
          <a:xfrm>
            <a:off x="8127797" y="3776472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50" b="1" spc="23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TECHNICAL RESPONSIBILITY</a:t>
            </a:r>
            <a:endParaRPr lang="en-US" sz="950" dirty="0"/>
          </a:p>
        </p:txBody>
      </p:sp>
      <p:sp>
        <p:nvSpPr>
          <p:cNvPr id="33" name="ocean:body"/>
          <p:cNvSpPr/>
          <p:nvPr/>
        </p:nvSpPr>
        <p:spPr>
          <a:xfrm>
            <a:off x="8127797" y="4187952"/>
            <a:ext cx="3515258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Include confirmed qualifications. Use a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supplied headshot or none.</a:t>
            </a:r>
            <a:endParaRPr lang="en-US" sz="1300" dirty="0"/>
          </a:p>
        </p:txBody>
      </p:sp>
      <p:sp>
        <p:nvSpPr>
          <p:cNvPr id="34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0B1617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7651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COMPANY</a:t>
            </a:r>
            <a:endParaRPr lang="en-US" sz="900" dirty="0"/>
          </a:p>
        </p:txBody>
      </p:sp>
      <p:sp>
        <p:nvSpPr>
          <p:cNvPr id="9" name="ocean:header"/>
          <p:cNvSpPr/>
          <p:nvPr/>
        </p:nvSpPr>
        <p:spPr>
          <a:xfrm>
            <a:off x="4662500" y="551688"/>
            <a:ext cx="478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TEAM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84299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1" name="ocean:header"/>
          <p:cNvSpPr/>
          <p:nvPr/>
        </p:nvSpPr>
        <p:spPr>
          <a:xfrm>
            <a:off x="85950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CATALOG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85950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6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APPENDIX</a:t>
            </a:r>
            <a:endParaRPr lang="en-US" sz="1100" dirty="0"/>
          </a:p>
        </p:txBody>
      </p:sp>
      <p:sp>
        <p:nvSpPr>
          <p:cNvPr id="18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Keep useful detail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accessible</a:t>
            </a:r>
            <a:endParaRPr lang="en-US" sz="3500" dirty="0"/>
          </a:p>
        </p:txBody>
      </p:sp>
      <p:sp>
        <p:nvSpPr>
          <p:cNvPr id="19" name="Shape 16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graphicFrame>
        <p:nvGraphicFramePr>
          <p:cNvPr id="6" name="ocean: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44952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029200"/>
                <a:gridCol w="33220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RECORD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6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INCLUDE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6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PURPOSE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6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Source register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Document, date and owner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Trace each important claim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Assumptions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Input, basis and limitation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Show what remains uncertain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Technical detail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Relevant scope and specifications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Support diligence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Commercial terms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Verified inclusions and exclusions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Make boundaries explicit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</a:tbl>
          </a:graphicData>
        </a:graphic>
      </p:graphicFrame>
      <p:sp>
        <p:nvSpPr>
          <p:cNvPr id="21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sprig_map_light_sof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s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quote"/>
          <p:cNvSpPr/>
          <p:nvPr/>
        </p:nvSpPr>
        <p:spPr>
          <a:xfrm>
            <a:off x="548640" y="1645920"/>
            <a:ext cx="96926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5400" spc="-108" kern="0" dirty="0">
                <a:solidFill>
                  <a:srgbClr val="618C7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Steel and sunlight shape</a:t>
            </a:r>
            <a:endParaRPr lang="en-US" sz="5400" dirty="0"/>
          </a:p>
          <a:p>
            <a:pPr algn="l" indent="0" marL="0">
              <a:lnSpc>
                <a:spcPts val="6000"/>
              </a:lnSpc>
              <a:buNone/>
            </a:pPr>
            <a:r>
              <a:rPr lang="en-US" sz="5400" spc="-108" kern="0" dirty="0">
                <a:solidFill>
                  <a:srgbClr val="618C7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tomorrow's world today.</a:t>
            </a:r>
            <a:endParaRPr lang="en-US" sz="5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-graphic" descr="/home/user/workspace/audit/repo/assets/logos/png/logo_graphic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3" name="ocean:label"/>
          <p:cNvSpPr/>
          <p:nvPr/>
        </p:nvSpPr>
        <p:spPr>
          <a:xfrm>
            <a:off x="548640" y="133502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NOTICE</a:t>
            </a:r>
            <a:endParaRPr lang="en-US" sz="1100" dirty="0"/>
          </a:p>
        </p:txBody>
      </p:sp>
      <p:sp>
        <p:nvSpPr>
          <p:cNvPr id="4" name="ocean:headline"/>
          <p:cNvSpPr/>
          <p:nvPr/>
        </p:nvSpPr>
        <p:spPr>
          <a:xfrm>
            <a:off x="530352" y="1572768"/>
            <a:ext cx="7315200" cy="578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4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Important notice</a:t>
            </a:r>
            <a:endParaRPr lang="en-US" sz="3500" dirty="0"/>
          </a:p>
        </p:txBody>
      </p:sp>
      <p:sp>
        <p:nvSpPr>
          <p:cNvPr id="5" name="Shape 2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6" name="ocean:notice"/>
          <p:cNvSpPr/>
          <p:nvPr/>
        </p:nvSpPr>
        <p:spPr>
          <a:xfrm>
            <a:off x="7022592" y="3044952"/>
            <a:ext cx="460217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This presentation is confidential and is provided for discussion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purposes only. It is not an offer to sell or a solicitation of an offer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to buy any security. Forward-looking statements, projections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estimates reflect current assumptions, are not guarantees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may differ materially from actual results. Do not copy,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forward or distribute without the written consent of Ocean RCS.</a:t>
            </a:r>
            <a:endParaRPr lang="en-US" sz="1200" dirty="0"/>
          </a:p>
        </p:txBody>
      </p:sp>
      <p:sp>
        <p:nvSpPr>
          <p:cNvPr id="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2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output/.cache/env/rooftop-peacock-light-c41deb64da7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7744" y="2603500"/>
            <a:ext cx="1876207" cy="165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ack Sans Headli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ack Sans Headlin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Ocean RCS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RCS layout catalog</dc:title>
  <dc:subject>PptxGenJS Presentation</dc:subject>
  <dc:creator>PptxGenJS</dc:creator>
  <cp:lastModifiedBy>PptxGenJS</cp:lastModifiedBy>
  <cp:revision>1</cp:revision>
  <dcterms:created xsi:type="dcterms:W3CDTF">2026-09-26T19:12:26Z</dcterms:created>
  <dcterms:modified xsi:type="dcterms:W3CDTF">2026-09-26T19:12:26Z</dcterms:modified>
</cp:coreProperties>
</file>