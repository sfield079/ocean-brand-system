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Ocean voice, Guide 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output/.cache/env/rooftop-peacock-light-c41deb64da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2761488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BRIEFING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Catalog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For discussion only. Not an offer to sell or a solicitation of an offer to buy any security. Design specimen with illustrative figures and representative images. Do not use for any commercial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4753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INVESTOR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40911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7039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3125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71396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765124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COMPANY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Emphasis without noise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statement"/>
          <p:cNvSpPr/>
          <p:nvPr/>
        </p:nvSpPr>
        <p:spPr>
          <a:xfrm>
            <a:off x="548640" y="3044952"/>
            <a:ext cx="85953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Bold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 the words that carry the point,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F3FBF8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a chip 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 the one fact that must pop, and a bottom line for the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conclusion.</a:t>
            </a:r>
            <a:endParaRPr lang="en-US" sz="2600" dirty="0"/>
          </a:p>
        </p:txBody>
      </p:sp>
      <p:sp>
        <p:nvSpPr>
          <p:cNvPr id="23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25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26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emphasis device per idea. Never all three on one line.</a:t>
            </a:r>
            <a:endParaRPr lang="en-US" sz="1500" dirty="0"/>
          </a:p>
        </p:txBody>
      </p:sp>
      <p:sp>
        <p:nvSpPr>
          <p:cNvPr id="2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765124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COMPANY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Presentations and reports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serve different readers</a:t>
            </a:r>
            <a:endParaRPr lang="en-US" sz="3500" dirty="0"/>
          </a:p>
        </p:txBody>
      </p:sp>
      <p:sp>
        <p:nvSpPr>
          <p:cNvPr id="21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SAME BRAND, DIFFERENT SYSTEMS.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3" name="ocean:frame"/>
          <p:cNvSpPr/>
          <p:nvPr/>
        </p:nvSpPr>
        <p:spPr>
          <a:xfrm>
            <a:off x="548640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4720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5" name="ocean:section"/>
          <p:cNvSpPr/>
          <p:nvPr/>
        </p:nvSpPr>
        <p:spPr>
          <a:xfrm>
            <a:off x="777240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77240" y="370332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27" name="ocean:body"/>
          <p:cNvSpPr/>
          <p:nvPr/>
        </p:nvSpPr>
        <p:spPr>
          <a:xfrm>
            <a:off x="777240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idea per slide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77240" y="443484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29" name="ocean:body"/>
          <p:cNvSpPr/>
          <p:nvPr/>
        </p:nvSpPr>
        <p:spPr>
          <a:xfrm>
            <a:off x="777240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concise narrative for a</a:t>
            </a:r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meeting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777240" y="516636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1" name="ocean:body"/>
          <p:cNvSpPr/>
          <p:nvPr/>
        </p:nvSpPr>
        <p:spPr>
          <a:xfrm>
            <a:off x="777240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charts and an appendix</a:t>
            </a:r>
            <a:endParaRPr lang="en-US" sz="1500" dirty="0"/>
          </a:p>
        </p:txBody>
      </p:sp>
      <p:sp>
        <p:nvSpPr>
          <p:cNvPr id="32" name="ocean:frame"/>
          <p:cNvSpPr/>
          <p:nvPr/>
        </p:nvSpPr>
        <p:spPr>
          <a:xfrm>
            <a:off x="6324448" y="3044952"/>
            <a:ext cx="5318608" cy="3127248"/>
          </a:xfrm>
          <a:custGeom>
            <a:avLst/>
            <a:gdLst/>
            <a:ahLst/>
            <a:cxnLst/>
            <a:rect l="l" t="t" r="r" b="b"/>
            <a:pathLst>
              <a:path w="5318608" h="3127248">
                <a:moveTo>
                  <a:pt x="114300" y="0"/>
                </a:moveTo>
                <a:lnTo>
                  <a:pt x="5204308" y="0"/>
                </a:lnTo>
                <a:quadBezTo>
                  <a:pt x="5318608" y="0"/>
                  <a:pt x="5318608" y="114300"/>
                </a:quadBezTo>
                <a:lnTo>
                  <a:pt x="5318608" y="2898648"/>
                </a:lnTo>
                <a:lnTo>
                  <a:pt x="509000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5" name="ocean:section"/>
          <p:cNvSpPr/>
          <p:nvPr/>
        </p:nvSpPr>
        <p:spPr>
          <a:xfrm>
            <a:off x="6553048" y="3246120"/>
            <a:ext cx="422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REPORT OR PROPOSAL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553048" y="370332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7" name="ocean:body"/>
          <p:cNvSpPr/>
          <p:nvPr/>
        </p:nvSpPr>
        <p:spPr>
          <a:xfrm>
            <a:off x="6553048" y="381304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Enough detail to</a:t>
            </a:r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decide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6553048" y="443484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39" name="ocean:body"/>
          <p:cNvSpPr/>
          <p:nvPr/>
        </p:nvSpPr>
        <p:spPr>
          <a:xfrm>
            <a:off x="6553048" y="454456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Flowing text with scope and evidence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553048" y="5166360"/>
            <a:ext cx="4861408" cy="0"/>
          </a:xfrm>
          <a:prstGeom prst="line">
            <a:avLst/>
          </a:prstGeom>
          <a:noFill/>
          <a:ln w="6350">
            <a:solidFill>
              <a:srgbClr val="1B4039"/>
            </a:solidFill>
            <a:prstDash val="solid"/>
          </a:ln>
        </p:spPr>
      </p:sp>
      <p:sp>
        <p:nvSpPr>
          <p:cNvPr id="41" name="ocean:body"/>
          <p:cNvSpPr/>
          <p:nvPr/>
        </p:nvSpPr>
        <p:spPr>
          <a:xfrm>
            <a:off x="6553048" y="5276088"/>
            <a:ext cx="486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Readable Letter pages for PDF</a:t>
            </a:r>
            <a:endParaRPr lang="en-US" sz="1500" dirty="0"/>
          </a:p>
        </p:txBody>
      </p:sp>
      <p:sp>
        <p:nvSpPr>
          <p:cNvPr id="4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98492" y="515112"/>
            <a:ext cx="478803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TEAM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Credibility comes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specific responsibilities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3" name="ocean:section"/>
          <p:cNvSpPr/>
          <p:nvPr/>
        </p:nvSpPr>
        <p:spPr>
          <a:xfrm>
            <a:off x="548640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24" name="ocean:label"/>
          <p:cNvSpPr/>
          <p:nvPr/>
        </p:nvSpPr>
        <p:spPr>
          <a:xfrm>
            <a:off x="548640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RESPONSIBILITY</a:t>
            </a:r>
            <a:endParaRPr lang="en-US" sz="950" dirty="0"/>
          </a:p>
        </p:txBody>
      </p:sp>
      <p:sp>
        <p:nvSpPr>
          <p:cNvPr id="25" name="ocean:body"/>
          <p:cNvSpPr/>
          <p:nvPr/>
        </p:nvSpPr>
        <p:spPr>
          <a:xfrm>
            <a:off x="548640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verified name, role and concise record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of relevant experience.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338218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7" name="ocean:section"/>
          <p:cNvSpPr/>
          <p:nvPr/>
        </p:nvSpPr>
        <p:spPr>
          <a:xfrm>
            <a:off x="4338218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28" name="ocean:label"/>
          <p:cNvSpPr/>
          <p:nvPr/>
        </p:nvSpPr>
        <p:spPr>
          <a:xfrm>
            <a:off x="4338218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DELIVERY RESPONSIBILITY</a:t>
            </a:r>
            <a:endParaRPr lang="en-US" sz="950" dirty="0"/>
          </a:p>
        </p:txBody>
      </p:sp>
      <p:sp>
        <p:nvSpPr>
          <p:cNvPr id="29" name="ocean:body"/>
          <p:cNvSpPr/>
          <p:nvPr/>
        </p:nvSpPr>
        <p:spPr>
          <a:xfrm>
            <a:off x="4338218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Explain the work this person owns. Avoid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inflated descriptions.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127797" y="3044952"/>
            <a:ext cx="3515258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section"/>
          <p:cNvSpPr/>
          <p:nvPr/>
        </p:nvSpPr>
        <p:spPr>
          <a:xfrm>
            <a:off x="8127797" y="327355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sz="2200" spc="-22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32" name="ocean:label"/>
          <p:cNvSpPr/>
          <p:nvPr/>
        </p:nvSpPr>
        <p:spPr>
          <a:xfrm>
            <a:off x="8127797" y="3776472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spc="23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 RESPONSIBILITY</a:t>
            </a:r>
            <a:endParaRPr lang="en-US" sz="950" dirty="0"/>
          </a:p>
        </p:txBody>
      </p:sp>
      <p:sp>
        <p:nvSpPr>
          <p:cNvPr id="33" name="ocean:body"/>
          <p:cNvSpPr/>
          <p:nvPr/>
        </p:nvSpPr>
        <p:spPr>
          <a:xfrm>
            <a:off x="8127797" y="4187952"/>
            <a:ext cx="3515258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Include confirmed qualifications. Use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supplied headshot or none.</a:t>
            </a:r>
            <a:endParaRPr lang="en-US" sz="1300" dirty="0"/>
          </a:p>
        </p:txBody>
      </p:sp>
      <p:sp>
        <p:nvSpPr>
          <p:cNvPr id="3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7651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662500" y="551688"/>
            <a:ext cx="478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TEAM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CATALOG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APPENDIX</a:t>
            </a:r>
            <a:endParaRPr lang="en-US" sz="1100" dirty="0"/>
          </a:p>
        </p:txBody>
      </p:sp>
      <p:sp>
        <p:nvSpPr>
          <p:cNvPr id="18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Keep useful detail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accessible</a:t>
            </a:r>
            <a:endParaRPr lang="en-US" sz="3500" dirty="0"/>
          </a:p>
        </p:txBody>
      </p:sp>
      <p:sp>
        <p:nvSpPr>
          <p:cNvPr id="19" name="Shape 16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graphicFrame>
        <p:nvGraphicFramePr>
          <p:cNvPr id="6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029200"/>
                <a:gridCol w="33220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RECORD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INCLUDE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PURPOSE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0B16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Source register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Document, date and owner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Trace each important claim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Assumptions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Input, basis and limitation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Show what remains uncertain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Technical detail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Relevant scope and specifications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Support diligence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terms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Verified inclusions and exclusions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Make boundaries explicit</a:t>
                      </a:r>
                      <a:endParaRPr lang="en-US" sz="12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2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prig_map_light_so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quote"/>
          <p:cNvSpPr/>
          <p:nvPr/>
        </p:nvSpPr>
        <p:spPr>
          <a:xfrm>
            <a:off x="548640" y="1645920"/>
            <a:ext cx="9692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5400" spc="-10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Steel and sunlight shape</a:t>
            </a:r>
            <a:endParaRPr lang="en-US" sz="5400" dirty="0"/>
          </a:p>
          <a:p>
            <a:pPr algn="l" indent="0" marL="0">
              <a:lnSpc>
                <a:spcPts val="6000"/>
              </a:lnSpc>
              <a:buNone/>
            </a:pPr>
            <a:r>
              <a:rPr lang="en-US" sz="5400" spc="-10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tomorrow's world today.</a:t>
            </a:r>
            <a:endParaRPr lang="en-US" sz="5400" dirty="0"/>
          </a:p>
        </p:txBody>
      </p:sp>
      <p:sp>
        <p:nvSpPr>
          <p:cNvPr id="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graphic" descr="/home/user/workspace/audit/repo/assets/logos/png/logo_graphic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548640" y="133502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NOTICE</a:t>
            </a:r>
            <a:endParaRPr lang="en-US" sz="1100" dirty="0"/>
          </a:p>
        </p:txBody>
      </p:sp>
      <p:sp>
        <p:nvSpPr>
          <p:cNvPr id="4" name="ocean:headline"/>
          <p:cNvSpPr/>
          <p:nvPr/>
        </p:nvSpPr>
        <p:spPr>
          <a:xfrm>
            <a:off x="530352" y="1572768"/>
            <a:ext cx="7315200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Important notice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notice"/>
          <p:cNvSpPr/>
          <p:nvPr/>
        </p:nvSpPr>
        <p:spPr>
          <a:xfrm>
            <a:off x="7022592" y="3044952"/>
            <a:ext cx="460217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This presentation is confidential and is provided for discussion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purposes only. It is not an offer to sell or a solicitation of an offer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buy any security. Forward-looking statements, projections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estimates reflect current assumptions, are not guarantees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may differ materially from actual results. Do not copy,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forward or distribute without the written consent of Ocean RCS.</a:t>
            </a:r>
            <a:endParaRPr lang="en-US" sz="12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FOR DISCUSSION ONLY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output/.cache/env/rooftop-peacock-light-c41deb64da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catalog</dc:title>
  <dc:subject>Built with ocean-brand-system lib/ocean.js</dc:subject>
  <dc:creator>Ocean RCS</dc:creator>
  <cp:lastModifiedBy>Ocean RCS</cp:lastModifiedBy>
  <cp:revision>1</cp:revision>
  <dcterms:created xsi:type="dcterms:W3CDTF">2026-09-27T09:30:20Z</dcterms:created>
  <dcterms:modified xsi:type="dcterms:W3CDTF">2026-09-27T09:30:20Z</dcterms:modified>
</cp:coreProperties>
</file>