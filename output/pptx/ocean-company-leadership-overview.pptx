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PDF page 1. Ocean RCS means Renewable Connected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 2. Energy includes efficiency. Water includes atmospheric water. Compute is partner-enabled deployment, not hyperscale development. DJI_0482 confirmed by Ocean leadership as a real Ocean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pages 2-3. The fourth operating function, Integrate, connects strategy, standards and accountability across these three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pages 4-5. Names, titles, credential and experience are supplied claims retained for Ocean approval. No stock or generated portraits.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pages 2, 3 and 6. Same verified project photograph reused for continuity, with a different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 6. These are support categories, not representations of signed partner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 2: Energy, Mobility, Water and Compute. The figure counts supplied categories, not projects or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page 7. Contact information retained from the supplied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18C7C"/>
        </a:solidFill>
      </p:bgPr>
    </p:bg>
    <p:spTree>
      <p:nvGrpSpPr>
        <p:cNvPr id="1" name=""/>
        <p:cNvGrpSpPr/>
        <p:nvPr/>
      </p:nvGrpSpPr>
      <p:grpSpPr>
        <a:xfrm>
          <a:off x="0" y="0"/>
          <a:ext cx="0" cy="0"/>
          <a:chOff x="0" y="0"/>
          <a:chExt cx="0" cy="0"/>
        </a:xfrm>
      </p:grpSpPr>
      <p:pic>
        <p:nvPicPr>
          <p:cNvPr id="2" name="ocean:environment" descr="/home/runner/work/ocean-brand-system/ocean-brand-system/assets/environments/env_sage_map_dark.jpg">    </p:cNvPr>
          <p:cNvPicPr>
            <a:picLocks noChangeAspect="1"/>
          </p:cNvPicPr>
          <p:nvPr/>
        </p:nvPicPr>
        <p:blipFill>
          <a:blip r:embed="rId1"/>
          <a:stretch>
            <a:fillRect/>
          </a:stretch>
        </p:blipFill>
        <p:spPr>
          <a:xfrm>
            <a:off x="0" y="0"/>
            <a:ext cx="12191695" cy="6858000"/>
          </a:xfrm>
          <a:prstGeom prst="rect">
            <a:avLst/>
          </a:prstGeom>
        </p:spPr>
      </p:pic>
      <p:sp>
        <p:nvSpPr>
          <p:cNvPr id="4" name="ocean:frame"/>
          <p:cNvSpPr/>
          <p:nvPr/>
        </p:nvSpPr>
        <p:spPr>
          <a:xfrm>
            <a:off x="304800" y="304800"/>
            <a:ext cx="11582095" cy="6248400"/>
          </a:xfrm>
          <a:custGeom>
            <a:avLst/>
            <a:gdLst/>
            <a:ahLst/>
            <a:cxnLst/>
            <a:rect l="l" t="t" r="r" b="b"/>
            <a:pathLst>
              <a:path w="11582095" h="6248400">
                <a:moveTo>
                  <a:pt x="0" y="279400"/>
                </a:moveTo>
                <a:lnTo>
                  <a:pt x="279400" y="0"/>
                </a:lnTo>
                <a:lnTo>
                  <a:pt x="11455095" y="0"/>
                </a:lnTo>
                <a:quadBezTo>
                  <a:pt x="11582095" y="0"/>
                  <a:pt x="11582095" y="127000"/>
                </a:quadBezTo>
                <a:lnTo>
                  <a:pt x="11582095" y="6121400"/>
                </a:lnTo>
                <a:quadBezTo>
                  <a:pt x="11582095" y="6248400"/>
                  <a:pt x="11455095" y="6248400"/>
                </a:quadBezTo>
                <a:lnTo>
                  <a:pt x="127000" y="6248400"/>
                </a:lnTo>
                <a:quadBezTo>
                  <a:pt x="0" y="6248400"/>
                  <a:pt x="0" y="6121400"/>
                </a:quadBezTo>
                <a:close/>
              </a:path>
            </a:pathLst>
          </a:custGeom>
          <a:ln w="12700">
            <a:solidFill>
              <a:srgbClr val="F3FBF8"/>
            </a:solidFill>
            <a:prstDash val="solid"/>
          </a:ln>
        </p:spPr>
      </p:sp>
      <p:pic>
        <p:nvPicPr>
          <p:cNvPr id="5" name="ocean:logo-vertical" descr="/home/runner/work/ocean-brand-system/ocean-brand-system/assets/logos/png/logo_vertical_honeydew.png">    </p:cNvPr>
          <p:cNvPicPr>
            <a:picLocks noChangeAspect="1"/>
          </p:cNvPicPr>
          <p:nvPr/>
        </p:nvPicPr>
        <p:blipFill>
          <a:blip r:embed="rId2"/>
          <a:stretch>
            <a:fillRect/>
          </a:stretch>
        </p:blipFill>
        <p:spPr>
          <a:xfrm>
            <a:off x="711200" y="685800"/>
            <a:ext cx="952536" cy="838200"/>
          </a:xfrm>
          <a:prstGeom prst="rect">
            <a:avLst/>
          </a:prstGeom>
        </p:spPr>
      </p:pic>
      <p:sp>
        <p:nvSpPr>
          <p:cNvPr id="6" name="ocean:label"/>
          <p:cNvSpPr/>
          <p:nvPr/>
        </p:nvSpPr>
        <p:spPr>
          <a:xfrm>
            <a:off x="8554415" y="635000"/>
            <a:ext cx="2926080" cy="512064"/>
          </a:xfrm>
          <a:prstGeom prst="rect">
            <a:avLst/>
          </a:prstGeom>
          <a:noFill/>
          <a:ln/>
        </p:spPr>
        <p:txBody>
          <a:bodyPr wrap="square" lIns="0" tIns="0" rIns="0" bIns="0" rtlCol="0" anchor="t"/>
          <a:lstStyle/>
          <a:p>
            <a:pPr algn="r" indent="0" marL="0">
              <a:lnSpc>
                <a:spcPts val="3720"/>
              </a:lnSpc>
              <a:buNone/>
            </a:pPr>
            <a:r>
              <a:rPr lang="en-US" sz="3000" spc="-60" kern="0" dirty="0">
                <a:solidFill>
                  <a:srgbClr val="F3FBF8"/>
                </a:solidFill>
                <a:latin typeface="Stack Sans Headline" pitchFamily="34" charset="0"/>
                <a:ea typeface="Stack Sans Headline" pitchFamily="34" charset="-122"/>
                <a:cs typeface="Stack Sans Headline" pitchFamily="34" charset="-120"/>
              </a:rPr>
              <a:t>2026</a:t>
            </a:r>
            <a:endParaRPr lang="en-US" sz="3000" dirty="0"/>
          </a:p>
        </p:txBody>
      </p:sp>
      <p:sp>
        <p:nvSpPr>
          <p:cNvPr id="7" name="ocean:label"/>
          <p:cNvSpPr/>
          <p:nvPr/>
        </p:nvSpPr>
        <p:spPr>
          <a:xfrm>
            <a:off x="7640015" y="1243584"/>
            <a:ext cx="3840480" cy="274320"/>
          </a:xfrm>
          <a:prstGeom prst="rect">
            <a:avLst/>
          </a:prstGeom>
          <a:noFill/>
          <a:ln/>
        </p:spPr>
        <p:txBody>
          <a:bodyPr wrap="square" lIns="0" tIns="0" rIns="0" bIns="0" rtlCol="0" anchor="t"/>
          <a:lstStyle/>
          <a:p>
            <a:pPr algn="r" indent="0" marL="0">
              <a:lnSpc>
                <a:spcPts val="1364"/>
              </a:lnSpc>
              <a:buNone/>
            </a:pPr>
            <a:r>
              <a:rPr lang="en-US" sz="1100" spc="275" kern="0" dirty="0">
                <a:solidFill>
                  <a:srgbClr val="F3FBF8"/>
                </a:solidFill>
                <a:latin typeface="Stack Sans Headline Light" pitchFamily="34" charset="0"/>
                <a:ea typeface="Stack Sans Headline Light" pitchFamily="34" charset="-122"/>
                <a:cs typeface="Stack Sans Headline Light" pitchFamily="34" charset="-120"/>
              </a:rPr>
              <a:t>RENEWABLE CONNECTED SYSTEMS</a:t>
            </a:r>
            <a:endParaRPr lang="en-US" sz="1100" dirty="0"/>
          </a:p>
        </p:txBody>
      </p:sp>
      <p:sp>
        <p:nvSpPr>
          <p:cNvPr id="8" name="ocean:label"/>
          <p:cNvSpPr/>
          <p:nvPr/>
        </p:nvSpPr>
        <p:spPr>
          <a:xfrm>
            <a:off x="711200" y="2761488"/>
            <a:ext cx="10769295" cy="228600"/>
          </a:xfrm>
          <a:prstGeom prst="rect">
            <a:avLst/>
          </a:prstGeom>
          <a:noFill/>
          <a:ln/>
        </p:spPr>
        <p:txBody>
          <a:bodyPr wrap="square" lIns="0" tIns="0" rIns="0" bIns="0" rtlCol="0" anchor="t"/>
          <a:lstStyle/>
          <a:p>
            <a:pPr algn="l" indent="0" marL="0">
              <a:lnSpc>
                <a:spcPts val="1488"/>
              </a:lnSpc>
              <a:buNone/>
            </a:pPr>
            <a:r>
              <a:rPr lang="en-US" sz="1200" b="1" spc="300" kern="0" dirty="0">
                <a:solidFill>
                  <a:srgbClr val="F3FBF8"/>
                </a:solidFill>
                <a:latin typeface="Stack Sans Headline" pitchFamily="34" charset="0"/>
                <a:ea typeface="Stack Sans Headline" pitchFamily="34" charset="-122"/>
                <a:cs typeface="Stack Sans Headline" pitchFamily="34" charset="-120"/>
              </a:rPr>
              <a:t>COMPANY OVERVIEW</a:t>
            </a:r>
            <a:endParaRPr lang="en-US" sz="1200" dirty="0"/>
          </a:p>
        </p:txBody>
      </p:sp>
      <p:sp>
        <p:nvSpPr>
          <p:cNvPr id="9" name="ocean:cover"/>
          <p:cNvSpPr/>
          <p:nvPr/>
        </p:nvSpPr>
        <p:spPr>
          <a:xfrm>
            <a:off x="660400" y="3291840"/>
            <a:ext cx="10769295" cy="2148840"/>
          </a:xfrm>
          <a:prstGeom prst="rect">
            <a:avLst/>
          </a:prstGeom>
          <a:noFill/>
          <a:ln/>
        </p:spPr>
        <p:txBody>
          <a:bodyPr wrap="square" lIns="0" tIns="0" rIns="0" bIns="0" rtlCol="0" anchor="t"/>
          <a:lstStyle/>
          <a:p>
            <a:pPr algn="l" indent="0" marL="0">
              <a:lnSpc>
                <a:spcPts val="7200"/>
              </a:lnSpc>
              <a:buNone/>
            </a:pPr>
            <a:r>
              <a:rPr lang="en-US" sz="8400" spc="-336" kern="0" dirty="0">
                <a:solidFill>
                  <a:srgbClr val="F3FBF8"/>
                </a:solidFill>
                <a:latin typeface="Stack Sans Headline Light" pitchFamily="34" charset="0"/>
                <a:ea typeface="Stack Sans Headline Light" pitchFamily="34" charset="-122"/>
                <a:cs typeface="Stack Sans Headline Light" pitchFamily="34" charset="-120"/>
              </a:rPr>
              <a:t>Company &amp;</a:t>
            </a:r>
            <a:endParaRPr lang="en-US" sz="8400" dirty="0"/>
          </a:p>
          <a:p>
            <a:pPr algn="l" indent="0" marL="0">
              <a:lnSpc>
                <a:spcPts val="7200"/>
              </a:lnSpc>
              <a:buNone/>
            </a:pPr>
            <a:r>
              <a:rPr lang="en-US" sz="8400" spc="-336" kern="0" dirty="0">
                <a:solidFill>
                  <a:srgbClr val="F3FBF8"/>
                </a:solidFill>
                <a:latin typeface="Stack Sans Headline Light" pitchFamily="34" charset="0"/>
                <a:ea typeface="Stack Sans Headline Light" pitchFamily="34" charset="-122"/>
                <a:cs typeface="Stack Sans Headline Light" pitchFamily="34" charset="-120"/>
              </a:rPr>
              <a:t>Leadership</a:t>
            </a:r>
            <a:endParaRPr lang="en-US" sz="8400" dirty="0"/>
          </a:p>
        </p:txBody>
      </p:sp>
      <p:sp>
        <p:nvSpPr>
          <p:cNvPr id="10" name="ocean:notice"/>
          <p:cNvSpPr/>
          <p:nvPr/>
        </p:nvSpPr>
        <p:spPr>
          <a:xfrm>
            <a:off x="711200" y="5537200"/>
            <a:ext cx="10769295" cy="402336"/>
          </a:xfrm>
          <a:prstGeom prst="rect">
            <a:avLst/>
          </a:prstGeom>
          <a:noFill/>
          <a:ln/>
        </p:spPr>
        <p:txBody>
          <a:bodyPr wrap="square" lIns="0" tIns="0" rIns="0" bIns="0" rtlCol="0" anchor="t"/>
          <a:lstStyle/>
          <a:p>
            <a:pPr algn="l" indent="0" marL="0">
              <a:lnSpc>
                <a:spcPts val="1300"/>
              </a:lnSpc>
              <a:buNone/>
            </a:pPr>
            <a:r>
              <a:rPr lang="en-US" sz="900" dirty="0">
                <a:solidFill>
                  <a:srgbClr val="F3FBF8"/>
                </a:solidFill>
                <a:latin typeface="Stack Sans Headline Light" pitchFamily="34" charset="0"/>
                <a:ea typeface="Stack Sans Headline Light" pitchFamily="34" charset="-122"/>
                <a:cs typeface="Stack Sans Headline Light" pitchFamily="34" charset="-120"/>
              </a:rPr>
              <a:t>Confidential. Prepared for Ocean RCS. Do not copy, forward or distribute without the written consent of Ocean RCS. Draft for discussion. Do not use, rely on or distribute. Figures and terms may change.</a:t>
            </a:r>
            <a:endParaRPr lang="en-US" sz="900" dirty="0"/>
          </a:p>
        </p:txBody>
      </p:sp>
      <p:sp>
        <p:nvSpPr>
          <p:cNvPr id="11" name="Shape 6"/>
          <p:cNvSpPr/>
          <p:nvPr/>
        </p:nvSpPr>
        <p:spPr>
          <a:xfrm>
            <a:off x="711200" y="6083300"/>
            <a:ext cx="10769295" cy="0"/>
          </a:xfrm>
          <a:prstGeom prst="line">
            <a:avLst/>
          </a:prstGeom>
          <a:noFill/>
          <a:ln w="12700">
            <a:solidFill>
              <a:srgbClr val="F3FBF8"/>
            </a:solidFill>
            <a:prstDash val="solid"/>
          </a:ln>
        </p:spPr>
      </p:sp>
      <p:sp>
        <p:nvSpPr>
          <p:cNvPr id="12" name="ocean:meta"/>
          <p:cNvSpPr/>
          <p:nvPr/>
        </p:nvSpPr>
        <p:spPr>
          <a:xfrm>
            <a:off x="711200" y="6235700"/>
            <a:ext cx="503047" cy="201168"/>
          </a:xfrm>
          <a:prstGeom prst="rect">
            <a:avLst/>
          </a:prstGeom>
          <a:noFill/>
          <a:ln/>
        </p:spPr>
        <p:txBody>
          <a:bodyPr wrap="square" lIns="0" tIns="0" rIns="0" bIns="0" rtlCol="0" anchor="t"/>
          <a:lstStyle/>
          <a:p>
            <a:pPr algn="l" indent="0" marL="0">
              <a:lnSpc>
                <a:spcPts val="1240"/>
              </a:lnSpc>
              <a:buNone/>
            </a:pPr>
            <a:r>
              <a:rPr lang="en-US" sz="1000" spc="250" kern="0" dirty="0">
                <a:solidFill>
                  <a:srgbClr val="F3FBF8"/>
                </a:solidFill>
                <a:latin typeface="Stack Sans Headline Light" pitchFamily="34" charset="0"/>
                <a:ea typeface="Stack Sans Headline Light" pitchFamily="34" charset="-122"/>
                <a:cs typeface="Stack Sans Headline Light" pitchFamily="34" charset="-120"/>
              </a:rPr>
              <a:t>DATE</a:t>
            </a:r>
            <a:endParaRPr lang="en-US" sz="1000" dirty="0"/>
          </a:p>
        </p:txBody>
      </p:sp>
      <p:sp>
        <p:nvSpPr>
          <p:cNvPr id="13" name="ocean:meta"/>
          <p:cNvSpPr/>
          <p:nvPr/>
        </p:nvSpPr>
        <p:spPr>
          <a:xfrm>
            <a:off x="1323975" y="6235700"/>
            <a:ext cx="1159764" cy="201168"/>
          </a:xfrm>
          <a:prstGeom prst="rect">
            <a:avLst/>
          </a:prstGeom>
          <a:noFill/>
          <a:ln/>
        </p:spPr>
        <p:txBody>
          <a:bodyPr wrap="square" lIns="0" tIns="0" rIns="0" bIns="0" rtlCol="0" anchor="t"/>
          <a:lstStyle/>
          <a:p>
            <a:pPr algn="l" indent="0" marL="0">
              <a:lnSpc>
                <a:spcPts val="1240"/>
              </a:lnSpc>
              <a:buNone/>
            </a:pPr>
            <a:r>
              <a:rPr lang="en-US" sz="1000" b="1" spc="250" kern="0" dirty="0">
                <a:solidFill>
                  <a:srgbClr val="F3FBF8"/>
                </a:solidFill>
                <a:latin typeface="Stack Sans Headline" pitchFamily="34" charset="0"/>
                <a:ea typeface="Stack Sans Headline" pitchFamily="34" charset="-122"/>
                <a:cs typeface="Stack Sans Headline" pitchFamily="34" charset="-120"/>
              </a:rPr>
              <a:t>27 SEP 2026</a:t>
            </a:r>
            <a:endParaRPr lang="en-US" sz="1000" dirty="0"/>
          </a:p>
        </p:txBody>
      </p:sp>
      <p:sp>
        <p:nvSpPr>
          <p:cNvPr id="14" name="ocean:meta"/>
          <p:cNvSpPr/>
          <p:nvPr/>
        </p:nvSpPr>
        <p:spPr>
          <a:xfrm>
            <a:off x="2922651" y="6235700"/>
            <a:ext cx="717423" cy="201168"/>
          </a:xfrm>
          <a:prstGeom prst="rect">
            <a:avLst/>
          </a:prstGeom>
          <a:noFill/>
          <a:ln/>
        </p:spPr>
        <p:txBody>
          <a:bodyPr wrap="square" lIns="0" tIns="0" rIns="0" bIns="0" rtlCol="0" anchor="t"/>
          <a:lstStyle/>
          <a:p>
            <a:pPr algn="l" indent="0" marL="0">
              <a:lnSpc>
                <a:spcPts val="1240"/>
              </a:lnSpc>
              <a:buNone/>
            </a:pPr>
            <a:r>
              <a:rPr lang="en-US" sz="1000" spc="250" kern="0" dirty="0">
                <a:solidFill>
                  <a:srgbClr val="F3FBF8"/>
                </a:solidFill>
                <a:latin typeface="Stack Sans Headline Light" pitchFamily="34" charset="0"/>
                <a:ea typeface="Stack Sans Headline Light" pitchFamily="34" charset="-122"/>
                <a:cs typeface="Stack Sans Headline Light" pitchFamily="34" charset="-120"/>
              </a:rPr>
              <a:t>STATUS</a:t>
            </a:r>
            <a:endParaRPr lang="en-US" sz="1000" dirty="0"/>
          </a:p>
        </p:txBody>
      </p:sp>
      <p:sp>
        <p:nvSpPr>
          <p:cNvPr id="15" name="ocean:meta"/>
          <p:cNvSpPr/>
          <p:nvPr/>
        </p:nvSpPr>
        <p:spPr>
          <a:xfrm>
            <a:off x="3749802" y="6235700"/>
            <a:ext cx="640969" cy="201168"/>
          </a:xfrm>
          <a:prstGeom prst="rect">
            <a:avLst/>
          </a:prstGeom>
          <a:noFill/>
          <a:ln/>
        </p:spPr>
        <p:txBody>
          <a:bodyPr wrap="square" lIns="0" tIns="0" rIns="0" bIns="0" rtlCol="0" anchor="t"/>
          <a:lstStyle/>
          <a:p>
            <a:pPr algn="l" indent="0" marL="0">
              <a:lnSpc>
                <a:spcPts val="1240"/>
              </a:lnSpc>
              <a:buNone/>
            </a:pPr>
            <a:r>
              <a:rPr lang="en-US" sz="1000" b="1" spc="250" kern="0" dirty="0">
                <a:solidFill>
                  <a:srgbClr val="F3FBF8"/>
                </a:solidFill>
                <a:latin typeface="Stack Sans Headline" pitchFamily="34" charset="0"/>
                <a:ea typeface="Stack Sans Headline" pitchFamily="34" charset="-122"/>
                <a:cs typeface="Stack Sans Headline" pitchFamily="34" charset="-120"/>
              </a:rPr>
              <a:t>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BF8"/>
        </a:solidFill>
      </p:bgPr>
    </p:bg>
    <p:spTree>
      <p:nvGrpSpPr>
        <p:cNvPr id="1" name=""/>
        <p:cNvGrpSpPr/>
        <p:nvPr/>
      </p:nvGrpSpPr>
      <p:grpSpPr>
        <a:xfrm>
          <a:off x="0" y="0"/>
          <a:ext cx="0" cy="0"/>
          <a:chOff x="0" y="0"/>
          <a:chExt cx="0" cy="0"/>
        </a:xfrm>
      </p:grpSpPr>
      <p:pic>
        <p:nvPicPr>
          <p:cNvPr id="2" name="ocean:logo-horizontal" descr="/home/runner/work/ocean-brand-system/ocean-brand-system/assets/logos/png/logo_horizontal_blackmoss.png">    </p:cNvPr>
          <p:cNvPicPr>
            <a:picLocks noChangeAspect="1"/>
          </p:cNvPicPr>
          <p:nvPr/>
        </p:nvPicPr>
        <p:blipFill>
          <a:blip r:embed="rId1"/>
          <a:stretch>
            <a:fillRect/>
          </a:stretch>
        </p:blipFill>
        <p:spPr>
          <a:xfrm>
            <a:off x="548640" y="406400"/>
            <a:ext cx="1000657" cy="279400"/>
          </a:xfrm>
          <a:prstGeom prst="rect">
            <a:avLst/>
          </a:prstGeom>
        </p:spPr>
      </p:pic>
      <p:sp>
        <p:nvSpPr>
          <p:cNvPr id="3" name="ocean:label"/>
          <p:cNvSpPr/>
          <p:nvPr/>
        </p:nvSpPr>
        <p:spPr>
          <a:xfrm>
            <a:off x="8442655" y="393700"/>
            <a:ext cx="3200400" cy="184912"/>
          </a:xfrm>
          <a:prstGeom prst="rect">
            <a:avLst/>
          </a:prstGeom>
          <a:noFill/>
          <a:ln/>
        </p:spPr>
        <p:txBody>
          <a:bodyPr wrap="square" lIns="0" tIns="0" rIns="0" bIns="0" rtlCol="0" anchor="t"/>
          <a:lstStyle/>
          <a:p>
            <a:pPr algn="r" indent="0" marL="0">
              <a:lnSpc>
                <a:spcPts val="1240"/>
              </a:lnSpc>
              <a:buNone/>
            </a:pPr>
            <a:r>
              <a:rPr lang="en-US" sz="1000" spc="250" kern="0" dirty="0">
                <a:solidFill>
                  <a:srgbClr val="0B1617"/>
                </a:solidFill>
                <a:latin typeface="Stack Sans Headline Light" pitchFamily="34" charset="0"/>
                <a:ea typeface="Stack Sans Headline Light" pitchFamily="34" charset="-122"/>
                <a:cs typeface="Stack Sans Headline Light" pitchFamily="34" charset="-120"/>
              </a:rPr>
              <a:t>COMPANY OVERVIEW</a:t>
            </a:r>
            <a:endParaRPr lang="en-US" sz="1000" dirty="0"/>
          </a:p>
        </p:txBody>
      </p:sp>
      <p:sp>
        <p:nvSpPr>
          <p:cNvPr id="4" name="ocean:label"/>
          <p:cNvSpPr/>
          <p:nvPr/>
        </p:nvSpPr>
        <p:spPr>
          <a:xfrm>
            <a:off x="8442655" y="609600"/>
            <a:ext cx="3200400" cy="184912"/>
          </a:xfrm>
          <a:prstGeom prst="rect">
            <a:avLst/>
          </a:prstGeom>
          <a:noFill/>
          <a:ln/>
        </p:spPr>
        <p:txBody>
          <a:bodyPr wrap="square" lIns="0" tIns="0" rIns="0" bIns="0" rtlCol="0" anchor="t"/>
          <a:lstStyle/>
          <a:p>
            <a:pPr algn="r" indent="0" marL="0">
              <a:lnSpc>
                <a:spcPts val="1240"/>
              </a:lnSpc>
              <a:buNone/>
            </a:pPr>
            <a:r>
              <a:rPr lang="en-US" sz="1000" b="1" spc="250" kern="0" dirty="0">
                <a:solidFill>
                  <a:srgbClr val="0B1617"/>
                </a:solidFill>
                <a:latin typeface="Stack Sans Headline" pitchFamily="34" charset="0"/>
                <a:ea typeface="Stack Sans Headline" pitchFamily="34" charset="-122"/>
                <a:cs typeface="Stack Sans Headline" pitchFamily="34" charset="-120"/>
              </a:rPr>
              <a:t>OCEAN RCS</a:t>
            </a:r>
            <a:endParaRPr lang="en-US" sz="1000" dirty="0"/>
          </a:p>
        </p:txBody>
      </p:sp>
      <p:sp>
        <p:nvSpPr>
          <p:cNvPr id="5" name="ocean:cover"/>
          <p:cNvSpPr/>
          <p:nvPr/>
        </p:nvSpPr>
        <p:spPr>
          <a:xfrm>
            <a:off x="512064" y="1097280"/>
            <a:ext cx="7315200" cy="1554480"/>
          </a:xfrm>
          <a:prstGeom prst="rect">
            <a:avLst/>
          </a:prstGeom>
          <a:noFill/>
          <a:ln/>
        </p:spPr>
        <p:txBody>
          <a:bodyPr wrap="square" lIns="0" tIns="0" rIns="0" bIns="0" rtlCol="0" anchor="t"/>
          <a:lstStyle/>
          <a:p>
            <a:pPr algn="l" indent="0" marL="0">
              <a:lnSpc>
                <a:spcPts val="11500"/>
              </a:lnSpc>
              <a:buNone/>
            </a:pPr>
            <a:r>
              <a:rPr lang="en-US" sz="12500" b="1" spc="-750" kern="0" dirty="0">
                <a:solidFill>
                  <a:srgbClr val="0B1617"/>
                </a:solidFill>
                <a:latin typeface="Stack Sans Headline" pitchFamily="34" charset="0"/>
                <a:ea typeface="Stack Sans Headline" pitchFamily="34" charset="-122"/>
                <a:cs typeface="Stack Sans Headline" pitchFamily="34" charset="-120"/>
              </a:rPr>
              <a:t>Agenda</a:t>
            </a:r>
            <a:endParaRPr lang="en-US" sz="12500" dirty="0"/>
          </a:p>
        </p:txBody>
      </p:sp>
      <p:sp>
        <p:nvSpPr>
          <p:cNvPr id="6" name="Shape 3"/>
          <p:cNvSpPr/>
          <p:nvPr/>
        </p:nvSpPr>
        <p:spPr>
          <a:xfrm>
            <a:off x="548640" y="2980944"/>
            <a:ext cx="11094415" cy="0"/>
          </a:xfrm>
          <a:prstGeom prst="line">
            <a:avLst/>
          </a:prstGeom>
          <a:noFill/>
          <a:ln w="12700">
            <a:solidFill>
              <a:srgbClr val="0B1617"/>
            </a:solidFill>
            <a:prstDash val="solid"/>
          </a:ln>
        </p:spPr>
      </p:sp>
      <p:sp>
        <p:nvSpPr>
          <p:cNvPr id="7" name="ocean:metric"/>
          <p:cNvSpPr/>
          <p:nvPr/>
        </p:nvSpPr>
        <p:spPr>
          <a:xfrm>
            <a:off x="512064" y="3026664"/>
            <a:ext cx="2743200" cy="729425"/>
          </a:xfrm>
          <a:prstGeom prst="rect">
            <a:avLst/>
          </a:prstGeom>
          <a:noFill/>
          <a:ln/>
        </p:spPr>
        <p:txBody>
          <a:bodyPr wrap="square" lIns="0" tIns="0" rIns="0" bIns="0" rtlCol="0" anchor="t"/>
          <a:lstStyle/>
          <a:p>
            <a:pPr algn="l" indent="0" marL="0">
              <a:lnSpc>
                <a:spcPts val="5442"/>
              </a:lnSpc>
              <a:buNone/>
            </a:pPr>
            <a:r>
              <a:rPr lang="en-US" sz="5266" spc="-316" kern="0" dirty="0">
                <a:solidFill>
                  <a:srgbClr val="0B1617"/>
                </a:solidFill>
                <a:latin typeface="Stack Sans Headline Light" pitchFamily="34" charset="0"/>
                <a:ea typeface="Stack Sans Headline Light" pitchFamily="34" charset="-122"/>
                <a:cs typeface="Stack Sans Headline Light" pitchFamily="34" charset="-120"/>
              </a:rPr>
              <a:t>01</a:t>
            </a:r>
            <a:endParaRPr lang="en-US" sz="5266" dirty="0"/>
          </a:p>
        </p:txBody>
      </p:sp>
      <p:sp>
        <p:nvSpPr>
          <p:cNvPr id="8" name="ocean:label"/>
          <p:cNvSpPr/>
          <p:nvPr/>
        </p:nvSpPr>
        <p:spPr>
          <a:xfrm>
            <a:off x="4443984" y="3163824"/>
            <a:ext cx="7132320" cy="20066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PLATFORM</a:t>
            </a:r>
            <a:endParaRPr lang="en-US" sz="1100" dirty="0"/>
          </a:p>
        </p:txBody>
      </p:sp>
      <p:sp>
        <p:nvSpPr>
          <p:cNvPr id="9" name="ocean:section"/>
          <p:cNvSpPr/>
          <p:nvPr/>
        </p:nvSpPr>
        <p:spPr>
          <a:xfrm>
            <a:off x="4425696" y="3364992"/>
            <a:ext cx="7223760" cy="433832"/>
          </a:xfrm>
          <a:prstGeom prst="rect">
            <a:avLst/>
          </a:prstGeom>
          <a:noFill/>
          <a:ln/>
        </p:spPr>
        <p:txBody>
          <a:bodyPr wrap="square" lIns="0" tIns="0" rIns="0" bIns="0" rtlCol="0" anchor="t"/>
          <a:lstStyle/>
          <a:p>
            <a:pPr algn="l" indent="0" marL="0">
              <a:lnSpc>
                <a:spcPts val="3200"/>
              </a:lnSpc>
              <a:buNone/>
            </a:pPr>
            <a:r>
              <a:rPr lang="en-US" sz="2800" spc="-28" kern="0" dirty="0">
                <a:solidFill>
                  <a:srgbClr val="0B1617"/>
                </a:solidFill>
                <a:latin typeface="Stack Sans Headline" pitchFamily="34" charset="0"/>
                <a:ea typeface="Stack Sans Headline" pitchFamily="34" charset="-122"/>
                <a:cs typeface="Stack Sans Headline" pitchFamily="34" charset="-120"/>
              </a:rPr>
              <a:t>Services and operating model</a:t>
            </a:r>
            <a:endParaRPr lang="en-US" sz="2800" dirty="0"/>
          </a:p>
        </p:txBody>
      </p:sp>
      <p:sp>
        <p:nvSpPr>
          <p:cNvPr id="10" name="Shape 7"/>
          <p:cNvSpPr/>
          <p:nvPr/>
        </p:nvSpPr>
        <p:spPr>
          <a:xfrm>
            <a:off x="548640" y="3783521"/>
            <a:ext cx="11094415" cy="0"/>
          </a:xfrm>
          <a:prstGeom prst="line">
            <a:avLst/>
          </a:prstGeom>
          <a:noFill/>
          <a:ln w="12700">
            <a:solidFill>
              <a:srgbClr val="0B1617"/>
            </a:solidFill>
            <a:prstDash val="solid"/>
          </a:ln>
        </p:spPr>
      </p:sp>
      <p:sp>
        <p:nvSpPr>
          <p:cNvPr id="11" name="ocean:metric"/>
          <p:cNvSpPr/>
          <p:nvPr/>
        </p:nvSpPr>
        <p:spPr>
          <a:xfrm>
            <a:off x="512064" y="3829241"/>
            <a:ext cx="2743200" cy="729425"/>
          </a:xfrm>
          <a:prstGeom prst="rect">
            <a:avLst/>
          </a:prstGeom>
          <a:noFill/>
          <a:ln/>
        </p:spPr>
        <p:txBody>
          <a:bodyPr wrap="square" lIns="0" tIns="0" rIns="0" bIns="0" rtlCol="0" anchor="t"/>
          <a:lstStyle/>
          <a:p>
            <a:pPr algn="l" indent="0" marL="0">
              <a:lnSpc>
                <a:spcPts val="5442"/>
              </a:lnSpc>
              <a:buNone/>
            </a:pPr>
            <a:r>
              <a:rPr lang="en-US" sz="5266" spc="-316" kern="0" dirty="0">
                <a:solidFill>
                  <a:srgbClr val="0B1617"/>
                </a:solidFill>
                <a:latin typeface="Stack Sans Headline Light" pitchFamily="34" charset="0"/>
                <a:ea typeface="Stack Sans Headline Light" pitchFamily="34" charset="-122"/>
                <a:cs typeface="Stack Sans Headline Light" pitchFamily="34" charset="-120"/>
              </a:rPr>
              <a:t>02</a:t>
            </a:r>
            <a:endParaRPr lang="en-US" sz="5266" dirty="0"/>
          </a:p>
        </p:txBody>
      </p:sp>
      <p:sp>
        <p:nvSpPr>
          <p:cNvPr id="12" name="ocean:label"/>
          <p:cNvSpPr/>
          <p:nvPr/>
        </p:nvSpPr>
        <p:spPr>
          <a:xfrm>
            <a:off x="4443984" y="3966401"/>
            <a:ext cx="7132320" cy="20066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TEAM</a:t>
            </a:r>
            <a:endParaRPr lang="en-US" sz="1100" dirty="0"/>
          </a:p>
        </p:txBody>
      </p:sp>
      <p:sp>
        <p:nvSpPr>
          <p:cNvPr id="13" name="ocean:section"/>
          <p:cNvSpPr/>
          <p:nvPr/>
        </p:nvSpPr>
        <p:spPr>
          <a:xfrm>
            <a:off x="4425696" y="4167569"/>
            <a:ext cx="7223760" cy="433832"/>
          </a:xfrm>
          <a:prstGeom prst="rect">
            <a:avLst/>
          </a:prstGeom>
          <a:noFill/>
          <a:ln/>
        </p:spPr>
        <p:txBody>
          <a:bodyPr wrap="square" lIns="0" tIns="0" rIns="0" bIns="0" rtlCol="0" anchor="t"/>
          <a:lstStyle/>
          <a:p>
            <a:pPr algn="l" indent="0" marL="0">
              <a:lnSpc>
                <a:spcPts val="3200"/>
              </a:lnSpc>
              <a:buNone/>
            </a:pPr>
            <a:r>
              <a:rPr lang="en-US" sz="2800" spc="-28" kern="0" dirty="0">
                <a:solidFill>
                  <a:srgbClr val="0B1617"/>
                </a:solidFill>
                <a:latin typeface="Stack Sans Headline" pitchFamily="34" charset="0"/>
                <a:ea typeface="Stack Sans Headline" pitchFamily="34" charset="-122"/>
                <a:cs typeface="Stack Sans Headline" pitchFamily="34" charset="-120"/>
              </a:rPr>
              <a:t>Leadership and responsibilities</a:t>
            </a:r>
            <a:endParaRPr lang="en-US" sz="2800" dirty="0"/>
          </a:p>
        </p:txBody>
      </p:sp>
      <p:sp>
        <p:nvSpPr>
          <p:cNvPr id="14" name="Shape 11"/>
          <p:cNvSpPr/>
          <p:nvPr/>
        </p:nvSpPr>
        <p:spPr>
          <a:xfrm>
            <a:off x="548640" y="4586097"/>
            <a:ext cx="11094415" cy="0"/>
          </a:xfrm>
          <a:prstGeom prst="line">
            <a:avLst/>
          </a:prstGeom>
          <a:noFill/>
          <a:ln w="12700">
            <a:solidFill>
              <a:srgbClr val="0B1617"/>
            </a:solidFill>
            <a:prstDash val="solid"/>
          </a:ln>
        </p:spPr>
      </p:sp>
      <p:sp>
        <p:nvSpPr>
          <p:cNvPr id="15" name="ocean:metric"/>
          <p:cNvSpPr/>
          <p:nvPr/>
        </p:nvSpPr>
        <p:spPr>
          <a:xfrm>
            <a:off x="512064" y="4631817"/>
            <a:ext cx="2743200" cy="729425"/>
          </a:xfrm>
          <a:prstGeom prst="rect">
            <a:avLst/>
          </a:prstGeom>
          <a:noFill/>
          <a:ln/>
        </p:spPr>
        <p:txBody>
          <a:bodyPr wrap="square" lIns="0" tIns="0" rIns="0" bIns="0" rtlCol="0" anchor="t"/>
          <a:lstStyle/>
          <a:p>
            <a:pPr algn="l" indent="0" marL="0">
              <a:lnSpc>
                <a:spcPts val="5442"/>
              </a:lnSpc>
              <a:buNone/>
            </a:pPr>
            <a:r>
              <a:rPr lang="en-US" sz="5266" spc="-316" kern="0" dirty="0">
                <a:solidFill>
                  <a:srgbClr val="0B1617"/>
                </a:solidFill>
                <a:latin typeface="Stack Sans Headline Light" pitchFamily="34" charset="0"/>
                <a:ea typeface="Stack Sans Headline Light" pitchFamily="34" charset="-122"/>
                <a:cs typeface="Stack Sans Headline Light" pitchFamily="34" charset="-120"/>
              </a:rPr>
              <a:t>03</a:t>
            </a:r>
            <a:endParaRPr lang="en-US" sz="5266" dirty="0"/>
          </a:p>
        </p:txBody>
      </p:sp>
      <p:sp>
        <p:nvSpPr>
          <p:cNvPr id="16" name="ocean:label"/>
          <p:cNvSpPr/>
          <p:nvPr/>
        </p:nvSpPr>
        <p:spPr>
          <a:xfrm>
            <a:off x="4443984" y="4768977"/>
            <a:ext cx="7132320" cy="20066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PARTNERS</a:t>
            </a:r>
            <a:endParaRPr lang="en-US" sz="1100" dirty="0"/>
          </a:p>
        </p:txBody>
      </p:sp>
      <p:sp>
        <p:nvSpPr>
          <p:cNvPr id="17" name="ocean:section"/>
          <p:cNvSpPr/>
          <p:nvPr/>
        </p:nvSpPr>
        <p:spPr>
          <a:xfrm>
            <a:off x="4425696" y="4970145"/>
            <a:ext cx="7223760" cy="433832"/>
          </a:xfrm>
          <a:prstGeom prst="rect">
            <a:avLst/>
          </a:prstGeom>
          <a:noFill/>
          <a:ln/>
        </p:spPr>
        <p:txBody>
          <a:bodyPr wrap="square" lIns="0" tIns="0" rIns="0" bIns="0" rtlCol="0" anchor="t"/>
          <a:lstStyle/>
          <a:p>
            <a:pPr algn="l" indent="0" marL="0">
              <a:lnSpc>
                <a:spcPts val="3200"/>
              </a:lnSpc>
              <a:buNone/>
            </a:pPr>
            <a:r>
              <a:rPr lang="en-US" sz="2800" spc="-28" kern="0" dirty="0">
                <a:solidFill>
                  <a:srgbClr val="0B1617"/>
                </a:solidFill>
                <a:latin typeface="Stack Sans Headline" pitchFamily="34" charset="0"/>
                <a:ea typeface="Stack Sans Headline" pitchFamily="34" charset="-122"/>
                <a:cs typeface="Stack Sans Headline" pitchFamily="34" charset="-120"/>
              </a:rPr>
              <a:t>Specialist execution network</a:t>
            </a:r>
            <a:endParaRPr lang="en-US" sz="2800" dirty="0"/>
          </a:p>
        </p:txBody>
      </p:sp>
      <p:sp>
        <p:nvSpPr>
          <p:cNvPr id="18" name="Shape 15"/>
          <p:cNvSpPr/>
          <p:nvPr/>
        </p:nvSpPr>
        <p:spPr>
          <a:xfrm>
            <a:off x="548640" y="5388674"/>
            <a:ext cx="11094415" cy="0"/>
          </a:xfrm>
          <a:prstGeom prst="line">
            <a:avLst/>
          </a:prstGeom>
          <a:noFill/>
          <a:ln w="12700">
            <a:solidFill>
              <a:srgbClr val="0B1617"/>
            </a:solidFill>
            <a:prstDash val="solid"/>
          </a:ln>
        </p:spPr>
      </p:sp>
      <p:sp>
        <p:nvSpPr>
          <p:cNvPr id="19" name="ocean:metric"/>
          <p:cNvSpPr/>
          <p:nvPr/>
        </p:nvSpPr>
        <p:spPr>
          <a:xfrm>
            <a:off x="512064" y="5434393"/>
            <a:ext cx="2743200" cy="729425"/>
          </a:xfrm>
          <a:prstGeom prst="rect">
            <a:avLst/>
          </a:prstGeom>
          <a:noFill/>
          <a:ln/>
        </p:spPr>
        <p:txBody>
          <a:bodyPr wrap="square" lIns="0" tIns="0" rIns="0" bIns="0" rtlCol="0" anchor="t"/>
          <a:lstStyle/>
          <a:p>
            <a:pPr algn="l" indent="0" marL="0">
              <a:lnSpc>
                <a:spcPts val="5442"/>
              </a:lnSpc>
              <a:buNone/>
            </a:pPr>
            <a:r>
              <a:rPr lang="en-US" sz="5266" spc="-316" kern="0" dirty="0">
                <a:solidFill>
                  <a:srgbClr val="0B1617"/>
                </a:solidFill>
                <a:latin typeface="Stack Sans Headline Light" pitchFamily="34" charset="0"/>
                <a:ea typeface="Stack Sans Headline Light" pitchFamily="34" charset="-122"/>
                <a:cs typeface="Stack Sans Headline Light" pitchFamily="34" charset="-120"/>
              </a:rPr>
              <a:t>04</a:t>
            </a:r>
            <a:endParaRPr lang="en-US" sz="5266" dirty="0"/>
          </a:p>
        </p:txBody>
      </p:sp>
      <p:sp>
        <p:nvSpPr>
          <p:cNvPr id="20" name="ocean:label"/>
          <p:cNvSpPr/>
          <p:nvPr/>
        </p:nvSpPr>
        <p:spPr>
          <a:xfrm>
            <a:off x="4443984" y="5571554"/>
            <a:ext cx="7132320" cy="20066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CONTACT</a:t>
            </a:r>
            <a:endParaRPr lang="en-US" sz="1100" dirty="0"/>
          </a:p>
        </p:txBody>
      </p:sp>
      <p:sp>
        <p:nvSpPr>
          <p:cNvPr id="21" name="ocean:section"/>
          <p:cNvSpPr/>
          <p:nvPr/>
        </p:nvSpPr>
        <p:spPr>
          <a:xfrm>
            <a:off x="4425696" y="5772721"/>
            <a:ext cx="7223760" cy="433832"/>
          </a:xfrm>
          <a:prstGeom prst="rect">
            <a:avLst/>
          </a:prstGeom>
          <a:noFill/>
          <a:ln/>
        </p:spPr>
        <p:txBody>
          <a:bodyPr wrap="square" lIns="0" tIns="0" rIns="0" bIns="0" rtlCol="0" anchor="t"/>
          <a:lstStyle/>
          <a:p>
            <a:pPr algn="l" indent="0" marL="0">
              <a:lnSpc>
                <a:spcPts val="3200"/>
              </a:lnSpc>
              <a:buNone/>
            </a:pPr>
            <a:r>
              <a:rPr lang="en-US" sz="2800" spc="-28" kern="0" dirty="0">
                <a:solidFill>
                  <a:srgbClr val="0B1617"/>
                </a:solidFill>
                <a:latin typeface="Stack Sans Headline" pitchFamily="34" charset="0"/>
                <a:ea typeface="Stack Sans Headline" pitchFamily="34" charset="-122"/>
                <a:cs typeface="Stack Sans Headline" pitchFamily="34" charset="-120"/>
              </a:rPr>
              <a:t>Company contact details</a:t>
            </a:r>
            <a:endParaRPr lang="en-US" sz="2800" dirty="0"/>
          </a:p>
        </p:txBody>
      </p:sp>
      <p:sp>
        <p:nvSpPr>
          <p:cNvPr id="22" name="Shape 19"/>
          <p:cNvSpPr/>
          <p:nvPr/>
        </p:nvSpPr>
        <p:spPr>
          <a:xfrm>
            <a:off x="548640" y="6191250"/>
            <a:ext cx="11094415" cy="0"/>
          </a:xfrm>
          <a:prstGeom prst="line">
            <a:avLst/>
          </a:prstGeom>
          <a:noFill/>
          <a:ln w="12700">
            <a:solidFill>
              <a:srgbClr val="0B1617"/>
            </a:solidFill>
            <a:prstDash val="solid"/>
          </a:ln>
        </p:spPr>
      </p:sp>
      <p:sp>
        <p:nvSpPr>
          <p:cNvPr id="23" name="Shape 20"/>
          <p:cNvSpPr/>
          <p:nvPr/>
        </p:nvSpPr>
        <p:spPr>
          <a:xfrm>
            <a:off x="548640" y="6242050"/>
            <a:ext cx="11094415" cy="38100"/>
          </a:xfrm>
          <a:prstGeom prst="rect">
            <a:avLst/>
          </a:prstGeom>
          <a:solidFill>
            <a:srgbClr val="0B1617"/>
          </a:solidFill>
          <a:ln w="12700">
            <a:solidFill>
              <a:srgbClr val="0B1617"/>
            </a:solidFill>
            <a:prstDash val="solid"/>
          </a:ln>
        </p:spPr>
      </p:sp>
      <p:sp>
        <p:nvSpPr>
          <p:cNvPr id="24"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0B1617"/>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BF8"/>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102426"/>
            </a:solidFill>
            <a:prstDash val="solid"/>
          </a:ln>
        </p:spPr>
      </p:sp>
      <p:pic>
        <p:nvPicPr>
          <p:cNvPr id="4" name="ocean:logo-horizontal" descr="/home/runner/work/ocean-brand-system/ocean-brand-system/assets/logos/png/logo_horizontal_peacock.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102426"/>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02426"/>
                </a:solidFill>
                <a:latin typeface="Stack Sans Headline" pitchFamily="34" charset="0"/>
                <a:ea typeface="Stack Sans Headline" pitchFamily="34" charset="-122"/>
                <a:cs typeface="Stack Sans Headline" pitchFamily="34" charset="-120"/>
              </a:rPr>
              <a:t>03</a:t>
            </a:r>
            <a:endParaRPr lang="en-US" sz="900" dirty="0"/>
          </a:p>
        </p:txBody>
      </p:sp>
      <p:sp>
        <p:nvSpPr>
          <p:cNvPr id="8" name="Shape 4"/>
          <p:cNvSpPr/>
          <p:nvPr/>
        </p:nvSpPr>
        <p:spPr>
          <a:xfrm>
            <a:off x="3533140" y="329184"/>
            <a:ext cx="0" cy="609600"/>
          </a:xfrm>
          <a:prstGeom prst="line">
            <a:avLst/>
          </a:prstGeom>
          <a:noFill/>
          <a:ln w="12700">
            <a:solidFill>
              <a:srgbClr val="102426"/>
            </a:solidFill>
            <a:prstDash val="solid"/>
          </a:ln>
        </p:spPr>
      </p:sp>
      <p:sp>
        <p:nvSpPr>
          <p:cNvPr id="9" name="Shape 5"/>
          <p:cNvSpPr/>
          <p:nvPr/>
        </p:nvSpPr>
        <p:spPr>
          <a:xfrm>
            <a:off x="3687064" y="515112"/>
            <a:ext cx="807758" cy="237744"/>
          </a:xfrm>
          <a:prstGeom prst="rect">
            <a:avLst/>
          </a:prstGeom>
          <a:solidFill>
            <a:srgbClr val="102426"/>
          </a:solidFill>
          <a:ln w="12700">
            <a:solidFill>
              <a:srgbClr val="102426"/>
            </a:solidFill>
            <a:prstDash val="solid"/>
          </a:ln>
        </p:spPr>
      </p:sp>
      <p:sp>
        <p:nvSpPr>
          <p:cNvPr id="10"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F3FBF8"/>
                </a:solidFill>
                <a:latin typeface="Stack Sans Headline" pitchFamily="34" charset="0"/>
                <a:ea typeface="Stack Sans Headline" pitchFamily="34" charset="-122"/>
                <a:cs typeface="Stack Sans Headline" pitchFamily="34" charset="-120"/>
              </a:rPr>
              <a:t>PLATFORM</a:t>
            </a:r>
            <a:endParaRPr lang="en-US" sz="900" dirty="0"/>
          </a:p>
        </p:txBody>
      </p:sp>
      <p:sp>
        <p:nvSpPr>
          <p:cNvPr id="11"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TEAM</a:t>
            </a:r>
            <a:endParaRPr lang="en-US" sz="900" dirty="0"/>
          </a:p>
        </p:txBody>
      </p:sp>
      <p:sp>
        <p:nvSpPr>
          <p:cNvPr id="12"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PARTNERS</a:t>
            </a:r>
            <a:endParaRPr lang="en-US" sz="900" dirty="0"/>
          </a:p>
        </p:txBody>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102426"/>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02426"/>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102426"/>
            </a:solidFill>
            <a:prstDash val="solid"/>
          </a:ln>
        </p:spPr>
      </p:sp>
      <p:sp>
        <p:nvSpPr>
          <p:cNvPr id="18" name="Shape 14"/>
          <p:cNvSpPr/>
          <p:nvPr/>
        </p:nvSpPr>
        <p:spPr>
          <a:xfrm>
            <a:off x="9407855" y="329184"/>
            <a:ext cx="558800" cy="609600"/>
          </a:xfrm>
          <a:prstGeom prst="rect">
            <a:avLst/>
          </a:prstGeom>
          <a:solidFill>
            <a:srgbClr val="102426"/>
          </a:solidFill>
          <a:ln w="12700">
            <a:solidFill>
              <a:srgbClr val="102426"/>
            </a:solidFill>
            <a:prstDash val="solid"/>
          </a:ln>
        </p:spPr>
      </p:sp>
      <p:sp>
        <p:nvSpPr>
          <p:cNvPr id="19"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F3FBF8"/>
                </a:solidFill>
                <a:latin typeface="Stack Sans Headline" pitchFamily="34" charset="0"/>
                <a:ea typeface="Stack Sans Headline" pitchFamily="34" charset="-122"/>
                <a:cs typeface="Stack Sans Headline" pitchFamily="34" charset="-120"/>
              </a:rPr>
              <a:t>01</a:t>
            </a:r>
            <a:endParaRPr lang="en-US" sz="1100" dirty="0"/>
          </a:p>
        </p:txBody>
      </p:sp>
      <p:sp>
        <p:nvSpPr>
          <p:cNvPr id="20" name="Shape 16"/>
          <p:cNvSpPr/>
          <p:nvPr/>
        </p:nvSpPr>
        <p:spPr>
          <a:xfrm>
            <a:off x="9966655" y="329184"/>
            <a:ext cx="0" cy="609600"/>
          </a:xfrm>
          <a:prstGeom prst="line">
            <a:avLst/>
          </a:prstGeom>
          <a:noFill/>
          <a:ln w="12700">
            <a:solidFill>
              <a:srgbClr val="102426"/>
            </a:solidFill>
            <a:prstDash val="solid"/>
          </a:ln>
        </p:spPr>
      </p:sp>
      <p:sp>
        <p:nvSpPr>
          <p:cNvPr id="21"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02</a:t>
            </a:r>
            <a:endParaRPr lang="en-US" sz="1100" dirty="0"/>
          </a:p>
        </p:txBody>
      </p:sp>
      <p:sp>
        <p:nvSpPr>
          <p:cNvPr id="22" name="Shape 18"/>
          <p:cNvSpPr/>
          <p:nvPr/>
        </p:nvSpPr>
        <p:spPr>
          <a:xfrm>
            <a:off x="10525455" y="329184"/>
            <a:ext cx="0" cy="609600"/>
          </a:xfrm>
          <a:prstGeom prst="line">
            <a:avLst/>
          </a:prstGeom>
          <a:noFill/>
          <a:ln w="12700">
            <a:solidFill>
              <a:srgbClr val="102426"/>
            </a:solidFill>
            <a:prstDash val="solid"/>
          </a:ln>
        </p:spPr>
      </p:sp>
      <p:sp>
        <p:nvSpPr>
          <p:cNvPr id="23"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03</a:t>
            </a:r>
            <a:endParaRPr lang="en-US" sz="1100" dirty="0"/>
          </a:p>
        </p:txBody>
      </p:sp>
      <p:sp>
        <p:nvSpPr>
          <p:cNvPr id="24" name="Shape 20"/>
          <p:cNvSpPr/>
          <p:nvPr/>
        </p:nvSpPr>
        <p:spPr>
          <a:xfrm>
            <a:off x="11084255" y="329184"/>
            <a:ext cx="0" cy="609600"/>
          </a:xfrm>
          <a:prstGeom prst="line">
            <a:avLst/>
          </a:prstGeom>
          <a:noFill/>
          <a:ln w="12700">
            <a:solidFill>
              <a:srgbClr val="102426"/>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102426"/>
                </a:solidFill>
                <a:latin typeface="Stack Sans Headline" pitchFamily="34" charset="0"/>
                <a:ea typeface="Stack Sans Headline" pitchFamily="34" charset="-122"/>
                <a:cs typeface="Stack Sans Headline" pitchFamily="34" charset="-120"/>
              </a:rPr>
              <a:t>01 PLATFORM</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102426"/>
                </a:solidFill>
                <a:latin typeface="Stack Sans Headline Medium" pitchFamily="34" charset="0"/>
                <a:ea typeface="Stack Sans Headline Medium" pitchFamily="34" charset="-122"/>
                <a:cs typeface="Stack Sans Headline Medium" pitchFamily="34" charset="-120"/>
              </a:rPr>
              <a:t>Connected infrastructure,</a:t>
            </a:r>
            <a:endParaRPr lang="en-US" sz="3500" dirty="0"/>
          </a:p>
          <a:p>
            <a:pPr algn="l" indent="0" marL="0">
              <a:lnSpc>
                <a:spcPts val="3900"/>
              </a:lnSpc>
              <a:buNone/>
            </a:pPr>
            <a:r>
              <a:rPr lang="en-US" sz="3500" spc="-35" kern="0" dirty="0">
                <a:solidFill>
                  <a:srgbClr val="102426"/>
                </a:solidFill>
                <a:latin typeface="Stack Sans Headline Medium" pitchFamily="34" charset="0"/>
                <a:ea typeface="Stack Sans Headline Medium" pitchFamily="34" charset="-122"/>
                <a:cs typeface="Stack Sans Headline Medium" pitchFamily="34" charset="-120"/>
              </a:rPr>
              <a:t>one commercial layer</a:t>
            </a:r>
            <a:endParaRPr lang="en-US" sz="3500" dirty="0"/>
          </a:p>
        </p:txBody>
      </p:sp>
      <p:sp>
        <p:nvSpPr>
          <p:cNvPr id="28" name="ocean:lede"/>
          <p:cNvSpPr/>
          <p:nvPr/>
        </p:nvSpPr>
        <p:spPr>
          <a:xfrm>
            <a:off x="7040880" y="1572768"/>
            <a:ext cx="4602175" cy="1042416"/>
          </a:xfrm>
          <a:prstGeom prst="rect">
            <a:avLst/>
          </a:prstGeom>
          <a:noFill/>
          <a:ln/>
        </p:spPr>
        <p:txBody>
          <a:bodyPr wrap="square" lIns="0" tIns="0" rIns="0" bIns="0" rtlCol="0" anchor="b"/>
          <a:lstStyle/>
          <a:p>
            <a:pPr algn="l" indent="0" marL="0">
              <a:lnSpc>
                <a:spcPts val="1700"/>
              </a:lnSpc>
              <a:buNone/>
            </a:pPr>
            <a:r>
              <a:rPr lang="en-US" sz="1050" b="1" spc="263" kern="0" dirty="0">
                <a:solidFill>
                  <a:srgbClr val="102426"/>
                </a:solidFill>
                <a:latin typeface="Stack Sans Headline" pitchFamily="34" charset="0"/>
                <a:ea typeface="Stack Sans Headline" pitchFamily="34" charset="-122"/>
                <a:cs typeface="Stack Sans Headline" pitchFamily="34" charset="-120"/>
              </a:rPr>
              <a:t>FOUR OPERATING PILLARS SHARE COMMERCIAL</a:t>
            </a:r>
            <a:endParaRPr lang="en-US" sz="1050" dirty="0"/>
          </a:p>
          <a:p>
            <a:pPr algn="l" indent="0" marL="0">
              <a:lnSpc>
                <a:spcPts val="1700"/>
              </a:lnSpc>
              <a:buNone/>
            </a:pPr>
            <a:r>
              <a:rPr lang="en-US" sz="1050" b="1" spc="263" kern="0" dirty="0">
                <a:solidFill>
                  <a:srgbClr val="102426"/>
                </a:solidFill>
                <a:latin typeface="Stack Sans Headline" pitchFamily="34" charset="0"/>
                <a:ea typeface="Stack Sans Headline" pitchFamily="34" charset="-122"/>
                <a:cs typeface="Stack Sans Headline" pitchFamily="34" charset="-120"/>
              </a:rPr>
              <a:t>STRATEGY AND EXECUTION STANDARDS.</a:t>
            </a:r>
            <a:endParaRPr lang="en-US" sz="1050" dirty="0"/>
          </a:p>
        </p:txBody>
      </p:sp>
      <p:sp>
        <p:nvSpPr>
          <p:cNvPr id="29" name="Shape 25"/>
          <p:cNvSpPr/>
          <p:nvPr/>
        </p:nvSpPr>
        <p:spPr>
          <a:xfrm>
            <a:off x="548640" y="2734056"/>
            <a:ext cx="11094415" cy="0"/>
          </a:xfrm>
          <a:prstGeom prst="line">
            <a:avLst/>
          </a:prstGeom>
          <a:noFill/>
          <a:ln w="12700">
            <a:solidFill>
              <a:srgbClr val="102426"/>
            </a:solidFill>
            <a:prstDash val="solid"/>
          </a:ln>
        </p:spPr>
      </p:sp>
      <p:pic>
        <p:nvPicPr>
          <p:cNvPr id="30" name="ocean:photo" descr="/home/runner/work/ocean-brand-system/ocean-brand-system/output/.cache/fit/solar-carport-campus-643b6b4ed5e83ee1.jpg">    </p:cNvPr>
          <p:cNvPicPr>
            <a:picLocks noChangeAspect="1"/>
          </p:cNvPicPr>
          <p:nvPr/>
        </p:nvPicPr>
        <p:blipFill>
          <a:blip r:embed="rId2"/>
          <a:stretch>
            <a:fillRect/>
          </a:stretch>
        </p:blipFill>
        <p:spPr>
          <a:xfrm>
            <a:off x="548640" y="3044952"/>
            <a:ext cx="6446520" cy="2834640"/>
          </a:xfrm>
          <a:prstGeom prst="rect">
            <a:avLst/>
          </a:prstGeom>
        </p:spPr>
      </p:pic>
      <p:sp>
        <p:nvSpPr>
          <p:cNvPr id="31" name="Shape 26"/>
          <p:cNvSpPr/>
          <p:nvPr/>
        </p:nvSpPr>
        <p:spPr>
          <a:xfrm flipV="1">
            <a:off x="544068" y="3040380"/>
            <a:ext cx="279400" cy="279400"/>
          </a:xfrm>
          <a:prstGeom prst="rtTriangle">
            <a:avLst/>
          </a:prstGeom>
          <a:solidFill>
            <a:srgbClr val="F3FBF8"/>
          </a:solidFill>
          <a:ln w="12700">
            <a:solidFill>
              <a:srgbClr val="F3FBF8"/>
            </a:solidFill>
            <a:prstDash val="solid"/>
          </a:ln>
        </p:spPr>
      </p:sp>
      <p:sp>
        <p:nvSpPr>
          <p:cNvPr id="32" name="ocean:frame"/>
          <p:cNvSpPr/>
          <p:nvPr/>
        </p:nvSpPr>
        <p:spPr>
          <a:xfrm>
            <a:off x="7223760" y="304495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02426"/>
            </a:solidFill>
            <a:prstDash val="solid"/>
          </a:ln>
        </p:spPr>
      </p:sp>
      <p:sp>
        <p:nvSpPr>
          <p:cNvPr id="33" name="Shape 28"/>
          <p:cNvSpPr/>
          <p:nvPr/>
        </p:nvSpPr>
        <p:spPr>
          <a:xfrm>
            <a:off x="11387023" y="3172968"/>
            <a:ext cx="82550" cy="82550"/>
          </a:xfrm>
          <a:prstGeom prst="diamond">
            <a:avLst/>
          </a:prstGeom>
          <a:solidFill>
            <a:srgbClr val="102426"/>
          </a:solidFill>
          <a:ln w="12700">
            <a:solidFill>
              <a:srgbClr val="102426"/>
            </a:solidFill>
            <a:prstDash val="solid"/>
          </a:ln>
        </p:spPr>
      </p:sp>
      <p:sp>
        <p:nvSpPr>
          <p:cNvPr id="34" name="ocean:label"/>
          <p:cNvSpPr/>
          <p:nvPr/>
        </p:nvSpPr>
        <p:spPr>
          <a:xfrm>
            <a:off x="7406640" y="313639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02426"/>
                </a:solidFill>
                <a:latin typeface="Stack Sans Headline Light" pitchFamily="34" charset="0"/>
                <a:ea typeface="Stack Sans Headline Light" pitchFamily="34" charset="-122"/>
                <a:cs typeface="Stack Sans Headline Light" pitchFamily="34" charset="-120"/>
              </a:rPr>
              <a:t>ENERGY</a:t>
            </a:r>
            <a:endParaRPr lang="en-US" sz="950" dirty="0"/>
          </a:p>
        </p:txBody>
      </p:sp>
      <p:sp>
        <p:nvSpPr>
          <p:cNvPr id="35" name="ocean:body"/>
          <p:cNvSpPr/>
          <p:nvPr/>
        </p:nvSpPr>
        <p:spPr>
          <a:xfrm>
            <a:off x="7406640" y="335584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02426"/>
                </a:solidFill>
                <a:latin typeface="Stack Sans Headline" pitchFamily="34" charset="0"/>
                <a:ea typeface="Stack Sans Headline" pitchFamily="34" charset="-122"/>
                <a:cs typeface="Stack Sans Headline" pitchFamily="34" charset="-120"/>
              </a:rPr>
              <a:t>Solar, storage, electrical, controls</a:t>
            </a:r>
            <a:endParaRPr lang="en-US" sz="1400" dirty="0"/>
          </a:p>
        </p:txBody>
      </p:sp>
      <p:sp>
        <p:nvSpPr>
          <p:cNvPr id="36" name="ocean:frame"/>
          <p:cNvSpPr/>
          <p:nvPr/>
        </p:nvSpPr>
        <p:spPr>
          <a:xfrm>
            <a:off x="7223760" y="377647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02426"/>
            </a:solidFill>
            <a:prstDash val="solid"/>
          </a:ln>
        </p:spPr>
      </p:sp>
      <p:sp>
        <p:nvSpPr>
          <p:cNvPr id="37" name="Shape 32"/>
          <p:cNvSpPr/>
          <p:nvPr/>
        </p:nvSpPr>
        <p:spPr>
          <a:xfrm>
            <a:off x="11387023" y="3904488"/>
            <a:ext cx="82550" cy="82550"/>
          </a:xfrm>
          <a:prstGeom prst="diamond">
            <a:avLst/>
          </a:prstGeom>
          <a:solidFill>
            <a:srgbClr val="102426"/>
          </a:solidFill>
          <a:ln w="12700">
            <a:solidFill>
              <a:srgbClr val="102426"/>
            </a:solidFill>
            <a:prstDash val="solid"/>
          </a:ln>
        </p:spPr>
      </p:sp>
      <p:sp>
        <p:nvSpPr>
          <p:cNvPr id="38" name="Shape 33"/>
          <p:cNvSpPr/>
          <p:nvPr/>
        </p:nvSpPr>
        <p:spPr>
          <a:xfrm>
            <a:off x="11247323" y="3904488"/>
            <a:ext cx="82550" cy="82550"/>
          </a:xfrm>
          <a:prstGeom prst="diamond">
            <a:avLst/>
          </a:prstGeom>
          <a:solidFill>
            <a:srgbClr val="102426"/>
          </a:solidFill>
          <a:ln w="12700">
            <a:solidFill>
              <a:srgbClr val="102426"/>
            </a:solidFill>
            <a:prstDash val="solid"/>
          </a:ln>
        </p:spPr>
      </p:sp>
      <p:sp>
        <p:nvSpPr>
          <p:cNvPr id="39" name="ocean:label"/>
          <p:cNvSpPr/>
          <p:nvPr/>
        </p:nvSpPr>
        <p:spPr>
          <a:xfrm>
            <a:off x="7406640" y="386791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02426"/>
                </a:solidFill>
                <a:latin typeface="Stack Sans Headline Light" pitchFamily="34" charset="0"/>
                <a:ea typeface="Stack Sans Headline Light" pitchFamily="34" charset="-122"/>
                <a:cs typeface="Stack Sans Headline Light" pitchFamily="34" charset="-120"/>
              </a:rPr>
              <a:t>MOBILITY</a:t>
            </a:r>
            <a:endParaRPr lang="en-US" sz="950" dirty="0"/>
          </a:p>
        </p:txBody>
      </p:sp>
      <p:sp>
        <p:nvSpPr>
          <p:cNvPr id="40" name="ocean:body"/>
          <p:cNvSpPr/>
          <p:nvPr/>
        </p:nvSpPr>
        <p:spPr>
          <a:xfrm>
            <a:off x="7406640" y="408736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02426"/>
                </a:solidFill>
                <a:latin typeface="Stack Sans Headline" pitchFamily="34" charset="0"/>
                <a:ea typeface="Stack Sans Headline" pitchFamily="34" charset="-122"/>
                <a:cs typeface="Stack Sans Headline" pitchFamily="34" charset="-120"/>
              </a:rPr>
              <a:t>EV charging, fleets, smart sites</a:t>
            </a:r>
            <a:endParaRPr lang="en-US" sz="1400" dirty="0"/>
          </a:p>
        </p:txBody>
      </p:sp>
      <p:sp>
        <p:nvSpPr>
          <p:cNvPr id="41" name="ocean:frame"/>
          <p:cNvSpPr/>
          <p:nvPr/>
        </p:nvSpPr>
        <p:spPr>
          <a:xfrm>
            <a:off x="7223760" y="450799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02426"/>
            </a:solidFill>
            <a:prstDash val="solid"/>
          </a:ln>
        </p:spPr>
      </p:sp>
      <p:sp>
        <p:nvSpPr>
          <p:cNvPr id="42" name="Shape 37"/>
          <p:cNvSpPr/>
          <p:nvPr/>
        </p:nvSpPr>
        <p:spPr>
          <a:xfrm>
            <a:off x="11387023" y="4636008"/>
            <a:ext cx="82550" cy="82550"/>
          </a:xfrm>
          <a:prstGeom prst="diamond">
            <a:avLst/>
          </a:prstGeom>
          <a:solidFill>
            <a:srgbClr val="102426"/>
          </a:solidFill>
          <a:ln w="12700">
            <a:solidFill>
              <a:srgbClr val="102426"/>
            </a:solidFill>
            <a:prstDash val="solid"/>
          </a:ln>
        </p:spPr>
      </p:sp>
      <p:sp>
        <p:nvSpPr>
          <p:cNvPr id="43" name="Shape 38"/>
          <p:cNvSpPr/>
          <p:nvPr/>
        </p:nvSpPr>
        <p:spPr>
          <a:xfrm>
            <a:off x="11247323" y="4636008"/>
            <a:ext cx="82550" cy="82550"/>
          </a:xfrm>
          <a:prstGeom prst="diamond">
            <a:avLst/>
          </a:prstGeom>
          <a:solidFill>
            <a:srgbClr val="102426"/>
          </a:solidFill>
          <a:ln w="12700">
            <a:solidFill>
              <a:srgbClr val="102426"/>
            </a:solidFill>
            <a:prstDash val="solid"/>
          </a:ln>
        </p:spPr>
      </p:sp>
      <p:sp>
        <p:nvSpPr>
          <p:cNvPr id="44" name="Shape 39"/>
          <p:cNvSpPr/>
          <p:nvPr/>
        </p:nvSpPr>
        <p:spPr>
          <a:xfrm>
            <a:off x="11107623" y="4636008"/>
            <a:ext cx="82550" cy="82550"/>
          </a:xfrm>
          <a:prstGeom prst="diamond">
            <a:avLst/>
          </a:prstGeom>
          <a:solidFill>
            <a:srgbClr val="102426"/>
          </a:solidFill>
          <a:ln w="12700">
            <a:solidFill>
              <a:srgbClr val="102426"/>
            </a:solidFill>
            <a:prstDash val="solid"/>
          </a:ln>
        </p:spPr>
      </p:sp>
      <p:sp>
        <p:nvSpPr>
          <p:cNvPr id="45" name="ocean:label"/>
          <p:cNvSpPr/>
          <p:nvPr/>
        </p:nvSpPr>
        <p:spPr>
          <a:xfrm>
            <a:off x="7406640" y="459943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02426"/>
                </a:solidFill>
                <a:latin typeface="Stack Sans Headline Light" pitchFamily="34" charset="0"/>
                <a:ea typeface="Stack Sans Headline Light" pitchFamily="34" charset="-122"/>
                <a:cs typeface="Stack Sans Headline Light" pitchFamily="34" charset="-120"/>
              </a:rPr>
              <a:t>WATER</a:t>
            </a:r>
            <a:endParaRPr lang="en-US" sz="950" dirty="0"/>
          </a:p>
        </p:txBody>
      </p:sp>
      <p:sp>
        <p:nvSpPr>
          <p:cNvPr id="46" name="ocean:body"/>
          <p:cNvSpPr/>
          <p:nvPr/>
        </p:nvSpPr>
        <p:spPr>
          <a:xfrm>
            <a:off x="7406640" y="481888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02426"/>
                </a:solidFill>
                <a:latin typeface="Stack Sans Headline" pitchFamily="34" charset="0"/>
                <a:ea typeface="Stack Sans Headline" pitchFamily="34" charset="-122"/>
                <a:cs typeface="Stack Sans Headline" pitchFamily="34" charset="-120"/>
              </a:rPr>
              <a:t>Treatment, wells, conservation</a:t>
            </a:r>
            <a:endParaRPr lang="en-US" sz="1400" dirty="0"/>
          </a:p>
        </p:txBody>
      </p:sp>
      <p:sp>
        <p:nvSpPr>
          <p:cNvPr id="47" name="ocean:frame"/>
          <p:cNvSpPr/>
          <p:nvPr/>
        </p:nvSpPr>
        <p:spPr>
          <a:xfrm>
            <a:off x="7223760" y="523951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02426"/>
            </a:solidFill>
            <a:prstDash val="solid"/>
          </a:ln>
        </p:spPr>
      </p:sp>
      <p:sp>
        <p:nvSpPr>
          <p:cNvPr id="48" name="Shape 43"/>
          <p:cNvSpPr/>
          <p:nvPr/>
        </p:nvSpPr>
        <p:spPr>
          <a:xfrm>
            <a:off x="11387023" y="5367528"/>
            <a:ext cx="82550" cy="82550"/>
          </a:xfrm>
          <a:prstGeom prst="diamond">
            <a:avLst/>
          </a:prstGeom>
          <a:solidFill>
            <a:srgbClr val="102426"/>
          </a:solidFill>
          <a:ln w="12700">
            <a:solidFill>
              <a:srgbClr val="102426"/>
            </a:solidFill>
            <a:prstDash val="solid"/>
          </a:ln>
        </p:spPr>
      </p:sp>
      <p:sp>
        <p:nvSpPr>
          <p:cNvPr id="49" name="Shape 44"/>
          <p:cNvSpPr/>
          <p:nvPr/>
        </p:nvSpPr>
        <p:spPr>
          <a:xfrm>
            <a:off x="11247323" y="5367528"/>
            <a:ext cx="82550" cy="82550"/>
          </a:xfrm>
          <a:prstGeom prst="diamond">
            <a:avLst/>
          </a:prstGeom>
          <a:solidFill>
            <a:srgbClr val="102426"/>
          </a:solidFill>
          <a:ln w="12700">
            <a:solidFill>
              <a:srgbClr val="102426"/>
            </a:solidFill>
            <a:prstDash val="solid"/>
          </a:ln>
        </p:spPr>
      </p:sp>
      <p:sp>
        <p:nvSpPr>
          <p:cNvPr id="50" name="Shape 45"/>
          <p:cNvSpPr/>
          <p:nvPr/>
        </p:nvSpPr>
        <p:spPr>
          <a:xfrm>
            <a:off x="11107623" y="5367528"/>
            <a:ext cx="82550" cy="82550"/>
          </a:xfrm>
          <a:prstGeom prst="diamond">
            <a:avLst/>
          </a:prstGeom>
          <a:solidFill>
            <a:srgbClr val="102426"/>
          </a:solidFill>
          <a:ln w="12700">
            <a:solidFill>
              <a:srgbClr val="102426"/>
            </a:solidFill>
            <a:prstDash val="solid"/>
          </a:ln>
        </p:spPr>
      </p:sp>
      <p:sp>
        <p:nvSpPr>
          <p:cNvPr id="51" name="Shape 46"/>
          <p:cNvSpPr/>
          <p:nvPr/>
        </p:nvSpPr>
        <p:spPr>
          <a:xfrm>
            <a:off x="10967923" y="5367528"/>
            <a:ext cx="82550" cy="82550"/>
          </a:xfrm>
          <a:prstGeom prst="diamond">
            <a:avLst/>
          </a:prstGeom>
          <a:solidFill>
            <a:srgbClr val="102426"/>
          </a:solidFill>
          <a:ln w="12700">
            <a:solidFill>
              <a:srgbClr val="102426"/>
            </a:solidFill>
            <a:prstDash val="solid"/>
          </a:ln>
        </p:spPr>
      </p:sp>
      <p:sp>
        <p:nvSpPr>
          <p:cNvPr id="52" name="ocean:label"/>
          <p:cNvSpPr/>
          <p:nvPr/>
        </p:nvSpPr>
        <p:spPr>
          <a:xfrm>
            <a:off x="7406640" y="533095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02426"/>
                </a:solidFill>
                <a:latin typeface="Stack Sans Headline Light" pitchFamily="34" charset="0"/>
                <a:ea typeface="Stack Sans Headline Light" pitchFamily="34" charset="-122"/>
                <a:cs typeface="Stack Sans Headline Light" pitchFamily="34" charset="-120"/>
              </a:rPr>
              <a:t>COMPUTE</a:t>
            </a:r>
            <a:endParaRPr lang="en-US" sz="950" dirty="0"/>
          </a:p>
        </p:txBody>
      </p:sp>
      <p:sp>
        <p:nvSpPr>
          <p:cNvPr id="53" name="ocean:body"/>
          <p:cNvSpPr/>
          <p:nvPr/>
        </p:nvSpPr>
        <p:spPr>
          <a:xfrm>
            <a:off x="7406640" y="555040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02426"/>
                </a:solidFill>
                <a:latin typeface="Stack Sans Headline" pitchFamily="34" charset="0"/>
                <a:ea typeface="Stack Sans Headline" pitchFamily="34" charset="-122"/>
                <a:cs typeface="Stack Sans Headline" pitchFamily="34" charset="-120"/>
              </a:rPr>
              <a:t>Power, fiber, cooling, partners</a:t>
            </a:r>
            <a:endParaRPr lang="en-US" sz="1400" dirty="0"/>
          </a:p>
        </p:txBody>
      </p:sp>
      <p:sp>
        <p:nvSpPr>
          <p:cNvPr id="54" name="ocean:body"/>
          <p:cNvSpPr/>
          <p:nvPr/>
        </p:nvSpPr>
        <p:spPr>
          <a:xfrm>
            <a:off x="548640" y="5971032"/>
            <a:ext cx="6446520" cy="365760"/>
          </a:xfrm>
          <a:prstGeom prst="rect">
            <a:avLst/>
          </a:prstGeom>
          <a:noFill/>
          <a:ln/>
        </p:spPr>
        <p:txBody>
          <a:bodyPr wrap="square" lIns="0" tIns="0" rIns="0" bIns="0" rtlCol="0" anchor="t"/>
          <a:lstStyle/>
          <a:p>
            <a:pPr algn="l" indent="0" marL="0">
              <a:lnSpc>
                <a:spcPts val="1488"/>
              </a:lnSpc>
              <a:buNone/>
            </a:pPr>
            <a:r>
              <a:rPr lang="en-US" sz="1200" dirty="0">
                <a:solidFill>
                  <a:srgbClr val="102426"/>
                </a:solidFill>
                <a:latin typeface="Stack Sans Headline" pitchFamily="34" charset="0"/>
                <a:ea typeface="Stack Sans Headline" pitchFamily="34" charset="-122"/>
                <a:cs typeface="Stack Sans Headline" pitchFamily="34" charset="-120"/>
              </a:rPr>
              <a:t>Ocean project photo: solar parking structures, DJI_0482</a:t>
            </a:r>
            <a:endParaRPr lang="en-US" sz="1200" dirty="0"/>
          </a:p>
        </p:txBody>
      </p:sp>
      <p:sp>
        <p:nvSpPr>
          <p:cNvPr id="55"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BF8"/>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102426"/>
            </a:solidFill>
            <a:prstDash val="solid"/>
          </a:ln>
        </p:spPr>
      </p:sp>
      <p:pic>
        <p:nvPicPr>
          <p:cNvPr id="4" name="ocean:logo-horizontal" descr="/home/runner/work/ocean-brand-system/ocean-brand-system/assets/logos/png/logo_horizontal_peacock.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102426"/>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02426"/>
                </a:solidFill>
                <a:latin typeface="Stack Sans Headline" pitchFamily="34" charset="0"/>
                <a:ea typeface="Stack Sans Headline" pitchFamily="34" charset="-122"/>
                <a:cs typeface="Stack Sans Headline" pitchFamily="34" charset="-120"/>
              </a:rPr>
              <a:t>04</a:t>
            </a:r>
            <a:endParaRPr lang="en-US" sz="900" dirty="0"/>
          </a:p>
        </p:txBody>
      </p:sp>
      <p:sp>
        <p:nvSpPr>
          <p:cNvPr id="8" name="Shape 4"/>
          <p:cNvSpPr/>
          <p:nvPr/>
        </p:nvSpPr>
        <p:spPr>
          <a:xfrm>
            <a:off x="3533140" y="329184"/>
            <a:ext cx="0" cy="609600"/>
          </a:xfrm>
          <a:prstGeom prst="line">
            <a:avLst/>
          </a:prstGeom>
          <a:noFill/>
          <a:ln w="12700">
            <a:solidFill>
              <a:srgbClr val="102426"/>
            </a:solidFill>
            <a:prstDash val="solid"/>
          </a:ln>
        </p:spPr>
      </p:sp>
      <p:sp>
        <p:nvSpPr>
          <p:cNvPr id="9" name="Shape 5"/>
          <p:cNvSpPr/>
          <p:nvPr/>
        </p:nvSpPr>
        <p:spPr>
          <a:xfrm>
            <a:off x="3687064" y="515112"/>
            <a:ext cx="807758" cy="237744"/>
          </a:xfrm>
          <a:prstGeom prst="rect">
            <a:avLst/>
          </a:prstGeom>
          <a:solidFill>
            <a:srgbClr val="102426"/>
          </a:solidFill>
          <a:ln w="12700">
            <a:solidFill>
              <a:srgbClr val="102426"/>
            </a:solidFill>
            <a:prstDash val="solid"/>
          </a:ln>
        </p:spPr>
      </p:sp>
      <p:sp>
        <p:nvSpPr>
          <p:cNvPr id="10"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F3FBF8"/>
                </a:solidFill>
                <a:latin typeface="Stack Sans Headline" pitchFamily="34" charset="0"/>
                <a:ea typeface="Stack Sans Headline" pitchFamily="34" charset="-122"/>
                <a:cs typeface="Stack Sans Headline" pitchFamily="34" charset="-120"/>
              </a:rPr>
              <a:t>PLATFORM</a:t>
            </a:r>
            <a:endParaRPr lang="en-US" sz="900" dirty="0"/>
          </a:p>
        </p:txBody>
      </p:sp>
      <p:sp>
        <p:nvSpPr>
          <p:cNvPr id="11"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TEAM</a:t>
            </a:r>
            <a:endParaRPr lang="en-US" sz="900" dirty="0"/>
          </a:p>
        </p:txBody>
      </p:sp>
      <p:sp>
        <p:nvSpPr>
          <p:cNvPr id="12"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PARTNERS</a:t>
            </a:r>
            <a:endParaRPr lang="en-US" sz="900" dirty="0"/>
          </a:p>
        </p:txBody>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02426"/>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102426"/>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02426"/>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102426"/>
            </a:solidFill>
            <a:prstDash val="solid"/>
          </a:ln>
        </p:spPr>
      </p:sp>
      <p:sp>
        <p:nvSpPr>
          <p:cNvPr id="18" name="Shape 14"/>
          <p:cNvSpPr/>
          <p:nvPr/>
        </p:nvSpPr>
        <p:spPr>
          <a:xfrm>
            <a:off x="9407855" y="329184"/>
            <a:ext cx="558800" cy="609600"/>
          </a:xfrm>
          <a:prstGeom prst="rect">
            <a:avLst/>
          </a:prstGeom>
          <a:solidFill>
            <a:srgbClr val="102426"/>
          </a:solidFill>
          <a:ln w="12700">
            <a:solidFill>
              <a:srgbClr val="102426"/>
            </a:solidFill>
            <a:prstDash val="solid"/>
          </a:ln>
        </p:spPr>
      </p:sp>
      <p:sp>
        <p:nvSpPr>
          <p:cNvPr id="19"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F3FBF8"/>
                </a:solidFill>
                <a:latin typeface="Stack Sans Headline" pitchFamily="34" charset="0"/>
                <a:ea typeface="Stack Sans Headline" pitchFamily="34" charset="-122"/>
                <a:cs typeface="Stack Sans Headline" pitchFamily="34" charset="-120"/>
              </a:rPr>
              <a:t>01</a:t>
            </a:r>
            <a:endParaRPr lang="en-US" sz="1100" dirty="0"/>
          </a:p>
        </p:txBody>
      </p:sp>
      <p:sp>
        <p:nvSpPr>
          <p:cNvPr id="20" name="Shape 16"/>
          <p:cNvSpPr/>
          <p:nvPr/>
        </p:nvSpPr>
        <p:spPr>
          <a:xfrm>
            <a:off x="9966655" y="329184"/>
            <a:ext cx="0" cy="609600"/>
          </a:xfrm>
          <a:prstGeom prst="line">
            <a:avLst/>
          </a:prstGeom>
          <a:noFill/>
          <a:ln w="12700">
            <a:solidFill>
              <a:srgbClr val="102426"/>
            </a:solidFill>
            <a:prstDash val="solid"/>
          </a:ln>
        </p:spPr>
      </p:sp>
      <p:sp>
        <p:nvSpPr>
          <p:cNvPr id="21"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02</a:t>
            </a:r>
            <a:endParaRPr lang="en-US" sz="1100" dirty="0"/>
          </a:p>
        </p:txBody>
      </p:sp>
      <p:sp>
        <p:nvSpPr>
          <p:cNvPr id="22" name="Shape 18"/>
          <p:cNvSpPr/>
          <p:nvPr/>
        </p:nvSpPr>
        <p:spPr>
          <a:xfrm>
            <a:off x="10525455" y="329184"/>
            <a:ext cx="0" cy="609600"/>
          </a:xfrm>
          <a:prstGeom prst="line">
            <a:avLst/>
          </a:prstGeom>
          <a:noFill/>
          <a:ln w="12700">
            <a:solidFill>
              <a:srgbClr val="102426"/>
            </a:solidFill>
            <a:prstDash val="solid"/>
          </a:ln>
        </p:spPr>
      </p:sp>
      <p:sp>
        <p:nvSpPr>
          <p:cNvPr id="23"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03</a:t>
            </a:r>
            <a:endParaRPr lang="en-US" sz="1100" dirty="0"/>
          </a:p>
        </p:txBody>
      </p:sp>
      <p:sp>
        <p:nvSpPr>
          <p:cNvPr id="24" name="Shape 20"/>
          <p:cNvSpPr/>
          <p:nvPr/>
        </p:nvSpPr>
        <p:spPr>
          <a:xfrm>
            <a:off x="11084255" y="329184"/>
            <a:ext cx="0" cy="609600"/>
          </a:xfrm>
          <a:prstGeom prst="line">
            <a:avLst/>
          </a:prstGeom>
          <a:noFill/>
          <a:ln w="12700">
            <a:solidFill>
              <a:srgbClr val="102426"/>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02426"/>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102426"/>
                </a:solidFill>
                <a:latin typeface="Stack Sans Headline" pitchFamily="34" charset="0"/>
                <a:ea typeface="Stack Sans Headline" pitchFamily="34" charset="-122"/>
                <a:cs typeface="Stack Sans Headline" pitchFamily="34" charset="-120"/>
              </a:rPr>
              <a:t>01 OPERATING MODEL</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102426"/>
                </a:solidFill>
                <a:latin typeface="Stack Sans Headline Medium" pitchFamily="34" charset="0"/>
                <a:ea typeface="Stack Sans Headline Medium" pitchFamily="34" charset="-122"/>
                <a:cs typeface="Stack Sans Headline Medium" pitchFamily="34" charset="-120"/>
              </a:rPr>
              <a:t>Develop, build</a:t>
            </a:r>
            <a:endParaRPr lang="en-US" sz="3500" dirty="0"/>
          </a:p>
          <a:p>
            <a:pPr algn="l" indent="0" marL="0">
              <a:lnSpc>
                <a:spcPts val="3900"/>
              </a:lnSpc>
              <a:buNone/>
            </a:pPr>
            <a:r>
              <a:rPr lang="en-US" sz="3500" spc="-35" kern="0" dirty="0">
                <a:solidFill>
                  <a:srgbClr val="102426"/>
                </a:solidFill>
                <a:latin typeface="Stack Sans Headline Medium" pitchFamily="34" charset="0"/>
                <a:ea typeface="Stack Sans Headline Medium" pitchFamily="34" charset="-122"/>
                <a:cs typeface="Stack Sans Headline Medium" pitchFamily="34" charset="-120"/>
              </a:rPr>
              <a:t>and operate</a:t>
            </a:r>
            <a:endParaRPr lang="en-US" sz="3500" dirty="0"/>
          </a:p>
        </p:txBody>
      </p:sp>
      <p:sp>
        <p:nvSpPr>
          <p:cNvPr id="28" name="ocean:lede"/>
          <p:cNvSpPr/>
          <p:nvPr/>
        </p:nvSpPr>
        <p:spPr>
          <a:xfrm>
            <a:off x="7040880" y="1572768"/>
            <a:ext cx="4602175" cy="1042416"/>
          </a:xfrm>
          <a:prstGeom prst="rect">
            <a:avLst/>
          </a:prstGeom>
          <a:noFill/>
          <a:ln/>
        </p:spPr>
        <p:txBody>
          <a:bodyPr wrap="square" lIns="0" tIns="0" rIns="0" bIns="0" rtlCol="0" anchor="b"/>
          <a:lstStyle/>
          <a:p>
            <a:pPr algn="l" indent="0" marL="0">
              <a:lnSpc>
                <a:spcPts val="1700"/>
              </a:lnSpc>
              <a:buNone/>
            </a:pPr>
            <a:r>
              <a:rPr lang="en-US" sz="1050" b="1" spc="263" kern="0" dirty="0">
                <a:solidFill>
                  <a:srgbClr val="102426"/>
                </a:solidFill>
                <a:latin typeface="Stack Sans Headline" pitchFamily="34" charset="0"/>
                <a:ea typeface="Stack Sans Headline" pitchFamily="34" charset="-122"/>
                <a:cs typeface="Stack Sans Headline" pitchFamily="34" charset="-120"/>
              </a:rPr>
              <a:t>A LEAN CORE TEAM COORDINATES AI-ENABLED</a:t>
            </a:r>
            <a:endParaRPr lang="en-US" sz="1050" dirty="0"/>
          </a:p>
          <a:p>
            <a:pPr algn="l" indent="0" marL="0">
              <a:lnSpc>
                <a:spcPts val="1700"/>
              </a:lnSpc>
              <a:buNone/>
            </a:pPr>
            <a:r>
              <a:rPr lang="en-US" sz="1050" b="1" spc="263" kern="0" dirty="0">
                <a:solidFill>
                  <a:srgbClr val="102426"/>
                </a:solidFill>
                <a:latin typeface="Stack Sans Headline" pitchFamily="34" charset="0"/>
                <a:ea typeface="Stack Sans Headline" pitchFamily="34" charset="-122"/>
                <a:cs typeface="Stack Sans Headline" pitchFamily="34" charset="-120"/>
              </a:rPr>
              <a:t>OPERATIONS AND SPECIALIST PARTNERS.</a:t>
            </a:r>
            <a:endParaRPr lang="en-US" sz="1050" dirty="0"/>
          </a:p>
        </p:txBody>
      </p:sp>
      <p:sp>
        <p:nvSpPr>
          <p:cNvPr id="29" name="Shape 25"/>
          <p:cNvSpPr/>
          <p:nvPr/>
        </p:nvSpPr>
        <p:spPr>
          <a:xfrm>
            <a:off x="548640" y="2734056"/>
            <a:ext cx="11094415" cy="0"/>
          </a:xfrm>
          <a:prstGeom prst="line">
            <a:avLst/>
          </a:prstGeom>
          <a:noFill/>
          <a:ln w="12700">
            <a:solidFill>
              <a:srgbClr val="102426"/>
            </a:solidFill>
            <a:prstDash val="solid"/>
          </a:ln>
        </p:spPr>
      </p:sp>
      <p:sp>
        <p:nvSpPr>
          <p:cNvPr id="30" name="ocean:frame"/>
          <p:cNvSpPr/>
          <p:nvPr/>
        </p:nvSpPr>
        <p:spPr>
          <a:xfrm>
            <a:off x="548640" y="3044952"/>
            <a:ext cx="3515258" cy="3127248"/>
          </a:xfrm>
          <a:custGeom>
            <a:avLst/>
            <a:gdLst/>
            <a:ahLst/>
            <a:cxnLst/>
            <a:rect l="l" t="t" r="r" b="b"/>
            <a:pathLst>
              <a:path w="3515258" h="3127248">
                <a:moveTo>
                  <a:pt x="114300" y="0"/>
                </a:moveTo>
                <a:lnTo>
                  <a:pt x="3400958" y="0"/>
                </a:lnTo>
                <a:quadBezTo>
                  <a:pt x="3515258" y="0"/>
                  <a:pt x="3515258" y="114300"/>
                </a:quadBezTo>
                <a:lnTo>
                  <a:pt x="3515258" y="2898648"/>
                </a:lnTo>
                <a:lnTo>
                  <a:pt x="3286658" y="3127248"/>
                </a:lnTo>
                <a:lnTo>
                  <a:pt x="114300" y="3127248"/>
                </a:lnTo>
                <a:quadBezTo>
                  <a:pt x="0" y="3127248"/>
                  <a:pt x="0" y="3012948"/>
                </a:quadBezTo>
                <a:lnTo>
                  <a:pt x="0" y="114300"/>
                </a:lnTo>
                <a:quadBezTo>
                  <a:pt x="0" y="0"/>
                  <a:pt x="114300" y="0"/>
                </a:quadBezTo>
                <a:close/>
              </a:path>
            </a:pathLst>
          </a:custGeom>
          <a:ln w="9525">
            <a:solidFill>
              <a:srgbClr val="102426"/>
            </a:solidFill>
            <a:prstDash val="solid"/>
          </a:ln>
        </p:spPr>
      </p:sp>
      <p:sp>
        <p:nvSpPr>
          <p:cNvPr id="31" name="Shape 27"/>
          <p:cNvSpPr/>
          <p:nvPr/>
        </p:nvSpPr>
        <p:spPr>
          <a:xfrm>
            <a:off x="3743858" y="3282696"/>
            <a:ext cx="82550" cy="82550"/>
          </a:xfrm>
          <a:prstGeom prst="diamond">
            <a:avLst/>
          </a:prstGeom>
          <a:solidFill>
            <a:srgbClr val="102426"/>
          </a:solidFill>
          <a:ln w="12700">
            <a:solidFill>
              <a:srgbClr val="102426"/>
            </a:solidFill>
            <a:prstDash val="solid"/>
          </a:ln>
        </p:spPr>
      </p:sp>
      <p:sp>
        <p:nvSpPr>
          <p:cNvPr id="32" name="ocean:label"/>
          <p:cNvSpPr/>
          <p:nvPr/>
        </p:nvSpPr>
        <p:spPr>
          <a:xfrm>
            <a:off x="777240" y="3246120"/>
            <a:ext cx="914400" cy="201168"/>
          </a:xfrm>
          <a:prstGeom prst="rect">
            <a:avLst/>
          </a:prstGeom>
          <a:noFill/>
          <a:ln/>
        </p:spPr>
        <p:txBody>
          <a:bodyPr wrap="square" lIns="0" tIns="0" rIns="0" bIns="0" rtlCol="0" anchor="t"/>
          <a:lstStyle/>
          <a:p>
            <a:pPr algn="l" indent="0" marL="0">
              <a:lnSpc>
                <a:spcPts val="1302"/>
              </a:lnSpc>
              <a:buNone/>
            </a:pPr>
            <a:r>
              <a:rPr lang="en-US" sz="1050" spc="263" kern="0" dirty="0">
                <a:solidFill>
                  <a:srgbClr val="102426"/>
                </a:solidFill>
                <a:latin typeface="Stack Sans Headline Light" pitchFamily="34" charset="0"/>
                <a:ea typeface="Stack Sans Headline Light" pitchFamily="34" charset="-122"/>
                <a:cs typeface="Stack Sans Headline Light" pitchFamily="34" charset="-120"/>
              </a:rPr>
              <a:t>01</a:t>
            </a:r>
            <a:endParaRPr lang="en-US" sz="1050" dirty="0"/>
          </a:p>
        </p:txBody>
      </p:sp>
      <p:sp>
        <p:nvSpPr>
          <p:cNvPr id="33" name="ocean:section"/>
          <p:cNvSpPr/>
          <p:nvPr/>
        </p:nvSpPr>
        <p:spPr>
          <a:xfrm>
            <a:off x="777240" y="3703320"/>
            <a:ext cx="3058058" cy="822960"/>
          </a:xfrm>
          <a:prstGeom prst="rect">
            <a:avLst/>
          </a:prstGeom>
          <a:noFill/>
          <a:ln/>
        </p:spPr>
        <p:txBody>
          <a:bodyPr wrap="square" lIns="0" tIns="0" rIns="0" bIns="0" rtlCol="0" anchor="t"/>
          <a:lstStyle/>
          <a:p>
            <a:pPr algn="l" indent="0" marL="0">
              <a:lnSpc>
                <a:spcPts val="2600"/>
              </a:lnSpc>
              <a:buNone/>
            </a:pPr>
            <a:r>
              <a:rPr lang="en-US" sz="2200" spc="-22" kern="0" dirty="0">
                <a:solidFill>
                  <a:srgbClr val="102426"/>
                </a:solidFill>
                <a:latin typeface="Stack Sans Headline Medium" pitchFamily="34" charset="0"/>
                <a:ea typeface="Stack Sans Headline Medium" pitchFamily="34" charset="-122"/>
                <a:cs typeface="Stack Sans Headline Medium" pitchFamily="34" charset="-120"/>
              </a:rPr>
              <a:t>Develop</a:t>
            </a:r>
            <a:endParaRPr lang="en-US" sz="2200" dirty="0"/>
          </a:p>
        </p:txBody>
      </p:sp>
      <p:sp>
        <p:nvSpPr>
          <p:cNvPr id="34" name="ocean:body"/>
          <p:cNvSpPr/>
          <p:nvPr/>
        </p:nvSpPr>
        <p:spPr>
          <a:xfrm>
            <a:off x="777240" y="4645152"/>
            <a:ext cx="3058058" cy="1344168"/>
          </a:xfrm>
          <a:prstGeom prst="rect">
            <a:avLst/>
          </a:prstGeom>
          <a:noFill/>
          <a:ln/>
        </p:spPr>
        <p:txBody>
          <a:bodyPr wrap="square" lIns="0" tIns="0" rIns="0" bIns="0" rtlCol="0" anchor="t"/>
          <a:lstStyle/>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Commercial strategy, customer</a:t>
            </a:r>
            <a:endParaRPr lang="en-US" sz="1300" dirty="0"/>
          </a:p>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relationships and project integration.</a:t>
            </a:r>
            <a:endParaRPr lang="en-US" sz="1300" dirty="0"/>
          </a:p>
        </p:txBody>
      </p:sp>
      <p:sp>
        <p:nvSpPr>
          <p:cNvPr id="35" name="ocean:frame"/>
          <p:cNvSpPr/>
          <p:nvPr/>
        </p:nvSpPr>
        <p:spPr>
          <a:xfrm>
            <a:off x="4338218" y="3044952"/>
            <a:ext cx="3515258" cy="3127248"/>
          </a:xfrm>
          <a:custGeom>
            <a:avLst/>
            <a:gdLst/>
            <a:ahLst/>
            <a:cxnLst/>
            <a:rect l="l" t="t" r="r" b="b"/>
            <a:pathLst>
              <a:path w="3515258" h="3127248">
                <a:moveTo>
                  <a:pt x="114300" y="0"/>
                </a:moveTo>
                <a:lnTo>
                  <a:pt x="3400958" y="0"/>
                </a:lnTo>
                <a:quadBezTo>
                  <a:pt x="3515258" y="0"/>
                  <a:pt x="3515258" y="114300"/>
                </a:quadBezTo>
                <a:lnTo>
                  <a:pt x="3515258" y="2898648"/>
                </a:lnTo>
                <a:lnTo>
                  <a:pt x="3286658" y="3127248"/>
                </a:lnTo>
                <a:lnTo>
                  <a:pt x="114300" y="3127248"/>
                </a:lnTo>
                <a:quadBezTo>
                  <a:pt x="0" y="3127248"/>
                  <a:pt x="0" y="3012948"/>
                </a:quadBezTo>
                <a:lnTo>
                  <a:pt x="0" y="114300"/>
                </a:lnTo>
                <a:quadBezTo>
                  <a:pt x="0" y="0"/>
                  <a:pt x="114300" y="0"/>
                </a:quadBezTo>
                <a:close/>
              </a:path>
            </a:pathLst>
          </a:custGeom>
          <a:ln w="9525">
            <a:solidFill>
              <a:srgbClr val="102426"/>
            </a:solidFill>
            <a:prstDash val="solid"/>
          </a:ln>
        </p:spPr>
      </p:sp>
      <p:sp>
        <p:nvSpPr>
          <p:cNvPr id="36" name="Shape 32"/>
          <p:cNvSpPr/>
          <p:nvPr/>
        </p:nvSpPr>
        <p:spPr>
          <a:xfrm>
            <a:off x="7533437" y="3282696"/>
            <a:ext cx="82550" cy="82550"/>
          </a:xfrm>
          <a:prstGeom prst="diamond">
            <a:avLst/>
          </a:prstGeom>
          <a:solidFill>
            <a:srgbClr val="102426"/>
          </a:solidFill>
          <a:ln w="12700">
            <a:solidFill>
              <a:srgbClr val="102426"/>
            </a:solidFill>
            <a:prstDash val="solid"/>
          </a:ln>
        </p:spPr>
      </p:sp>
      <p:sp>
        <p:nvSpPr>
          <p:cNvPr id="37" name="Shape 33"/>
          <p:cNvSpPr/>
          <p:nvPr/>
        </p:nvSpPr>
        <p:spPr>
          <a:xfrm>
            <a:off x="7393737" y="3282696"/>
            <a:ext cx="82550" cy="82550"/>
          </a:xfrm>
          <a:prstGeom prst="diamond">
            <a:avLst/>
          </a:prstGeom>
          <a:solidFill>
            <a:srgbClr val="102426"/>
          </a:solidFill>
          <a:ln w="12700">
            <a:solidFill>
              <a:srgbClr val="102426"/>
            </a:solidFill>
            <a:prstDash val="solid"/>
          </a:ln>
        </p:spPr>
      </p:sp>
      <p:sp>
        <p:nvSpPr>
          <p:cNvPr id="38" name="ocean:label"/>
          <p:cNvSpPr/>
          <p:nvPr/>
        </p:nvSpPr>
        <p:spPr>
          <a:xfrm>
            <a:off x="4566818" y="3246120"/>
            <a:ext cx="914400" cy="201168"/>
          </a:xfrm>
          <a:prstGeom prst="rect">
            <a:avLst/>
          </a:prstGeom>
          <a:noFill/>
          <a:ln/>
        </p:spPr>
        <p:txBody>
          <a:bodyPr wrap="square" lIns="0" tIns="0" rIns="0" bIns="0" rtlCol="0" anchor="t"/>
          <a:lstStyle/>
          <a:p>
            <a:pPr algn="l" indent="0" marL="0">
              <a:lnSpc>
                <a:spcPts val="1302"/>
              </a:lnSpc>
              <a:buNone/>
            </a:pPr>
            <a:r>
              <a:rPr lang="en-US" sz="1050" spc="263" kern="0" dirty="0">
                <a:solidFill>
                  <a:srgbClr val="102426"/>
                </a:solidFill>
                <a:latin typeface="Stack Sans Headline Light" pitchFamily="34" charset="0"/>
                <a:ea typeface="Stack Sans Headline Light" pitchFamily="34" charset="-122"/>
                <a:cs typeface="Stack Sans Headline Light" pitchFamily="34" charset="-120"/>
              </a:rPr>
              <a:t>02</a:t>
            </a:r>
            <a:endParaRPr lang="en-US" sz="1050" dirty="0"/>
          </a:p>
        </p:txBody>
      </p:sp>
      <p:sp>
        <p:nvSpPr>
          <p:cNvPr id="39" name="ocean:section"/>
          <p:cNvSpPr/>
          <p:nvPr/>
        </p:nvSpPr>
        <p:spPr>
          <a:xfrm>
            <a:off x="4566818" y="3703320"/>
            <a:ext cx="3058058" cy="822960"/>
          </a:xfrm>
          <a:prstGeom prst="rect">
            <a:avLst/>
          </a:prstGeom>
          <a:noFill/>
          <a:ln/>
        </p:spPr>
        <p:txBody>
          <a:bodyPr wrap="square" lIns="0" tIns="0" rIns="0" bIns="0" rtlCol="0" anchor="t"/>
          <a:lstStyle/>
          <a:p>
            <a:pPr algn="l" indent="0" marL="0">
              <a:lnSpc>
                <a:spcPts val="2600"/>
              </a:lnSpc>
              <a:buNone/>
            </a:pPr>
            <a:r>
              <a:rPr lang="en-US" sz="2200" spc="-22" kern="0" dirty="0">
                <a:solidFill>
                  <a:srgbClr val="102426"/>
                </a:solidFill>
                <a:latin typeface="Stack Sans Headline Medium" pitchFamily="34" charset="0"/>
                <a:ea typeface="Stack Sans Headline Medium" pitchFamily="34" charset="-122"/>
                <a:cs typeface="Stack Sans Headline Medium" pitchFamily="34" charset="-120"/>
              </a:rPr>
              <a:t>Build</a:t>
            </a:r>
            <a:endParaRPr lang="en-US" sz="2200" dirty="0"/>
          </a:p>
        </p:txBody>
      </p:sp>
      <p:sp>
        <p:nvSpPr>
          <p:cNvPr id="40" name="ocean:body"/>
          <p:cNvSpPr/>
          <p:nvPr/>
        </p:nvSpPr>
        <p:spPr>
          <a:xfrm>
            <a:off x="4566818" y="4645152"/>
            <a:ext cx="3058058" cy="1344168"/>
          </a:xfrm>
          <a:prstGeom prst="rect">
            <a:avLst/>
          </a:prstGeom>
          <a:noFill/>
          <a:ln/>
        </p:spPr>
        <p:txBody>
          <a:bodyPr wrap="square" lIns="0" tIns="0" rIns="0" bIns="0" rtlCol="0" anchor="t"/>
          <a:lstStyle/>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Qualified partners support licensed</a:t>
            </a:r>
            <a:endParaRPr lang="en-US" sz="1300" dirty="0"/>
          </a:p>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and project-specific execution.</a:t>
            </a:r>
            <a:endParaRPr lang="en-US" sz="1300" dirty="0"/>
          </a:p>
        </p:txBody>
      </p:sp>
      <p:sp>
        <p:nvSpPr>
          <p:cNvPr id="41" name="ocean:frame"/>
          <p:cNvSpPr/>
          <p:nvPr/>
        </p:nvSpPr>
        <p:spPr>
          <a:xfrm>
            <a:off x="8127797" y="3044952"/>
            <a:ext cx="3515258" cy="3127248"/>
          </a:xfrm>
          <a:custGeom>
            <a:avLst/>
            <a:gdLst/>
            <a:ahLst/>
            <a:cxnLst/>
            <a:rect l="l" t="t" r="r" b="b"/>
            <a:pathLst>
              <a:path w="3515258" h="3127248">
                <a:moveTo>
                  <a:pt x="114300" y="0"/>
                </a:moveTo>
                <a:lnTo>
                  <a:pt x="3400958" y="0"/>
                </a:lnTo>
                <a:quadBezTo>
                  <a:pt x="3515258" y="0"/>
                  <a:pt x="3515258" y="114300"/>
                </a:quadBezTo>
                <a:lnTo>
                  <a:pt x="3515258" y="2898648"/>
                </a:lnTo>
                <a:lnTo>
                  <a:pt x="3286658" y="3127248"/>
                </a:lnTo>
                <a:lnTo>
                  <a:pt x="114300" y="3127248"/>
                </a:lnTo>
                <a:quadBezTo>
                  <a:pt x="0" y="3127248"/>
                  <a:pt x="0" y="3012948"/>
                </a:quadBezTo>
                <a:lnTo>
                  <a:pt x="0" y="114300"/>
                </a:lnTo>
                <a:quadBezTo>
                  <a:pt x="0" y="0"/>
                  <a:pt x="114300" y="0"/>
                </a:quadBezTo>
                <a:close/>
              </a:path>
            </a:pathLst>
          </a:custGeom>
          <a:ln w="9525">
            <a:solidFill>
              <a:srgbClr val="102426"/>
            </a:solidFill>
            <a:prstDash val="solid"/>
          </a:ln>
        </p:spPr>
      </p:sp>
      <p:sp>
        <p:nvSpPr>
          <p:cNvPr id="42" name="Shape 38"/>
          <p:cNvSpPr/>
          <p:nvPr/>
        </p:nvSpPr>
        <p:spPr>
          <a:xfrm>
            <a:off x="11323015" y="3282696"/>
            <a:ext cx="82550" cy="82550"/>
          </a:xfrm>
          <a:prstGeom prst="diamond">
            <a:avLst/>
          </a:prstGeom>
          <a:solidFill>
            <a:srgbClr val="102426"/>
          </a:solidFill>
          <a:ln w="12700">
            <a:solidFill>
              <a:srgbClr val="102426"/>
            </a:solidFill>
            <a:prstDash val="solid"/>
          </a:ln>
        </p:spPr>
      </p:sp>
      <p:sp>
        <p:nvSpPr>
          <p:cNvPr id="43" name="Shape 39"/>
          <p:cNvSpPr/>
          <p:nvPr/>
        </p:nvSpPr>
        <p:spPr>
          <a:xfrm>
            <a:off x="11183315" y="3282696"/>
            <a:ext cx="82550" cy="82550"/>
          </a:xfrm>
          <a:prstGeom prst="diamond">
            <a:avLst/>
          </a:prstGeom>
          <a:solidFill>
            <a:srgbClr val="102426"/>
          </a:solidFill>
          <a:ln w="12700">
            <a:solidFill>
              <a:srgbClr val="102426"/>
            </a:solidFill>
            <a:prstDash val="solid"/>
          </a:ln>
        </p:spPr>
      </p:sp>
      <p:sp>
        <p:nvSpPr>
          <p:cNvPr id="44" name="Shape 40"/>
          <p:cNvSpPr/>
          <p:nvPr/>
        </p:nvSpPr>
        <p:spPr>
          <a:xfrm>
            <a:off x="11043615" y="3282696"/>
            <a:ext cx="82550" cy="82550"/>
          </a:xfrm>
          <a:prstGeom prst="diamond">
            <a:avLst/>
          </a:prstGeom>
          <a:solidFill>
            <a:srgbClr val="102426"/>
          </a:solidFill>
          <a:ln w="12700">
            <a:solidFill>
              <a:srgbClr val="102426"/>
            </a:solidFill>
            <a:prstDash val="solid"/>
          </a:ln>
        </p:spPr>
      </p:sp>
      <p:sp>
        <p:nvSpPr>
          <p:cNvPr id="45" name="ocean:label"/>
          <p:cNvSpPr/>
          <p:nvPr/>
        </p:nvSpPr>
        <p:spPr>
          <a:xfrm>
            <a:off x="8356397" y="3246120"/>
            <a:ext cx="914400" cy="201168"/>
          </a:xfrm>
          <a:prstGeom prst="rect">
            <a:avLst/>
          </a:prstGeom>
          <a:noFill/>
          <a:ln/>
        </p:spPr>
        <p:txBody>
          <a:bodyPr wrap="square" lIns="0" tIns="0" rIns="0" bIns="0" rtlCol="0" anchor="t"/>
          <a:lstStyle/>
          <a:p>
            <a:pPr algn="l" indent="0" marL="0">
              <a:lnSpc>
                <a:spcPts val="1302"/>
              </a:lnSpc>
              <a:buNone/>
            </a:pPr>
            <a:r>
              <a:rPr lang="en-US" sz="1050" spc="263" kern="0" dirty="0">
                <a:solidFill>
                  <a:srgbClr val="102426"/>
                </a:solidFill>
                <a:latin typeface="Stack Sans Headline Light" pitchFamily="34" charset="0"/>
                <a:ea typeface="Stack Sans Headline Light" pitchFamily="34" charset="-122"/>
                <a:cs typeface="Stack Sans Headline Light" pitchFamily="34" charset="-120"/>
              </a:rPr>
              <a:t>03</a:t>
            </a:r>
            <a:endParaRPr lang="en-US" sz="1050" dirty="0"/>
          </a:p>
        </p:txBody>
      </p:sp>
      <p:sp>
        <p:nvSpPr>
          <p:cNvPr id="46" name="ocean:section"/>
          <p:cNvSpPr/>
          <p:nvPr/>
        </p:nvSpPr>
        <p:spPr>
          <a:xfrm>
            <a:off x="8356397" y="3703320"/>
            <a:ext cx="3058058" cy="822960"/>
          </a:xfrm>
          <a:prstGeom prst="rect">
            <a:avLst/>
          </a:prstGeom>
          <a:noFill/>
          <a:ln/>
        </p:spPr>
        <p:txBody>
          <a:bodyPr wrap="square" lIns="0" tIns="0" rIns="0" bIns="0" rtlCol="0" anchor="t"/>
          <a:lstStyle/>
          <a:p>
            <a:pPr algn="l" indent="0" marL="0">
              <a:lnSpc>
                <a:spcPts val="2600"/>
              </a:lnSpc>
              <a:buNone/>
            </a:pPr>
            <a:r>
              <a:rPr lang="en-US" sz="2200" spc="-22" kern="0" dirty="0">
                <a:solidFill>
                  <a:srgbClr val="102426"/>
                </a:solidFill>
                <a:latin typeface="Stack Sans Headline Medium" pitchFamily="34" charset="0"/>
                <a:ea typeface="Stack Sans Headline Medium" pitchFamily="34" charset="-122"/>
                <a:cs typeface="Stack Sans Headline Medium" pitchFamily="34" charset="-120"/>
              </a:rPr>
              <a:t>Operate</a:t>
            </a:r>
            <a:endParaRPr lang="en-US" sz="2200" dirty="0"/>
          </a:p>
        </p:txBody>
      </p:sp>
      <p:sp>
        <p:nvSpPr>
          <p:cNvPr id="47" name="ocean:body"/>
          <p:cNvSpPr/>
          <p:nvPr/>
        </p:nvSpPr>
        <p:spPr>
          <a:xfrm>
            <a:off x="8356397" y="4645152"/>
            <a:ext cx="3058058" cy="1344168"/>
          </a:xfrm>
          <a:prstGeom prst="rect">
            <a:avLst/>
          </a:prstGeom>
          <a:noFill/>
          <a:ln/>
        </p:spPr>
        <p:txBody>
          <a:bodyPr wrap="square" lIns="0" tIns="0" rIns="0" bIns="0" rtlCol="0" anchor="t"/>
          <a:lstStyle/>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Ocean retains standards and</a:t>
            </a:r>
            <a:endParaRPr lang="en-US" sz="1300" dirty="0"/>
          </a:p>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accountability across the operating</a:t>
            </a:r>
            <a:endParaRPr lang="en-US" sz="1300" dirty="0"/>
          </a:p>
          <a:p>
            <a:pPr algn="l" indent="0" marL="0">
              <a:lnSpc>
                <a:spcPts val="1900"/>
              </a:lnSpc>
              <a:buNone/>
            </a:pPr>
            <a:r>
              <a:rPr lang="en-US" sz="1300" dirty="0">
                <a:solidFill>
                  <a:srgbClr val="102426"/>
                </a:solidFill>
                <a:latin typeface="Stack Sans Headline" pitchFamily="34" charset="0"/>
                <a:ea typeface="Stack Sans Headline" pitchFamily="34" charset="-122"/>
                <a:cs typeface="Stack Sans Headline" pitchFamily="34" charset="-120"/>
              </a:rPr>
              <a:t>model.</a:t>
            </a:r>
            <a:endParaRPr lang="en-US" sz="1300" dirty="0"/>
          </a:p>
        </p:txBody>
      </p:sp>
      <p:sp>
        <p:nvSpPr>
          <p:cNvPr id="48"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02426"/>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5CCA0"/>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1B4039"/>
            </a:solidFill>
            <a:prstDash val="solid"/>
          </a:ln>
        </p:spPr>
      </p:sp>
      <p:pic>
        <p:nvPicPr>
          <p:cNvPr id="4" name="ocean:logo-horizontal" descr="/home/runner/work/ocean-brand-system/ocean-brand-system/assets/logos/png/logo_horizontal_cedar.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1B4039"/>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B4039"/>
                </a:solidFill>
                <a:latin typeface="Stack Sans Headline" pitchFamily="34" charset="0"/>
                <a:ea typeface="Stack Sans Headline" pitchFamily="34" charset="-122"/>
                <a:cs typeface="Stack Sans Headline" pitchFamily="34" charset="-120"/>
              </a:rPr>
              <a:t>05</a:t>
            </a:r>
            <a:endParaRPr lang="en-US" sz="900" dirty="0"/>
          </a:p>
        </p:txBody>
      </p:sp>
      <p:sp>
        <p:nvSpPr>
          <p:cNvPr id="8" name="Shape 4"/>
          <p:cNvSpPr/>
          <p:nvPr/>
        </p:nvSpPr>
        <p:spPr>
          <a:xfrm>
            <a:off x="3533140" y="329184"/>
            <a:ext cx="0" cy="609600"/>
          </a:xfrm>
          <a:prstGeom prst="line">
            <a:avLst/>
          </a:prstGeom>
          <a:noFill/>
          <a:ln w="12700">
            <a:solidFill>
              <a:srgbClr val="1B4039"/>
            </a:solidFill>
            <a:prstDash val="solid"/>
          </a:ln>
        </p:spPr>
      </p:sp>
      <p:sp>
        <p:nvSpPr>
          <p:cNvPr id="9"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PLATFORM</a:t>
            </a:r>
            <a:endParaRPr lang="en-US" sz="900" dirty="0"/>
          </a:p>
        </p:txBody>
      </p:sp>
      <p:sp>
        <p:nvSpPr>
          <p:cNvPr id="10" name="Shape 6"/>
          <p:cNvSpPr/>
          <p:nvPr/>
        </p:nvSpPr>
        <p:spPr>
          <a:xfrm>
            <a:off x="4641126" y="515112"/>
            <a:ext cx="478803" cy="237744"/>
          </a:xfrm>
          <a:prstGeom prst="rect">
            <a:avLst/>
          </a:prstGeom>
          <a:solidFill>
            <a:srgbClr val="1B4039"/>
          </a:solidFill>
          <a:ln w="12700">
            <a:solidFill>
              <a:srgbClr val="1B4039"/>
            </a:solidFill>
            <a:prstDash val="solid"/>
          </a:ln>
        </p:spPr>
      </p:sp>
      <p:sp>
        <p:nvSpPr>
          <p:cNvPr id="11"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D5CCA0"/>
                </a:solidFill>
                <a:latin typeface="Stack Sans Headline" pitchFamily="34" charset="0"/>
                <a:ea typeface="Stack Sans Headline" pitchFamily="34" charset="-122"/>
                <a:cs typeface="Stack Sans Headline" pitchFamily="34" charset="-120"/>
              </a:rPr>
              <a:t>TEAM</a:t>
            </a:r>
            <a:endParaRPr lang="en-US" sz="900" dirty="0"/>
          </a:p>
        </p:txBody>
      </p:sp>
      <p:sp>
        <p:nvSpPr>
          <p:cNvPr id="12"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PARTNERS</a:t>
            </a:r>
            <a:endParaRPr lang="en-US" sz="900" dirty="0"/>
          </a:p>
        </p:txBody>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1B4039"/>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B4039"/>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1B4039"/>
            </a:solidFill>
            <a:prstDash val="solid"/>
          </a:ln>
        </p:spPr>
      </p:sp>
      <p:sp>
        <p:nvSpPr>
          <p:cNvPr id="18"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01</a:t>
            </a:r>
            <a:endParaRPr lang="en-US" sz="1100" dirty="0"/>
          </a:p>
        </p:txBody>
      </p:sp>
      <p:sp>
        <p:nvSpPr>
          <p:cNvPr id="19" name="Shape 15"/>
          <p:cNvSpPr/>
          <p:nvPr/>
        </p:nvSpPr>
        <p:spPr>
          <a:xfrm>
            <a:off x="9966655" y="329184"/>
            <a:ext cx="0" cy="609600"/>
          </a:xfrm>
          <a:prstGeom prst="line">
            <a:avLst/>
          </a:prstGeom>
          <a:noFill/>
          <a:ln w="12700">
            <a:solidFill>
              <a:srgbClr val="1B4039"/>
            </a:solidFill>
            <a:prstDash val="solid"/>
          </a:ln>
        </p:spPr>
      </p:sp>
      <p:sp>
        <p:nvSpPr>
          <p:cNvPr id="20" name="Shape 16"/>
          <p:cNvSpPr/>
          <p:nvPr/>
        </p:nvSpPr>
        <p:spPr>
          <a:xfrm>
            <a:off x="9966655" y="329184"/>
            <a:ext cx="558800" cy="609600"/>
          </a:xfrm>
          <a:prstGeom prst="rect">
            <a:avLst/>
          </a:prstGeom>
          <a:solidFill>
            <a:srgbClr val="1B4039"/>
          </a:solidFill>
          <a:ln w="12700">
            <a:solidFill>
              <a:srgbClr val="1B4039"/>
            </a:solidFill>
            <a:prstDash val="solid"/>
          </a:ln>
        </p:spPr>
      </p:sp>
      <p:sp>
        <p:nvSpPr>
          <p:cNvPr id="21"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D5CCA0"/>
                </a:solidFill>
                <a:latin typeface="Stack Sans Headline" pitchFamily="34" charset="0"/>
                <a:ea typeface="Stack Sans Headline" pitchFamily="34" charset="-122"/>
                <a:cs typeface="Stack Sans Headline" pitchFamily="34" charset="-120"/>
              </a:rPr>
              <a:t>02</a:t>
            </a:r>
            <a:endParaRPr lang="en-US" sz="1100" dirty="0"/>
          </a:p>
        </p:txBody>
      </p:sp>
      <p:sp>
        <p:nvSpPr>
          <p:cNvPr id="22" name="Shape 18"/>
          <p:cNvSpPr/>
          <p:nvPr/>
        </p:nvSpPr>
        <p:spPr>
          <a:xfrm>
            <a:off x="10525455" y="329184"/>
            <a:ext cx="0" cy="609600"/>
          </a:xfrm>
          <a:prstGeom prst="line">
            <a:avLst/>
          </a:prstGeom>
          <a:noFill/>
          <a:ln w="12700">
            <a:solidFill>
              <a:srgbClr val="1B4039"/>
            </a:solidFill>
            <a:prstDash val="solid"/>
          </a:ln>
        </p:spPr>
      </p:sp>
      <p:sp>
        <p:nvSpPr>
          <p:cNvPr id="23"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03</a:t>
            </a:r>
            <a:endParaRPr lang="en-US" sz="1100" dirty="0"/>
          </a:p>
        </p:txBody>
      </p:sp>
      <p:sp>
        <p:nvSpPr>
          <p:cNvPr id="24" name="Shape 20"/>
          <p:cNvSpPr/>
          <p:nvPr/>
        </p:nvSpPr>
        <p:spPr>
          <a:xfrm>
            <a:off x="11084255" y="329184"/>
            <a:ext cx="0" cy="609600"/>
          </a:xfrm>
          <a:prstGeom prst="line">
            <a:avLst/>
          </a:prstGeom>
          <a:noFill/>
          <a:ln w="12700">
            <a:solidFill>
              <a:srgbClr val="1B4039"/>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1B4039"/>
                </a:solidFill>
                <a:latin typeface="Stack Sans Headline" pitchFamily="34" charset="0"/>
                <a:ea typeface="Stack Sans Headline" pitchFamily="34" charset="-122"/>
                <a:cs typeface="Stack Sans Headline" pitchFamily="34" charset="-120"/>
              </a:rPr>
              <a:t>02 LEADERSHIP</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1B4039"/>
                </a:solidFill>
                <a:latin typeface="Stack Sans Headline Medium" pitchFamily="34" charset="0"/>
                <a:ea typeface="Stack Sans Headline Medium" pitchFamily="34" charset="-122"/>
                <a:cs typeface="Stack Sans Headline Medium" pitchFamily="34" charset="-120"/>
              </a:rPr>
              <a:t>Commercial, operating</a:t>
            </a:r>
            <a:endParaRPr lang="en-US" sz="3500" dirty="0"/>
          </a:p>
          <a:p>
            <a:pPr algn="l" indent="0" marL="0">
              <a:lnSpc>
                <a:spcPts val="3900"/>
              </a:lnSpc>
              <a:buNone/>
            </a:pPr>
            <a:r>
              <a:rPr lang="en-US" sz="3500" spc="-35" kern="0" dirty="0">
                <a:solidFill>
                  <a:srgbClr val="1B4039"/>
                </a:solidFill>
                <a:latin typeface="Stack Sans Headline Medium" pitchFamily="34" charset="0"/>
                <a:ea typeface="Stack Sans Headline Medium" pitchFamily="34" charset="-122"/>
                <a:cs typeface="Stack Sans Headline Medium" pitchFamily="34" charset="-120"/>
              </a:rPr>
              <a:t>and technical leadership</a:t>
            </a:r>
            <a:endParaRPr lang="en-US" sz="3500" dirty="0"/>
          </a:p>
        </p:txBody>
      </p:sp>
      <p:sp>
        <p:nvSpPr>
          <p:cNvPr id="28" name="Shape 24"/>
          <p:cNvSpPr/>
          <p:nvPr/>
        </p:nvSpPr>
        <p:spPr>
          <a:xfrm>
            <a:off x="548640" y="2734056"/>
            <a:ext cx="11094415" cy="0"/>
          </a:xfrm>
          <a:prstGeom prst="line">
            <a:avLst/>
          </a:prstGeom>
          <a:noFill/>
          <a:ln w="12700">
            <a:solidFill>
              <a:srgbClr val="1B4039"/>
            </a:solidFill>
            <a:prstDash val="solid"/>
          </a:ln>
        </p:spPr>
      </p:sp>
      <p:sp>
        <p:nvSpPr>
          <p:cNvPr id="29" name="Shape 25"/>
          <p:cNvSpPr/>
          <p:nvPr/>
        </p:nvSpPr>
        <p:spPr>
          <a:xfrm>
            <a:off x="548640" y="3044952"/>
            <a:ext cx="3515258" cy="0"/>
          </a:xfrm>
          <a:prstGeom prst="line">
            <a:avLst/>
          </a:prstGeom>
          <a:noFill/>
          <a:ln w="12700">
            <a:solidFill>
              <a:srgbClr val="1B4039"/>
            </a:solidFill>
            <a:prstDash val="solid"/>
          </a:ln>
        </p:spPr>
      </p:sp>
      <p:sp>
        <p:nvSpPr>
          <p:cNvPr id="30" name="ocean:section"/>
          <p:cNvSpPr/>
          <p:nvPr/>
        </p:nvSpPr>
        <p:spPr>
          <a:xfrm>
            <a:off x="548640" y="3273552"/>
            <a:ext cx="3515258" cy="457200"/>
          </a:xfrm>
          <a:prstGeom prst="rect">
            <a:avLst/>
          </a:prstGeom>
          <a:noFill/>
          <a:ln/>
        </p:spPr>
        <p:txBody>
          <a:bodyPr wrap="square" lIns="0" tIns="0" rIns="0" bIns="0" rtlCol="0" anchor="t"/>
          <a:lstStyle/>
          <a:p>
            <a:pPr algn="l" indent="0" marL="0">
              <a:lnSpc>
                <a:spcPts val="2728"/>
              </a:lnSpc>
              <a:buNone/>
            </a:pPr>
            <a:r>
              <a:rPr lang="en-US" sz="2200" spc="-22" kern="0" dirty="0">
                <a:solidFill>
                  <a:srgbClr val="1B4039"/>
                </a:solidFill>
                <a:latin typeface="Stack Sans Headline Medium" pitchFamily="34" charset="0"/>
                <a:ea typeface="Stack Sans Headline Medium" pitchFamily="34" charset="-122"/>
                <a:cs typeface="Stack Sans Headline Medium" pitchFamily="34" charset="-120"/>
              </a:rPr>
              <a:t>Stansfield Thomas</a:t>
            </a:r>
            <a:endParaRPr lang="en-US" sz="2200" dirty="0"/>
          </a:p>
        </p:txBody>
      </p:sp>
      <p:sp>
        <p:nvSpPr>
          <p:cNvPr id="31" name="ocean:label"/>
          <p:cNvSpPr/>
          <p:nvPr/>
        </p:nvSpPr>
        <p:spPr>
          <a:xfrm>
            <a:off x="548640" y="3776472"/>
            <a:ext cx="3515258" cy="365760"/>
          </a:xfrm>
          <a:prstGeom prst="rect">
            <a:avLst/>
          </a:prstGeom>
          <a:noFill/>
          <a:ln/>
        </p:spPr>
        <p:txBody>
          <a:bodyPr wrap="square" lIns="0" tIns="0" rIns="0" bIns="0" rtlCol="0" anchor="t"/>
          <a:lstStyle/>
          <a:p>
            <a:pPr algn="l" indent="0" marL="0">
              <a:lnSpc>
                <a:spcPts val="1400"/>
              </a:lnSpc>
              <a:buNone/>
            </a:pPr>
            <a:r>
              <a:rPr lang="en-US" sz="950" b="1" spc="238" kern="0" dirty="0">
                <a:solidFill>
                  <a:srgbClr val="1B4039"/>
                </a:solidFill>
                <a:latin typeface="Stack Sans Headline" pitchFamily="34" charset="0"/>
                <a:ea typeface="Stack Sans Headline" pitchFamily="34" charset="-122"/>
                <a:cs typeface="Stack Sans Headline" pitchFamily="34" charset="-120"/>
              </a:rPr>
              <a:t>FOUNDER</a:t>
            </a:r>
            <a:endParaRPr lang="en-US" sz="950" dirty="0"/>
          </a:p>
        </p:txBody>
      </p:sp>
      <p:sp>
        <p:nvSpPr>
          <p:cNvPr id="32" name="ocean:body"/>
          <p:cNvSpPr/>
          <p:nvPr/>
        </p:nvSpPr>
        <p:spPr>
          <a:xfrm>
            <a:off x="548640" y="4187952"/>
            <a:ext cx="3515258" cy="2167128"/>
          </a:xfrm>
          <a:prstGeom prst="rect">
            <a:avLst/>
          </a:prstGeom>
          <a:noFill/>
          <a:ln/>
        </p:spPr>
        <p:txBody>
          <a:bodyPr wrap="square" lIns="0" tIns="0" rIns="0" bIns="0" rtlCol="0" anchor="t"/>
          <a:lstStyle/>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Leads strategy, commercial development,</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partnerships, capital relationships and</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market expansion. Background spans</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technology commercialization, direct sales,</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connected technologies, operations,</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marketing and renewable-energy financial</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strategy.</a:t>
            </a:r>
            <a:endParaRPr lang="en-US" sz="1300" dirty="0"/>
          </a:p>
        </p:txBody>
      </p:sp>
      <p:sp>
        <p:nvSpPr>
          <p:cNvPr id="33" name="Shape 29"/>
          <p:cNvSpPr/>
          <p:nvPr/>
        </p:nvSpPr>
        <p:spPr>
          <a:xfrm>
            <a:off x="4338218" y="3044952"/>
            <a:ext cx="3515258" cy="0"/>
          </a:xfrm>
          <a:prstGeom prst="line">
            <a:avLst/>
          </a:prstGeom>
          <a:noFill/>
          <a:ln w="12700">
            <a:solidFill>
              <a:srgbClr val="1B4039"/>
            </a:solidFill>
            <a:prstDash val="solid"/>
          </a:ln>
        </p:spPr>
      </p:sp>
      <p:sp>
        <p:nvSpPr>
          <p:cNvPr id="34" name="ocean:section"/>
          <p:cNvSpPr/>
          <p:nvPr/>
        </p:nvSpPr>
        <p:spPr>
          <a:xfrm>
            <a:off x="4338218" y="3273552"/>
            <a:ext cx="3515258" cy="457200"/>
          </a:xfrm>
          <a:prstGeom prst="rect">
            <a:avLst/>
          </a:prstGeom>
          <a:noFill/>
          <a:ln/>
        </p:spPr>
        <p:txBody>
          <a:bodyPr wrap="square" lIns="0" tIns="0" rIns="0" bIns="0" rtlCol="0" anchor="t"/>
          <a:lstStyle/>
          <a:p>
            <a:pPr algn="l" indent="0" marL="0">
              <a:lnSpc>
                <a:spcPts val="2728"/>
              </a:lnSpc>
              <a:buNone/>
            </a:pPr>
            <a:r>
              <a:rPr lang="en-US" sz="2200" spc="-22" kern="0" dirty="0">
                <a:solidFill>
                  <a:srgbClr val="1B4039"/>
                </a:solidFill>
                <a:latin typeface="Stack Sans Headline Medium" pitchFamily="34" charset="0"/>
                <a:ea typeface="Stack Sans Headline Medium" pitchFamily="34" charset="-122"/>
                <a:cs typeface="Stack Sans Headline Medium" pitchFamily="34" charset="-120"/>
              </a:rPr>
              <a:t>Sierra Zymola</a:t>
            </a:r>
            <a:endParaRPr lang="en-US" sz="2200" dirty="0"/>
          </a:p>
        </p:txBody>
      </p:sp>
      <p:sp>
        <p:nvSpPr>
          <p:cNvPr id="35" name="ocean:label"/>
          <p:cNvSpPr/>
          <p:nvPr/>
        </p:nvSpPr>
        <p:spPr>
          <a:xfrm>
            <a:off x="4338218" y="3776472"/>
            <a:ext cx="3515258" cy="365760"/>
          </a:xfrm>
          <a:prstGeom prst="rect">
            <a:avLst/>
          </a:prstGeom>
          <a:noFill/>
          <a:ln/>
        </p:spPr>
        <p:txBody>
          <a:bodyPr wrap="square" lIns="0" tIns="0" rIns="0" bIns="0" rtlCol="0" anchor="t"/>
          <a:lstStyle/>
          <a:p>
            <a:pPr algn="l" indent="0" marL="0">
              <a:lnSpc>
                <a:spcPts val="1400"/>
              </a:lnSpc>
              <a:buNone/>
            </a:pPr>
            <a:r>
              <a:rPr lang="en-US" sz="950" b="1" spc="238" kern="0" dirty="0">
                <a:solidFill>
                  <a:srgbClr val="1B4039"/>
                </a:solidFill>
                <a:latin typeface="Stack Sans Headline" pitchFamily="34" charset="0"/>
                <a:ea typeface="Stack Sans Headline" pitchFamily="34" charset="-122"/>
                <a:cs typeface="Stack Sans Headline" pitchFamily="34" charset="-120"/>
              </a:rPr>
              <a:t>DIRECTOR OF OPERATIONS</a:t>
            </a:r>
            <a:endParaRPr lang="en-US" sz="950" dirty="0"/>
          </a:p>
        </p:txBody>
      </p:sp>
      <p:sp>
        <p:nvSpPr>
          <p:cNvPr id="36" name="ocean:body"/>
          <p:cNvSpPr/>
          <p:nvPr/>
        </p:nvSpPr>
        <p:spPr>
          <a:xfrm>
            <a:off x="4338218" y="4187952"/>
            <a:ext cx="3515258" cy="2167128"/>
          </a:xfrm>
          <a:prstGeom prst="rect">
            <a:avLst/>
          </a:prstGeom>
          <a:noFill/>
          <a:ln/>
        </p:spPr>
        <p:txBody>
          <a:bodyPr wrap="square" lIns="0" tIns="0" rIns="0" bIns="0" rtlCol="0" anchor="t"/>
          <a:lstStyle/>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Supports organizational strategy, executive</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operations, communications, project</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coordination and stakeholder alignment</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across energy, construction, water and</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infrastructure initiatives.</a:t>
            </a:r>
            <a:endParaRPr lang="en-US" sz="1300" dirty="0"/>
          </a:p>
        </p:txBody>
      </p:sp>
      <p:sp>
        <p:nvSpPr>
          <p:cNvPr id="37" name="Shape 33"/>
          <p:cNvSpPr/>
          <p:nvPr/>
        </p:nvSpPr>
        <p:spPr>
          <a:xfrm>
            <a:off x="8127797" y="3044952"/>
            <a:ext cx="3515258" cy="0"/>
          </a:xfrm>
          <a:prstGeom prst="line">
            <a:avLst/>
          </a:prstGeom>
          <a:noFill/>
          <a:ln w="12700">
            <a:solidFill>
              <a:srgbClr val="1B4039"/>
            </a:solidFill>
            <a:prstDash val="solid"/>
          </a:ln>
        </p:spPr>
      </p:sp>
      <p:sp>
        <p:nvSpPr>
          <p:cNvPr id="38" name="ocean:section"/>
          <p:cNvSpPr/>
          <p:nvPr/>
        </p:nvSpPr>
        <p:spPr>
          <a:xfrm>
            <a:off x="8127797" y="3273552"/>
            <a:ext cx="3515258" cy="457200"/>
          </a:xfrm>
          <a:prstGeom prst="rect">
            <a:avLst/>
          </a:prstGeom>
          <a:noFill/>
          <a:ln/>
        </p:spPr>
        <p:txBody>
          <a:bodyPr wrap="square" lIns="0" tIns="0" rIns="0" bIns="0" rtlCol="0" anchor="t"/>
          <a:lstStyle/>
          <a:p>
            <a:pPr algn="l" indent="0" marL="0">
              <a:lnSpc>
                <a:spcPts val="2728"/>
              </a:lnSpc>
              <a:buNone/>
            </a:pPr>
            <a:r>
              <a:rPr lang="en-US" sz="2200" spc="-22" kern="0" dirty="0">
                <a:solidFill>
                  <a:srgbClr val="1B4039"/>
                </a:solidFill>
                <a:latin typeface="Stack Sans Headline Medium" pitchFamily="34" charset="0"/>
                <a:ea typeface="Stack Sans Headline Medium" pitchFamily="34" charset="-122"/>
                <a:cs typeface="Stack Sans Headline Medium" pitchFamily="34" charset="-120"/>
              </a:rPr>
              <a:t>Mark Greene</a:t>
            </a:r>
            <a:endParaRPr lang="en-US" sz="2200" dirty="0"/>
          </a:p>
        </p:txBody>
      </p:sp>
      <p:sp>
        <p:nvSpPr>
          <p:cNvPr id="39" name="ocean:label"/>
          <p:cNvSpPr/>
          <p:nvPr/>
        </p:nvSpPr>
        <p:spPr>
          <a:xfrm>
            <a:off x="8127797" y="3776472"/>
            <a:ext cx="3515258" cy="365760"/>
          </a:xfrm>
          <a:prstGeom prst="rect">
            <a:avLst/>
          </a:prstGeom>
          <a:noFill/>
          <a:ln/>
        </p:spPr>
        <p:txBody>
          <a:bodyPr wrap="square" lIns="0" tIns="0" rIns="0" bIns="0" rtlCol="0" anchor="t"/>
          <a:lstStyle/>
          <a:p>
            <a:pPr algn="l" indent="0" marL="0">
              <a:lnSpc>
                <a:spcPts val="1400"/>
              </a:lnSpc>
              <a:buNone/>
            </a:pPr>
            <a:r>
              <a:rPr lang="en-US" sz="950" b="1" spc="238" kern="0" dirty="0">
                <a:solidFill>
                  <a:srgbClr val="1B4039"/>
                </a:solidFill>
                <a:latin typeface="Stack Sans Headline" pitchFamily="34" charset="0"/>
                <a:ea typeface="Stack Sans Headline" pitchFamily="34" charset="-122"/>
                <a:cs typeface="Stack Sans Headline" pitchFamily="34" charset="-120"/>
              </a:rPr>
              <a:t>ELECTRICAL DIRECTOR</a:t>
            </a:r>
            <a:endParaRPr lang="en-US" sz="950" dirty="0"/>
          </a:p>
        </p:txBody>
      </p:sp>
      <p:sp>
        <p:nvSpPr>
          <p:cNvPr id="40" name="ocean:body"/>
          <p:cNvSpPr/>
          <p:nvPr/>
        </p:nvSpPr>
        <p:spPr>
          <a:xfrm>
            <a:off x="8127797" y="4187952"/>
            <a:ext cx="3515258" cy="2167128"/>
          </a:xfrm>
          <a:prstGeom prst="rect">
            <a:avLst/>
          </a:prstGeom>
          <a:noFill/>
          <a:ln/>
        </p:spPr>
        <p:txBody>
          <a:bodyPr wrap="square" lIns="0" tIns="0" rIns="0" bIns="0" rtlCol="0" anchor="t"/>
          <a:lstStyle/>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Director of Electrical &amp; Infrastructure. Master</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Electrician with 30+ years in commercial and</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industrial electrical systems, renewables, EV</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charging, fiber, data-center infrastructure,</a:t>
            </a:r>
            <a:endParaRPr lang="en-US" sz="1300" dirty="0"/>
          </a:p>
          <a:p>
            <a:pPr algn="l" indent="0" marL="0">
              <a:lnSpc>
                <a:spcPts val="1900"/>
              </a:lnSpc>
              <a:buNone/>
            </a:pPr>
            <a:r>
              <a:rPr lang="en-US" sz="1300" dirty="0">
                <a:solidFill>
                  <a:srgbClr val="1B4039"/>
                </a:solidFill>
                <a:latin typeface="Stack Sans Headline" pitchFamily="34" charset="0"/>
                <a:ea typeface="Stack Sans Headline" pitchFamily="34" charset="-122"/>
                <a:cs typeface="Stack Sans Headline" pitchFamily="34" charset="-120"/>
              </a:rPr>
              <a:t>commissioning and field delivery.</a:t>
            </a:r>
            <a:endParaRPr lang="en-US" sz="1300" dirty="0"/>
          </a:p>
        </p:txBody>
      </p:sp>
      <p:sp>
        <p:nvSpPr>
          <p:cNvPr id="41"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5CCA0"/>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1B4039"/>
            </a:solidFill>
            <a:prstDash val="solid"/>
          </a:ln>
        </p:spPr>
      </p:sp>
      <p:pic>
        <p:nvPicPr>
          <p:cNvPr id="4" name="ocean:logo-horizontal" descr="/home/runner/work/ocean-brand-system/ocean-brand-system/assets/logos/png/logo_horizontal_cedar.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1B4039"/>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B4039"/>
                </a:solidFill>
                <a:latin typeface="Stack Sans Headline" pitchFamily="34" charset="0"/>
                <a:ea typeface="Stack Sans Headline" pitchFamily="34" charset="-122"/>
                <a:cs typeface="Stack Sans Headline" pitchFamily="34" charset="-120"/>
              </a:rPr>
              <a:t>06</a:t>
            </a:r>
            <a:endParaRPr lang="en-US" sz="900" dirty="0"/>
          </a:p>
        </p:txBody>
      </p:sp>
      <p:sp>
        <p:nvSpPr>
          <p:cNvPr id="8" name="Shape 4"/>
          <p:cNvSpPr/>
          <p:nvPr/>
        </p:nvSpPr>
        <p:spPr>
          <a:xfrm>
            <a:off x="3533140" y="329184"/>
            <a:ext cx="0" cy="609600"/>
          </a:xfrm>
          <a:prstGeom prst="line">
            <a:avLst/>
          </a:prstGeom>
          <a:noFill/>
          <a:ln w="12700">
            <a:solidFill>
              <a:srgbClr val="1B4039"/>
            </a:solidFill>
            <a:prstDash val="solid"/>
          </a:ln>
        </p:spPr>
      </p:sp>
      <p:sp>
        <p:nvSpPr>
          <p:cNvPr id="9"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PLATFORM</a:t>
            </a:r>
            <a:endParaRPr lang="en-US" sz="900" dirty="0"/>
          </a:p>
        </p:txBody>
      </p:sp>
      <p:sp>
        <p:nvSpPr>
          <p:cNvPr id="10" name="Shape 6"/>
          <p:cNvSpPr/>
          <p:nvPr/>
        </p:nvSpPr>
        <p:spPr>
          <a:xfrm>
            <a:off x="4641126" y="515112"/>
            <a:ext cx="478803" cy="237744"/>
          </a:xfrm>
          <a:prstGeom prst="rect">
            <a:avLst/>
          </a:prstGeom>
          <a:solidFill>
            <a:srgbClr val="1B4039"/>
          </a:solidFill>
          <a:ln w="12700">
            <a:solidFill>
              <a:srgbClr val="1B4039"/>
            </a:solidFill>
            <a:prstDash val="solid"/>
          </a:ln>
        </p:spPr>
      </p:sp>
      <p:sp>
        <p:nvSpPr>
          <p:cNvPr id="11"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D5CCA0"/>
                </a:solidFill>
                <a:latin typeface="Stack Sans Headline" pitchFamily="34" charset="0"/>
                <a:ea typeface="Stack Sans Headline" pitchFamily="34" charset="-122"/>
                <a:cs typeface="Stack Sans Headline" pitchFamily="34" charset="-120"/>
              </a:rPr>
              <a:t>TEAM</a:t>
            </a:r>
            <a:endParaRPr lang="en-US" sz="900" dirty="0"/>
          </a:p>
        </p:txBody>
      </p:sp>
      <p:sp>
        <p:nvSpPr>
          <p:cNvPr id="12"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PARTNERS</a:t>
            </a:r>
            <a:endParaRPr lang="en-US" sz="900" dirty="0"/>
          </a:p>
        </p:txBody>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1B4039"/>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1B4039"/>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1B4039"/>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1B4039"/>
            </a:solidFill>
            <a:prstDash val="solid"/>
          </a:ln>
        </p:spPr>
      </p:sp>
      <p:sp>
        <p:nvSpPr>
          <p:cNvPr id="18"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01</a:t>
            </a:r>
            <a:endParaRPr lang="en-US" sz="1100" dirty="0"/>
          </a:p>
        </p:txBody>
      </p:sp>
      <p:sp>
        <p:nvSpPr>
          <p:cNvPr id="19" name="Shape 15"/>
          <p:cNvSpPr/>
          <p:nvPr/>
        </p:nvSpPr>
        <p:spPr>
          <a:xfrm>
            <a:off x="9966655" y="329184"/>
            <a:ext cx="0" cy="609600"/>
          </a:xfrm>
          <a:prstGeom prst="line">
            <a:avLst/>
          </a:prstGeom>
          <a:noFill/>
          <a:ln w="12700">
            <a:solidFill>
              <a:srgbClr val="1B4039"/>
            </a:solidFill>
            <a:prstDash val="solid"/>
          </a:ln>
        </p:spPr>
      </p:sp>
      <p:sp>
        <p:nvSpPr>
          <p:cNvPr id="20" name="Shape 16"/>
          <p:cNvSpPr/>
          <p:nvPr/>
        </p:nvSpPr>
        <p:spPr>
          <a:xfrm>
            <a:off x="9966655" y="329184"/>
            <a:ext cx="558800" cy="609600"/>
          </a:xfrm>
          <a:prstGeom prst="rect">
            <a:avLst/>
          </a:prstGeom>
          <a:solidFill>
            <a:srgbClr val="1B4039"/>
          </a:solidFill>
          <a:ln w="12700">
            <a:solidFill>
              <a:srgbClr val="1B4039"/>
            </a:solidFill>
            <a:prstDash val="solid"/>
          </a:ln>
        </p:spPr>
      </p:sp>
      <p:sp>
        <p:nvSpPr>
          <p:cNvPr id="21"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D5CCA0"/>
                </a:solidFill>
                <a:latin typeface="Stack Sans Headline" pitchFamily="34" charset="0"/>
                <a:ea typeface="Stack Sans Headline" pitchFamily="34" charset="-122"/>
                <a:cs typeface="Stack Sans Headline" pitchFamily="34" charset="-120"/>
              </a:rPr>
              <a:t>02</a:t>
            </a:r>
            <a:endParaRPr lang="en-US" sz="1100" dirty="0"/>
          </a:p>
        </p:txBody>
      </p:sp>
      <p:sp>
        <p:nvSpPr>
          <p:cNvPr id="22" name="Shape 18"/>
          <p:cNvSpPr/>
          <p:nvPr/>
        </p:nvSpPr>
        <p:spPr>
          <a:xfrm>
            <a:off x="10525455" y="329184"/>
            <a:ext cx="0" cy="609600"/>
          </a:xfrm>
          <a:prstGeom prst="line">
            <a:avLst/>
          </a:prstGeom>
          <a:noFill/>
          <a:ln w="12700">
            <a:solidFill>
              <a:srgbClr val="1B4039"/>
            </a:solidFill>
            <a:prstDash val="solid"/>
          </a:ln>
        </p:spPr>
      </p:sp>
      <p:sp>
        <p:nvSpPr>
          <p:cNvPr id="23"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03</a:t>
            </a:r>
            <a:endParaRPr lang="en-US" sz="1100" dirty="0"/>
          </a:p>
        </p:txBody>
      </p:sp>
      <p:sp>
        <p:nvSpPr>
          <p:cNvPr id="24" name="Shape 20"/>
          <p:cNvSpPr/>
          <p:nvPr/>
        </p:nvSpPr>
        <p:spPr>
          <a:xfrm>
            <a:off x="11084255" y="329184"/>
            <a:ext cx="0" cy="609600"/>
          </a:xfrm>
          <a:prstGeom prst="line">
            <a:avLst/>
          </a:prstGeom>
          <a:noFill/>
          <a:ln w="12700">
            <a:solidFill>
              <a:srgbClr val="1B4039"/>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1B4039"/>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1B4039"/>
                </a:solidFill>
                <a:latin typeface="Stack Sans Headline" pitchFamily="34" charset="0"/>
                <a:ea typeface="Stack Sans Headline" pitchFamily="34" charset="-122"/>
                <a:cs typeface="Stack Sans Headline" pitchFamily="34" charset="-120"/>
              </a:rPr>
              <a:t>02 EXECUTION</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1B4039"/>
                </a:solidFill>
                <a:latin typeface="Stack Sans Headline Medium" pitchFamily="34" charset="0"/>
                <a:ea typeface="Stack Sans Headline Medium" pitchFamily="34" charset="-122"/>
                <a:cs typeface="Stack Sans Headline Medium" pitchFamily="34" charset="-120"/>
              </a:rPr>
              <a:t>Ocean retains</a:t>
            </a:r>
            <a:endParaRPr lang="en-US" sz="3500" dirty="0"/>
          </a:p>
          <a:p>
            <a:pPr algn="l" indent="0" marL="0">
              <a:lnSpc>
                <a:spcPts val="3900"/>
              </a:lnSpc>
              <a:buNone/>
            </a:pPr>
            <a:r>
              <a:rPr lang="en-US" sz="3500" spc="-35" kern="0" dirty="0">
                <a:solidFill>
                  <a:srgbClr val="1B4039"/>
                </a:solidFill>
                <a:latin typeface="Stack Sans Headline Medium" pitchFamily="34" charset="0"/>
                <a:ea typeface="Stack Sans Headline Medium" pitchFamily="34" charset="-122"/>
                <a:cs typeface="Stack Sans Headline Medium" pitchFamily="34" charset="-120"/>
              </a:rPr>
              <a:t>project accountability</a:t>
            </a:r>
            <a:endParaRPr lang="en-US" sz="3500" dirty="0"/>
          </a:p>
        </p:txBody>
      </p:sp>
      <p:sp>
        <p:nvSpPr>
          <p:cNvPr id="28" name="ocean:lede"/>
          <p:cNvSpPr/>
          <p:nvPr/>
        </p:nvSpPr>
        <p:spPr>
          <a:xfrm>
            <a:off x="7040880" y="1572768"/>
            <a:ext cx="4602175" cy="1042416"/>
          </a:xfrm>
          <a:prstGeom prst="rect">
            <a:avLst/>
          </a:prstGeom>
          <a:noFill/>
          <a:ln/>
        </p:spPr>
        <p:txBody>
          <a:bodyPr wrap="square" lIns="0" tIns="0" rIns="0" bIns="0" rtlCol="0" anchor="b"/>
          <a:lstStyle/>
          <a:p>
            <a:pPr algn="l" indent="0" marL="0">
              <a:lnSpc>
                <a:spcPts val="1700"/>
              </a:lnSpc>
              <a:buNone/>
            </a:pPr>
            <a:r>
              <a:rPr lang="en-US" sz="1050" b="1" spc="263" kern="0" dirty="0">
                <a:solidFill>
                  <a:srgbClr val="1B4039"/>
                </a:solidFill>
                <a:latin typeface="Stack Sans Headline" pitchFamily="34" charset="0"/>
                <a:ea typeface="Stack Sans Headline" pitchFamily="34" charset="-122"/>
                <a:cs typeface="Stack Sans Headline" pitchFamily="34" charset="-120"/>
              </a:rPr>
              <a:t>SPECIALISTS SUPPORT DELIVERY WITHIN OCEAN</a:t>
            </a:r>
            <a:endParaRPr lang="en-US" sz="1050" dirty="0"/>
          </a:p>
          <a:p>
            <a:pPr algn="l" indent="0" marL="0">
              <a:lnSpc>
                <a:spcPts val="1700"/>
              </a:lnSpc>
              <a:buNone/>
            </a:pPr>
            <a:r>
              <a:rPr lang="en-US" sz="1050" b="1" spc="263" kern="0" dirty="0">
                <a:solidFill>
                  <a:srgbClr val="1B4039"/>
                </a:solidFill>
                <a:latin typeface="Stack Sans Headline" pitchFamily="34" charset="0"/>
                <a:ea typeface="Stack Sans Headline" pitchFamily="34" charset="-122"/>
                <a:cs typeface="Stack Sans Headline" pitchFamily="34" charset="-120"/>
              </a:rPr>
              <a:t>COMMERCIAL AND OPERATING STANDARDS.</a:t>
            </a:r>
            <a:endParaRPr lang="en-US" sz="1050" dirty="0"/>
          </a:p>
        </p:txBody>
      </p:sp>
      <p:sp>
        <p:nvSpPr>
          <p:cNvPr id="29" name="Shape 25"/>
          <p:cNvSpPr/>
          <p:nvPr/>
        </p:nvSpPr>
        <p:spPr>
          <a:xfrm>
            <a:off x="548640" y="2734056"/>
            <a:ext cx="11094415" cy="0"/>
          </a:xfrm>
          <a:prstGeom prst="line">
            <a:avLst/>
          </a:prstGeom>
          <a:noFill/>
          <a:ln w="12700">
            <a:solidFill>
              <a:srgbClr val="1B4039"/>
            </a:solidFill>
            <a:prstDash val="solid"/>
          </a:ln>
        </p:spPr>
      </p:sp>
      <p:pic>
        <p:nvPicPr>
          <p:cNvPr id="30" name="ocean:photo" descr="/home/runner/work/ocean-brand-system/ocean-brand-system/output/.cache/fit/solar-carport-campus-ff22483aa15a91bf.jpg">    </p:cNvPr>
          <p:cNvPicPr>
            <a:picLocks noChangeAspect="1"/>
          </p:cNvPicPr>
          <p:nvPr/>
        </p:nvPicPr>
        <p:blipFill>
          <a:blip r:embed="rId2"/>
          <a:stretch>
            <a:fillRect/>
          </a:stretch>
        </p:blipFill>
        <p:spPr>
          <a:xfrm>
            <a:off x="548640" y="3044952"/>
            <a:ext cx="6446520" cy="2834640"/>
          </a:xfrm>
          <a:prstGeom prst="rect">
            <a:avLst/>
          </a:prstGeom>
        </p:spPr>
      </p:pic>
      <p:sp>
        <p:nvSpPr>
          <p:cNvPr id="31" name="Shape 26"/>
          <p:cNvSpPr/>
          <p:nvPr/>
        </p:nvSpPr>
        <p:spPr>
          <a:xfrm flipV="1">
            <a:off x="544068" y="3040380"/>
            <a:ext cx="279400" cy="279400"/>
          </a:xfrm>
          <a:prstGeom prst="rtTriangle">
            <a:avLst/>
          </a:prstGeom>
          <a:solidFill>
            <a:srgbClr val="D5CCA0"/>
          </a:solidFill>
          <a:ln w="12700">
            <a:solidFill>
              <a:srgbClr val="D5CCA0"/>
            </a:solidFill>
            <a:prstDash val="solid"/>
          </a:ln>
        </p:spPr>
      </p:sp>
      <p:sp>
        <p:nvSpPr>
          <p:cNvPr id="32" name="ocean:frame"/>
          <p:cNvSpPr/>
          <p:nvPr/>
        </p:nvSpPr>
        <p:spPr>
          <a:xfrm>
            <a:off x="7223760" y="304495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B4039"/>
            </a:solidFill>
            <a:prstDash val="solid"/>
          </a:ln>
        </p:spPr>
      </p:sp>
      <p:sp>
        <p:nvSpPr>
          <p:cNvPr id="33" name="Shape 28"/>
          <p:cNvSpPr/>
          <p:nvPr/>
        </p:nvSpPr>
        <p:spPr>
          <a:xfrm>
            <a:off x="11387023" y="3172968"/>
            <a:ext cx="82550" cy="82550"/>
          </a:xfrm>
          <a:prstGeom prst="diamond">
            <a:avLst/>
          </a:prstGeom>
          <a:solidFill>
            <a:srgbClr val="1B4039"/>
          </a:solidFill>
          <a:ln w="12700">
            <a:solidFill>
              <a:srgbClr val="1B4039"/>
            </a:solidFill>
            <a:prstDash val="solid"/>
          </a:ln>
        </p:spPr>
      </p:sp>
      <p:sp>
        <p:nvSpPr>
          <p:cNvPr id="34" name="ocean:label"/>
          <p:cNvSpPr/>
          <p:nvPr/>
        </p:nvSpPr>
        <p:spPr>
          <a:xfrm>
            <a:off x="7406640" y="313639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B4039"/>
                </a:solidFill>
                <a:latin typeface="Stack Sans Headline Light" pitchFamily="34" charset="0"/>
                <a:ea typeface="Stack Sans Headline Light" pitchFamily="34" charset="-122"/>
                <a:cs typeface="Stack Sans Headline Light" pitchFamily="34" charset="-120"/>
              </a:rPr>
              <a:t>COMMERCIAL</a:t>
            </a:r>
            <a:endParaRPr lang="en-US" sz="950" dirty="0"/>
          </a:p>
        </p:txBody>
      </p:sp>
      <p:sp>
        <p:nvSpPr>
          <p:cNvPr id="35" name="ocean:body"/>
          <p:cNvSpPr/>
          <p:nvPr/>
        </p:nvSpPr>
        <p:spPr>
          <a:xfrm>
            <a:off x="7406640" y="335584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B4039"/>
                </a:solidFill>
                <a:latin typeface="Stack Sans Headline" pitchFamily="34" charset="0"/>
                <a:ea typeface="Stack Sans Headline" pitchFamily="34" charset="-122"/>
                <a:cs typeface="Stack Sans Headline" pitchFamily="34" charset="-120"/>
              </a:rPr>
              <a:t>Customer relationship and strategy</a:t>
            </a:r>
            <a:endParaRPr lang="en-US" sz="1400" dirty="0"/>
          </a:p>
        </p:txBody>
      </p:sp>
      <p:sp>
        <p:nvSpPr>
          <p:cNvPr id="36" name="ocean:frame"/>
          <p:cNvSpPr/>
          <p:nvPr/>
        </p:nvSpPr>
        <p:spPr>
          <a:xfrm>
            <a:off x="7223760" y="377647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B4039"/>
            </a:solidFill>
            <a:prstDash val="solid"/>
          </a:ln>
        </p:spPr>
      </p:sp>
      <p:sp>
        <p:nvSpPr>
          <p:cNvPr id="37" name="Shape 32"/>
          <p:cNvSpPr/>
          <p:nvPr/>
        </p:nvSpPr>
        <p:spPr>
          <a:xfrm>
            <a:off x="11387023" y="3904488"/>
            <a:ext cx="82550" cy="82550"/>
          </a:xfrm>
          <a:prstGeom prst="diamond">
            <a:avLst/>
          </a:prstGeom>
          <a:solidFill>
            <a:srgbClr val="1B4039"/>
          </a:solidFill>
          <a:ln w="12700">
            <a:solidFill>
              <a:srgbClr val="1B4039"/>
            </a:solidFill>
            <a:prstDash val="solid"/>
          </a:ln>
        </p:spPr>
      </p:sp>
      <p:sp>
        <p:nvSpPr>
          <p:cNvPr id="38" name="Shape 33"/>
          <p:cNvSpPr/>
          <p:nvPr/>
        </p:nvSpPr>
        <p:spPr>
          <a:xfrm>
            <a:off x="11247323" y="3904488"/>
            <a:ext cx="82550" cy="82550"/>
          </a:xfrm>
          <a:prstGeom prst="diamond">
            <a:avLst/>
          </a:prstGeom>
          <a:solidFill>
            <a:srgbClr val="1B4039"/>
          </a:solidFill>
          <a:ln w="12700">
            <a:solidFill>
              <a:srgbClr val="1B4039"/>
            </a:solidFill>
            <a:prstDash val="solid"/>
          </a:ln>
        </p:spPr>
      </p:sp>
      <p:sp>
        <p:nvSpPr>
          <p:cNvPr id="39" name="ocean:label"/>
          <p:cNvSpPr/>
          <p:nvPr/>
        </p:nvSpPr>
        <p:spPr>
          <a:xfrm>
            <a:off x="7406640" y="386791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B4039"/>
                </a:solidFill>
                <a:latin typeface="Stack Sans Headline Light" pitchFamily="34" charset="0"/>
                <a:ea typeface="Stack Sans Headline Light" pitchFamily="34" charset="-122"/>
                <a:cs typeface="Stack Sans Headline Light" pitchFamily="34" charset="-120"/>
              </a:rPr>
              <a:t>INTEGRATION</a:t>
            </a:r>
            <a:endParaRPr lang="en-US" sz="950" dirty="0"/>
          </a:p>
        </p:txBody>
      </p:sp>
      <p:sp>
        <p:nvSpPr>
          <p:cNvPr id="40" name="ocean:body"/>
          <p:cNvSpPr/>
          <p:nvPr/>
        </p:nvSpPr>
        <p:spPr>
          <a:xfrm>
            <a:off x="7406640" y="408736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B4039"/>
                </a:solidFill>
                <a:latin typeface="Stack Sans Headline" pitchFamily="34" charset="0"/>
                <a:ea typeface="Stack Sans Headline" pitchFamily="34" charset="-122"/>
                <a:cs typeface="Stack Sans Headline" pitchFamily="34" charset="-120"/>
              </a:rPr>
              <a:t>Project coordination and standards</a:t>
            </a:r>
            <a:endParaRPr lang="en-US" sz="1400" dirty="0"/>
          </a:p>
        </p:txBody>
      </p:sp>
      <p:sp>
        <p:nvSpPr>
          <p:cNvPr id="41" name="ocean:frame"/>
          <p:cNvSpPr/>
          <p:nvPr/>
        </p:nvSpPr>
        <p:spPr>
          <a:xfrm>
            <a:off x="7223760" y="4507992"/>
            <a:ext cx="4419295" cy="640080"/>
          </a:xfrm>
          <a:custGeom>
            <a:avLst/>
            <a:gdLst/>
            <a:ahLst/>
            <a:cxnLst/>
            <a:rect l="l" t="t" r="r" b="b"/>
            <a:pathLst>
              <a:path w="4419295" h="640080">
                <a:moveTo>
                  <a:pt x="76200" y="0"/>
                </a:moveTo>
                <a:lnTo>
                  <a:pt x="4343095" y="0"/>
                </a:lnTo>
                <a:quadBezTo>
                  <a:pt x="4419295" y="0"/>
                  <a:pt x="4419295" y="76200"/>
                </a:quadBezTo>
                <a:lnTo>
                  <a:pt x="4419295" y="487680"/>
                </a:lnTo>
                <a:lnTo>
                  <a:pt x="4266895" y="640080"/>
                </a:lnTo>
                <a:lnTo>
                  <a:pt x="76200" y="640080"/>
                </a:lnTo>
                <a:quadBezTo>
                  <a:pt x="0" y="640080"/>
                  <a:pt x="0" y="563880"/>
                </a:quadBezTo>
                <a:lnTo>
                  <a:pt x="0" y="76200"/>
                </a:lnTo>
                <a:quadBezTo>
                  <a:pt x="0" y="0"/>
                  <a:pt x="76200" y="0"/>
                </a:quadBezTo>
                <a:close/>
              </a:path>
            </a:pathLst>
          </a:custGeom>
          <a:ln w="9525">
            <a:solidFill>
              <a:srgbClr val="1B4039"/>
            </a:solidFill>
            <a:prstDash val="solid"/>
          </a:ln>
        </p:spPr>
      </p:sp>
      <p:sp>
        <p:nvSpPr>
          <p:cNvPr id="42" name="Shape 37"/>
          <p:cNvSpPr/>
          <p:nvPr/>
        </p:nvSpPr>
        <p:spPr>
          <a:xfrm>
            <a:off x="11387023" y="4636008"/>
            <a:ext cx="82550" cy="82550"/>
          </a:xfrm>
          <a:prstGeom prst="diamond">
            <a:avLst/>
          </a:prstGeom>
          <a:solidFill>
            <a:srgbClr val="1B4039"/>
          </a:solidFill>
          <a:ln w="12700">
            <a:solidFill>
              <a:srgbClr val="1B4039"/>
            </a:solidFill>
            <a:prstDash val="solid"/>
          </a:ln>
        </p:spPr>
      </p:sp>
      <p:sp>
        <p:nvSpPr>
          <p:cNvPr id="43" name="Shape 38"/>
          <p:cNvSpPr/>
          <p:nvPr/>
        </p:nvSpPr>
        <p:spPr>
          <a:xfrm>
            <a:off x="11247323" y="4636008"/>
            <a:ext cx="82550" cy="82550"/>
          </a:xfrm>
          <a:prstGeom prst="diamond">
            <a:avLst/>
          </a:prstGeom>
          <a:solidFill>
            <a:srgbClr val="1B4039"/>
          </a:solidFill>
          <a:ln w="12700">
            <a:solidFill>
              <a:srgbClr val="1B4039"/>
            </a:solidFill>
            <a:prstDash val="solid"/>
          </a:ln>
        </p:spPr>
      </p:sp>
      <p:sp>
        <p:nvSpPr>
          <p:cNvPr id="44" name="Shape 39"/>
          <p:cNvSpPr/>
          <p:nvPr/>
        </p:nvSpPr>
        <p:spPr>
          <a:xfrm>
            <a:off x="11107623" y="4636008"/>
            <a:ext cx="82550" cy="82550"/>
          </a:xfrm>
          <a:prstGeom prst="diamond">
            <a:avLst/>
          </a:prstGeom>
          <a:solidFill>
            <a:srgbClr val="1B4039"/>
          </a:solidFill>
          <a:ln w="12700">
            <a:solidFill>
              <a:srgbClr val="1B4039"/>
            </a:solidFill>
            <a:prstDash val="solid"/>
          </a:ln>
        </p:spPr>
      </p:sp>
      <p:sp>
        <p:nvSpPr>
          <p:cNvPr id="45" name="ocean:label"/>
          <p:cNvSpPr/>
          <p:nvPr/>
        </p:nvSpPr>
        <p:spPr>
          <a:xfrm>
            <a:off x="7406640" y="4599432"/>
            <a:ext cx="3322015" cy="182880"/>
          </a:xfrm>
          <a:prstGeom prst="rect">
            <a:avLst/>
          </a:prstGeom>
          <a:noFill/>
          <a:ln/>
        </p:spPr>
        <p:txBody>
          <a:bodyPr wrap="square" lIns="0" tIns="0" rIns="0" bIns="0" rtlCol="0" anchor="t"/>
          <a:lstStyle/>
          <a:p>
            <a:pPr algn="l" indent="0" marL="0">
              <a:lnSpc>
                <a:spcPts val="1178"/>
              </a:lnSpc>
              <a:buNone/>
            </a:pPr>
            <a:r>
              <a:rPr lang="en-US" sz="950" spc="238" kern="0" dirty="0">
                <a:solidFill>
                  <a:srgbClr val="1B4039"/>
                </a:solidFill>
                <a:latin typeface="Stack Sans Headline Light" pitchFamily="34" charset="0"/>
                <a:ea typeface="Stack Sans Headline Light" pitchFamily="34" charset="-122"/>
                <a:cs typeface="Stack Sans Headline Light" pitchFamily="34" charset="-120"/>
              </a:rPr>
              <a:t>EXECUTION</a:t>
            </a:r>
            <a:endParaRPr lang="en-US" sz="950" dirty="0"/>
          </a:p>
        </p:txBody>
      </p:sp>
      <p:sp>
        <p:nvSpPr>
          <p:cNvPr id="46" name="ocean:body"/>
          <p:cNvSpPr/>
          <p:nvPr/>
        </p:nvSpPr>
        <p:spPr>
          <a:xfrm>
            <a:off x="7406640" y="4818888"/>
            <a:ext cx="4053535" cy="274320"/>
          </a:xfrm>
          <a:prstGeom prst="rect">
            <a:avLst/>
          </a:prstGeom>
          <a:noFill/>
          <a:ln/>
        </p:spPr>
        <p:txBody>
          <a:bodyPr wrap="square" lIns="0" tIns="0" rIns="0" bIns="0" rtlCol="0" anchor="t"/>
          <a:lstStyle/>
          <a:p>
            <a:pPr algn="l" indent="0" marL="0">
              <a:lnSpc>
                <a:spcPts val="1736"/>
              </a:lnSpc>
              <a:buNone/>
            </a:pPr>
            <a:r>
              <a:rPr lang="en-US" sz="1400" b="1" dirty="0">
                <a:solidFill>
                  <a:srgbClr val="1B4039"/>
                </a:solidFill>
                <a:latin typeface="Stack Sans Headline" pitchFamily="34" charset="0"/>
                <a:ea typeface="Stack Sans Headline" pitchFamily="34" charset="-122"/>
                <a:cs typeface="Stack Sans Headline" pitchFamily="34" charset="-120"/>
              </a:rPr>
              <a:t>Qualified specialist partners</a:t>
            </a:r>
            <a:endParaRPr lang="en-US" sz="1400" dirty="0"/>
          </a:p>
        </p:txBody>
      </p:sp>
      <p:sp>
        <p:nvSpPr>
          <p:cNvPr id="47" name="ocean:body"/>
          <p:cNvSpPr/>
          <p:nvPr/>
        </p:nvSpPr>
        <p:spPr>
          <a:xfrm>
            <a:off x="548640" y="5971032"/>
            <a:ext cx="6446520" cy="365760"/>
          </a:xfrm>
          <a:prstGeom prst="rect">
            <a:avLst/>
          </a:prstGeom>
          <a:noFill/>
          <a:ln/>
        </p:spPr>
        <p:txBody>
          <a:bodyPr wrap="square" lIns="0" tIns="0" rIns="0" bIns="0" rtlCol="0" anchor="t"/>
          <a:lstStyle/>
          <a:p>
            <a:pPr algn="l" indent="0" marL="0">
              <a:lnSpc>
                <a:spcPts val="1488"/>
              </a:lnSpc>
              <a:buNone/>
            </a:pPr>
            <a:r>
              <a:rPr lang="en-US" sz="1200" dirty="0">
                <a:solidFill>
                  <a:srgbClr val="1B4039"/>
                </a:solidFill>
                <a:latin typeface="Stack Sans Headline" pitchFamily="34" charset="0"/>
                <a:ea typeface="Stack Sans Headline" pitchFamily="34" charset="-122"/>
                <a:cs typeface="Stack Sans Headline" pitchFamily="34" charset="-120"/>
              </a:rPr>
              <a:t>Ocean project photo: DJI_0482; no performance figures inferred</a:t>
            </a:r>
            <a:endParaRPr lang="en-US" sz="1200" dirty="0"/>
          </a:p>
        </p:txBody>
      </p:sp>
      <p:sp>
        <p:nvSpPr>
          <p:cNvPr id="48"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1B4039"/>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BF8"/>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6E734C"/>
            </a:solidFill>
            <a:prstDash val="solid"/>
          </a:ln>
        </p:spPr>
      </p:sp>
      <p:pic>
        <p:nvPicPr>
          <p:cNvPr id="4" name="ocean:logo-horizontal" descr="/home/runner/work/ocean-brand-system/ocean-brand-system/assets/logos/png/logo_horizontal_olive.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6E734C"/>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6E734C"/>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6E734C"/>
                </a:solidFill>
                <a:latin typeface="Stack Sans Headline" pitchFamily="34" charset="0"/>
                <a:ea typeface="Stack Sans Headline" pitchFamily="34" charset="-122"/>
                <a:cs typeface="Stack Sans Headline" pitchFamily="34" charset="-120"/>
              </a:rPr>
              <a:t>07</a:t>
            </a:r>
            <a:endParaRPr lang="en-US" sz="900" dirty="0"/>
          </a:p>
        </p:txBody>
      </p:sp>
      <p:sp>
        <p:nvSpPr>
          <p:cNvPr id="8" name="Shape 4"/>
          <p:cNvSpPr/>
          <p:nvPr/>
        </p:nvSpPr>
        <p:spPr>
          <a:xfrm>
            <a:off x="3533140" y="329184"/>
            <a:ext cx="0" cy="609600"/>
          </a:xfrm>
          <a:prstGeom prst="line">
            <a:avLst/>
          </a:prstGeom>
          <a:noFill/>
          <a:ln w="12700">
            <a:solidFill>
              <a:srgbClr val="6E734C"/>
            </a:solidFill>
            <a:prstDash val="solid"/>
          </a:ln>
        </p:spPr>
      </p:sp>
      <p:sp>
        <p:nvSpPr>
          <p:cNvPr id="9"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6E734C"/>
                </a:solidFill>
                <a:latin typeface="Stack Sans Headline" pitchFamily="34" charset="0"/>
                <a:ea typeface="Stack Sans Headline" pitchFamily="34" charset="-122"/>
                <a:cs typeface="Stack Sans Headline" pitchFamily="34" charset="-120"/>
              </a:rPr>
              <a:t>PLATFORM</a:t>
            </a:r>
            <a:endParaRPr lang="en-US" sz="900" dirty="0"/>
          </a:p>
        </p:txBody>
      </p:sp>
      <p:sp>
        <p:nvSpPr>
          <p:cNvPr id="10"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6E734C"/>
                </a:solidFill>
                <a:latin typeface="Stack Sans Headline" pitchFamily="34" charset="0"/>
                <a:ea typeface="Stack Sans Headline" pitchFamily="34" charset="-122"/>
                <a:cs typeface="Stack Sans Headline" pitchFamily="34" charset="-120"/>
              </a:rPr>
              <a:t>TEAM</a:t>
            </a:r>
            <a:endParaRPr lang="en-US" sz="900" dirty="0"/>
          </a:p>
        </p:txBody>
      </p:sp>
      <p:sp>
        <p:nvSpPr>
          <p:cNvPr id="11" name="Shape 7"/>
          <p:cNvSpPr/>
          <p:nvPr/>
        </p:nvSpPr>
        <p:spPr>
          <a:xfrm>
            <a:off x="5266233" y="515112"/>
            <a:ext cx="797585" cy="237744"/>
          </a:xfrm>
          <a:prstGeom prst="rect">
            <a:avLst/>
          </a:prstGeom>
          <a:solidFill>
            <a:srgbClr val="6E734C"/>
          </a:solidFill>
          <a:ln w="12700">
            <a:solidFill>
              <a:srgbClr val="6E734C"/>
            </a:solidFill>
            <a:prstDash val="solid"/>
          </a:ln>
        </p:spPr>
      </p:sp>
      <p:sp>
        <p:nvSpPr>
          <p:cNvPr id="12"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F3FBF8"/>
                </a:solidFill>
                <a:latin typeface="Stack Sans Headline" pitchFamily="34" charset="0"/>
                <a:ea typeface="Stack Sans Headline" pitchFamily="34" charset="-122"/>
                <a:cs typeface="Stack Sans Headline" pitchFamily="34" charset="-120"/>
              </a:rPr>
              <a:t>PARTNERS</a:t>
            </a:r>
            <a:endParaRPr lang="en-US" sz="900" dirty="0"/>
          </a:p>
        </p:txBody>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6E734C"/>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6E734C"/>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6E734C"/>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6E734C"/>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6E734C"/>
            </a:solidFill>
            <a:prstDash val="solid"/>
          </a:ln>
        </p:spPr>
      </p:sp>
      <p:sp>
        <p:nvSpPr>
          <p:cNvPr id="18"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6E734C"/>
                </a:solidFill>
                <a:latin typeface="Stack Sans Headline" pitchFamily="34" charset="0"/>
                <a:ea typeface="Stack Sans Headline" pitchFamily="34" charset="-122"/>
                <a:cs typeface="Stack Sans Headline" pitchFamily="34" charset="-120"/>
              </a:rPr>
              <a:t>01</a:t>
            </a:r>
            <a:endParaRPr lang="en-US" sz="1100" dirty="0"/>
          </a:p>
        </p:txBody>
      </p:sp>
      <p:sp>
        <p:nvSpPr>
          <p:cNvPr id="19" name="Shape 15"/>
          <p:cNvSpPr/>
          <p:nvPr/>
        </p:nvSpPr>
        <p:spPr>
          <a:xfrm>
            <a:off x="9966655" y="329184"/>
            <a:ext cx="0" cy="609600"/>
          </a:xfrm>
          <a:prstGeom prst="line">
            <a:avLst/>
          </a:prstGeom>
          <a:noFill/>
          <a:ln w="12700">
            <a:solidFill>
              <a:srgbClr val="6E734C"/>
            </a:solidFill>
            <a:prstDash val="solid"/>
          </a:ln>
        </p:spPr>
      </p:sp>
      <p:sp>
        <p:nvSpPr>
          <p:cNvPr id="20"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6E734C"/>
                </a:solidFill>
                <a:latin typeface="Stack Sans Headline" pitchFamily="34" charset="0"/>
                <a:ea typeface="Stack Sans Headline" pitchFamily="34" charset="-122"/>
                <a:cs typeface="Stack Sans Headline" pitchFamily="34" charset="-120"/>
              </a:rPr>
              <a:t>02</a:t>
            </a:r>
            <a:endParaRPr lang="en-US" sz="1100" dirty="0"/>
          </a:p>
        </p:txBody>
      </p:sp>
      <p:sp>
        <p:nvSpPr>
          <p:cNvPr id="21" name="Shape 17"/>
          <p:cNvSpPr/>
          <p:nvPr/>
        </p:nvSpPr>
        <p:spPr>
          <a:xfrm>
            <a:off x="10525455" y="329184"/>
            <a:ext cx="0" cy="609600"/>
          </a:xfrm>
          <a:prstGeom prst="line">
            <a:avLst/>
          </a:prstGeom>
          <a:noFill/>
          <a:ln w="12700">
            <a:solidFill>
              <a:srgbClr val="6E734C"/>
            </a:solidFill>
            <a:prstDash val="solid"/>
          </a:ln>
        </p:spPr>
      </p:sp>
      <p:sp>
        <p:nvSpPr>
          <p:cNvPr id="22" name="Shape 18"/>
          <p:cNvSpPr/>
          <p:nvPr/>
        </p:nvSpPr>
        <p:spPr>
          <a:xfrm>
            <a:off x="10525455" y="329184"/>
            <a:ext cx="558800" cy="609600"/>
          </a:xfrm>
          <a:prstGeom prst="rect">
            <a:avLst/>
          </a:prstGeom>
          <a:solidFill>
            <a:srgbClr val="6E734C"/>
          </a:solidFill>
          <a:ln w="12700">
            <a:solidFill>
              <a:srgbClr val="6E734C"/>
            </a:solidFill>
            <a:prstDash val="solid"/>
          </a:ln>
        </p:spPr>
      </p:sp>
      <p:sp>
        <p:nvSpPr>
          <p:cNvPr id="23"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F3FBF8"/>
                </a:solidFill>
                <a:latin typeface="Stack Sans Headline" pitchFamily="34" charset="0"/>
                <a:ea typeface="Stack Sans Headline" pitchFamily="34" charset="-122"/>
                <a:cs typeface="Stack Sans Headline" pitchFamily="34" charset="-120"/>
              </a:rPr>
              <a:t>03</a:t>
            </a:r>
            <a:endParaRPr lang="en-US" sz="1100" dirty="0"/>
          </a:p>
        </p:txBody>
      </p:sp>
      <p:sp>
        <p:nvSpPr>
          <p:cNvPr id="24" name="Shape 20"/>
          <p:cNvSpPr/>
          <p:nvPr/>
        </p:nvSpPr>
        <p:spPr>
          <a:xfrm>
            <a:off x="11084255" y="329184"/>
            <a:ext cx="0" cy="609600"/>
          </a:xfrm>
          <a:prstGeom prst="line">
            <a:avLst/>
          </a:prstGeom>
          <a:noFill/>
          <a:ln w="12700">
            <a:solidFill>
              <a:srgbClr val="6E734C"/>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6E734C"/>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6E734C"/>
                </a:solidFill>
                <a:latin typeface="Stack Sans Headline" pitchFamily="34" charset="0"/>
                <a:ea typeface="Stack Sans Headline" pitchFamily="34" charset="-122"/>
                <a:cs typeface="Stack Sans Headline" pitchFamily="34" charset="-120"/>
              </a:rPr>
              <a:t>03 PARTNERS</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6E734C"/>
                </a:solidFill>
                <a:latin typeface="Stack Sans Headline Medium" pitchFamily="34" charset="0"/>
                <a:ea typeface="Stack Sans Headline Medium" pitchFamily="34" charset="-122"/>
                <a:cs typeface="Stack Sans Headline Medium" pitchFamily="34" charset="-120"/>
              </a:rPr>
              <a:t>Specialist support</a:t>
            </a:r>
            <a:endParaRPr lang="en-US" sz="3500" dirty="0"/>
          </a:p>
          <a:p>
            <a:pPr algn="l" indent="0" marL="0">
              <a:lnSpc>
                <a:spcPts val="3900"/>
              </a:lnSpc>
              <a:buNone/>
            </a:pPr>
            <a:r>
              <a:rPr lang="en-US" sz="3500" spc="-35" kern="0" dirty="0">
                <a:solidFill>
                  <a:srgbClr val="6E734C"/>
                </a:solidFill>
                <a:latin typeface="Stack Sans Headline Medium" pitchFamily="34" charset="0"/>
                <a:ea typeface="Stack Sans Headline Medium" pitchFamily="34" charset="-122"/>
                <a:cs typeface="Stack Sans Headline Medium" pitchFamily="34" charset="-120"/>
              </a:rPr>
              <a:t>for project execution</a:t>
            </a:r>
            <a:endParaRPr lang="en-US" sz="3500" dirty="0"/>
          </a:p>
        </p:txBody>
      </p:sp>
      <p:sp>
        <p:nvSpPr>
          <p:cNvPr id="28" name="Shape 24"/>
          <p:cNvSpPr/>
          <p:nvPr/>
        </p:nvSpPr>
        <p:spPr>
          <a:xfrm>
            <a:off x="548640" y="2734056"/>
            <a:ext cx="11094415" cy="0"/>
          </a:xfrm>
          <a:prstGeom prst="line">
            <a:avLst/>
          </a:prstGeom>
          <a:noFill/>
          <a:ln w="12700">
            <a:solidFill>
              <a:srgbClr val="6E734C"/>
            </a:solidFill>
            <a:prstDash val="solid"/>
          </a:ln>
        </p:spPr>
      </p:sp>
      <p:graphicFrame>
        <p:nvGraphicFramePr>
          <p:cNvPr id="8" name="ocean:table"/>
          <p:cNvGraphicFramePr>
            <a:graphicFrameLocks noGrp="1"/>
          </p:cNvGraphicFramePr>
          <p:nvPr>
            <p:extLst>
              <p:ext uri="{D42A27DB-BD31-4B8C-83A1-F6EECF244321}">
                <p14:modId xmlns:p14="http://schemas.microsoft.com/office/powerpoint/2010/main" val="1579011935"/>
              </p:ext>
            </p:extLst>
          </p:nvPr>
        </p:nvGraphicFramePr>
        <p:xfrm>
          <a:off x="548640" y="3044952"/>
          <a:ext cx="11094415" cy="914400"/>
        </p:xfrm>
        <a:graphic>
          <a:graphicData uri="http://schemas.openxmlformats.org/drawingml/2006/table">
            <a:tbl>
              <a:tblPr/>
              <a:tblGrid>
                <a:gridCol w="3291840"/>
                <a:gridCol w="7802575"/>
              </a:tblGrid>
              <a:tr h="365760">
                <a:tc>
                  <a:txBody>
                    <a:bodyPr/>
                    <a:lstStyle/>
                    <a:p>
                      <a:pPr indent="0" marL="0">
                        <a:buNone/>
                      </a:pPr>
                      <a:r>
                        <a:rPr lang="en-US" sz="900" b="1" spc="225" kern="0" dirty="0">
                          <a:solidFill>
                            <a:srgbClr val="6E734C"/>
                          </a:solidFill>
                          <a:latin typeface="Stack Sans Headline" pitchFamily="34" charset="0"/>
                          <a:ea typeface="Stack Sans Headline" pitchFamily="34" charset="-122"/>
                          <a:cs typeface="Stack Sans Headline" pitchFamily="34" charset="-120"/>
                        </a:rPr>
                        <a:t>FUNCTION</a:t>
                      </a:r>
                      <a:endParaRPr lang="en-US" sz="9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15240" cap="flat" cmpd="sng" algn="ctr">
                      <a:solidFill>
                        <a:srgbClr val="6E734C"/>
                      </a:solidFill>
                      <a:prstDash val="solid"/>
                      <a:round/>
                      <a:headEnd type="none" w="med" len="med"/>
                      <a:tailEnd type="none" w="med" len="med"/>
                    </a:lnB>
                    <a:solidFill>
                      <a:srgbClr val="F3FBF8"/>
                    </a:solidFill>
                  </a:tcPr>
                </a:tc>
                <a:tc>
                  <a:txBody>
                    <a:bodyPr/>
                    <a:lstStyle/>
                    <a:p>
                      <a:pPr indent="0" marL="0">
                        <a:buNone/>
                      </a:pPr>
                      <a:r>
                        <a:rPr lang="en-US" sz="900" b="1" spc="225" kern="0" dirty="0">
                          <a:solidFill>
                            <a:srgbClr val="6E734C"/>
                          </a:solidFill>
                          <a:latin typeface="Stack Sans Headline" pitchFamily="34" charset="0"/>
                          <a:ea typeface="Stack Sans Headline" pitchFamily="34" charset="-122"/>
                          <a:cs typeface="Stack Sans Headline" pitchFamily="34" charset="-120"/>
                        </a:rPr>
                        <a:t>SUPPORT</a:t>
                      </a:r>
                      <a:endParaRPr lang="en-US" sz="9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15240" cap="flat" cmpd="sng" algn="ctr">
                      <a:solidFill>
                        <a:srgbClr val="6E734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Legal / risk</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Counsel, insurance and risk specialists</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Finance / tax</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CPA, controller and incentive professionals</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Engineering</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Licensed engineering partners</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Construction</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Contractors, trades and commissioning resources</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Technology</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EV, storage, water, fiber and controls partners</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r h="384048">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Capital</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c>
                  <a:txBody>
                    <a:bodyPr/>
                    <a:lstStyle/>
                    <a:p>
                      <a:pPr indent="0" marL="0">
                        <a:buNone/>
                      </a:pPr>
                      <a:r>
                        <a:rPr lang="en-US" sz="1300" dirty="0">
                          <a:solidFill>
                            <a:srgbClr val="6E734C"/>
                          </a:solidFill>
                          <a:latin typeface="Stack Sans Headline" pitchFamily="34" charset="0"/>
                          <a:ea typeface="Stack Sans Headline" pitchFamily="34" charset="-122"/>
                          <a:cs typeface="Stack Sans Headline" pitchFamily="34" charset="-120"/>
                        </a:rPr>
                        <a:t>Investors, lenders and strategic capital</a:t>
                      </a:r>
                      <a:endParaRPr lang="en-US" sz="1300" dirty="0">
                        <a:latin typeface="Stack Sans Headline" charset="0"/>
                        <a:ea typeface="Stack Sans Headline" charset="0"/>
                        <a:cs typeface="Stack Sans Headline" charset="0"/>
                      </a:endParaRPr>
                    </a:p>
                  </a:txBody>
                  <a:tcPr marL="0" marR="91440" marT="54864" marB="54864" anchor="ctr">
                    <a:lnL w="0" cap="flat" cmpd="sng" algn="ctr">
                      <a:noFill/>
                    </a:lnL>
                    <a:lnR w="0" cap="flat" cmpd="sng" algn="ctr">
                      <a:noFill/>
                    </a:lnR>
                    <a:lnT w="0" cap="flat" cmpd="sng" algn="ctr">
                      <a:noFill/>
                    </a:lnT>
                    <a:lnB w="6350" cap="flat" cmpd="sng" algn="ctr">
                      <a:solidFill>
                        <a:srgbClr val="618C7C"/>
                      </a:solidFill>
                      <a:prstDash val="solid"/>
                      <a:round/>
                      <a:headEnd type="none" w="med" len="med"/>
                      <a:tailEnd type="none" w="med" len="med"/>
                    </a:lnB>
                    <a:solidFill>
                      <a:srgbClr val="F3FBF8"/>
                    </a:solidFill>
                  </a:tcPr>
                </a:tc>
              </a:tr>
            </a:tbl>
          </a:graphicData>
        </a:graphic>
      </p:graphicFrame>
      <p:sp>
        <p:nvSpPr>
          <p:cNvPr id="30"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6E734C"/>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17"/>
        </a:solidFill>
      </p:bgPr>
    </p:bg>
    <p:spTree>
      <p:nvGrpSpPr>
        <p:cNvPr id="1" name=""/>
        <p:cNvGrpSpPr/>
        <p:nvPr/>
      </p:nvGrpSpPr>
      <p:grpSpPr>
        <a:xfrm>
          <a:off x="0" y="0"/>
          <a:ext cx="0" cy="0"/>
          <a:chOff x="0" y="0"/>
          <a:chExt cx="0" cy="0"/>
        </a:xfrm>
      </p:grpSpPr>
      <p:pic>
        <p:nvPicPr>
          <p:cNvPr id="2" name="ocean:texture" descr="/home/runner/work/ocean-brand-system/ocean-brand-system/assets/textures/tex_deck_blackmoss.png">    </p:cNvPr>
          <p:cNvPicPr>
            <a:picLocks noChangeAspect="1"/>
          </p:cNvPicPr>
          <p:nvPr/>
        </p:nvPicPr>
        <p:blipFill>
          <a:blip r:embed="rId1"/>
          <a:stretch>
            <a:fillRect/>
          </a:stretch>
        </p:blipFill>
        <p:spPr>
          <a:xfrm>
            <a:off x="0" y="0"/>
            <a:ext cx="12191695" cy="6858000"/>
          </a:xfrm>
          <a:prstGeom prst="rect">
            <a:avLst/>
          </a:prstGeom>
        </p:spPr>
      </p:pic>
      <p:pic>
        <p:nvPicPr>
          <p:cNvPr id="4" name="ocean:logo-graphic" descr="/home/runner/work/ocean-brand-system/ocean-brand-system/assets/logos/png/logo_graphic_honeydew.png">    </p:cNvPr>
          <p:cNvPicPr>
            <a:picLocks noChangeAspect="1"/>
          </p:cNvPicPr>
          <p:nvPr/>
        </p:nvPicPr>
        <p:blipFill>
          <a:blip r:embed="rId2"/>
          <a:stretch>
            <a:fillRect/>
          </a:stretch>
        </p:blipFill>
        <p:spPr>
          <a:xfrm>
            <a:off x="11287455" y="406400"/>
            <a:ext cx="355600" cy="355600"/>
          </a:xfrm>
          <a:prstGeom prst="rect">
            <a:avLst/>
          </a:prstGeom>
        </p:spPr>
      </p:pic>
      <p:sp>
        <p:nvSpPr>
          <p:cNvPr id="5" name="ocean:label"/>
          <p:cNvSpPr/>
          <p:nvPr/>
        </p:nvSpPr>
        <p:spPr>
          <a:xfrm>
            <a:off x="548640" y="3401568"/>
            <a:ext cx="49377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F3FBF8"/>
                </a:solidFill>
                <a:latin typeface="Stack Sans Headline" pitchFamily="34" charset="0"/>
                <a:ea typeface="Stack Sans Headline" pitchFamily="34" charset="-122"/>
                <a:cs typeface="Stack Sans Headline" pitchFamily="34" charset="-120"/>
              </a:rPr>
              <a:t>PLATFORM</a:t>
            </a:r>
            <a:endParaRPr lang="en-US" sz="1100" dirty="0"/>
          </a:p>
        </p:txBody>
      </p:sp>
      <p:sp>
        <p:nvSpPr>
          <p:cNvPr id="6" name="ocean:metric"/>
          <p:cNvSpPr/>
          <p:nvPr/>
        </p:nvSpPr>
        <p:spPr>
          <a:xfrm>
            <a:off x="512064" y="3639312"/>
            <a:ext cx="4754880" cy="2122932"/>
          </a:xfrm>
          <a:prstGeom prst="rect">
            <a:avLst/>
          </a:prstGeom>
          <a:noFill/>
          <a:ln/>
        </p:spPr>
        <p:txBody>
          <a:bodyPr wrap="square" lIns="0" tIns="0" rIns="0" bIns="0" rtlCol="0" anchor="t"/>
          <a:lstStyle/>
          <a:p>
            <a:pPr algn="l" indent="0" marL="0">
              <a:lnSpc>
                <a:spcPts val="16500"/>
              </a:lnSpc>
              <a:buNone/>
            </a:pPr>
            <a:r>
              <a:rPr lang="en-US" sz="16500" spc="-660" kern="0" dirty="0">
                <a:solidFill>
                  <a:srgbClr val="EB3819"/>
                </a:solidFill>
                <a:latin typeface="Stack Sans Headline Light" pitchFamily="34" charset="0"/>
                <a:ea typeface="Stack Sans Headline Light" pitchFamily="34" charset="-122"/>
                <a:cs typeface="Stack Sans Headline Light" pitchFamily="34" charset="-120"/>
              </a:rPr>
              <a:t>4</a:t>
            </a:r>
            <a:endParaRPr lang="en-US" sz="16500" dirty="0"/>
          </a:p>
        </p:txBody>
      </p:sp>
      <p:sp>
        <p:nvSpPr>
          <p:cNvPr id="7" name="ocean:statement"/>
          <p:cNvSpPr/>
          <p:nvPr/>
        </p:nvSpPr>
        <p:spPr>
          <a:xfrm>
            <a:off x="5458968" y="3931920"/>
            <a:ext cx="6217920" cy="1920240"/>
          </a:xfrm>
          <a:prstGeom prst="rect">
            <a:avLst/>
          </a:prstGeom>
          <a:noFill/>
          <a:ln/>
        </p:spPr>
        <p:txBody>
          <a:bodyPr wrap="square" lIns="0" tIns="0" rIns="0" bIns="0" rtlCol="0" anchor="t"/>
          <a:lstStyle/>
          <a:p>
            <a:pPr algn="l" indent="0" marL="0">
              <a:lnSpc>
                <a:spcPts val="4200"/>
              </a:lnSpc>
              <a:buNone/>
            </a:pPr>
            <a:r>
              <a:rPr lang="en-US" sz="3800" spc="-76" kern="0" dirty="0">
                <a:solidFill>
                  <a:srgbClr val="F3FBF8"/>
                </a:solidFill>
                <a:latin typeface="Stack Sans Headline Medium" pitchFamily="34" charset="0"/>
                <a:ea typeface="Stack Sans Headline Medium" pitchFamily="34" charset="-122"/>
                <a:cs typeface="Stack Sans Headline Medium" pitchFamily="34" charset="-120"/>
              </a:rPr>
              <a:t>operating pillars share one</a:t>
            </a:r>
            <a:endParaRPr lang="en-US" sz="3800" dirty="0"/>
          </a:p>
          <a:p>
            <a:pPr algn="l" indent="0" marL="0">
              <a:lnSpc>
                <a:spcPts val="4200"/>
              </a:lnSpc>
              <a:buNone/>
            </a:pPr>
            <a:r>
              <a:rPr lang="en-US" sz="3800" spc="-76" kern="0" dirty="0">
                <a:solidFill>
                  <a:srgbClr val="F3FBF8"/>
                </a:solidFill>
                <a:latin typeface="Stack Sans Headline Medium" pitchFamily="34" charset="0"/>
                <a:ea typeface="Stack Sans Headline Medium" pitchFamily="34" charset="-122"/>
                <a:cs typeface="Stack Sans Headline Medium" pitchFamily="34" charset="-120"/>
              </a:rPr>
              <a:t>integration layer</a:t>
            </a:r>
            <a:endParaRPr lang="en-US" sz="3800" dirty="0"/>
          </a:p>
        </p:txBody>
      </p:sp>
      <p:sp>
        <p:nvSpPr>
          <p:cNvPr id="8" name="Shape 3"/>
          <p:cNvSpPr/>
          <p:nvPr/>
        </p:nvSpPr>
        <p:spPr>
          <a:xfrm>
            <a:off x="548640" y="5969000"/>
            <a:ext cx="11094415" cy="0"/>
          </a:xfrm>
          <a:prstGeom prst="line">
            <a:avLst/>
          </a:prstGeom>
          <a:noFill/>
          <a:ln w="12700">
            <a:solidFill>
              <a:srgbClr val="F3FBF8"/>
            </a:solidFill>
            <a:prstDash val="solid"/>
          </a:ln>
        </p:spPr>
      </p:sp>
      <p:sp>
        <p:nvSpPr>
          <p:cNvPr id="9" name="ocean:meta"/>
          <p:cNvSpPr/>
          <p:nvPr/>
        </p:nvSpPr>
        <p:spPr>
          <a:xfrm>
            <a:off x="548640" y="6134100"/>
            <a:ext cx="580009" cy="201168"/>
          </a:xfrm>
          <a:prstGeom prst="rect">
            <a:avLst/>
          </a:prstGeom>
          <a:noFill/>
          <a:ln/>
        </p:spPr>
        <p:txBody>
          <a:bodyPr wrap="square" lIns="0" tIns="0" rIns="0" bIns="0" rtlCol="0" anchor="t"/>
          <a:lstStyle/>
          <a:p>
            <a:pPr algn="l" indent="0" marL="0">
              <a:lnSpc>
                <a:spcPts val="1240"/>
              </a:lnSpc>
              <a:buNone/>
            </a:pPr>
            <a:r>
              <a:rPr lang="en-US" sz="1000" spc="250" kern="0" dirty="0">
                <a:solidFill>
                  <a:srgbClr val="F3FBF8"/>
                </a:solidFill>
                <a:latin typeface="Stack Sans Headline Light" pitchFamily="34" charset="0"/>
                <a:ea typeface="Stack Sans Headline Light" pitchFamily="34" charset="-122"/>
                <a:cs typeface="Stack Sans Headline Light" pitchFamily="34" charset="-120"/>
              </a:rPr>
              <a:t>BASIS</a:t>
            </a:r>
            <a:endParaRPr lang="en-US" sz="1000" dirty="0"/>
          </a:p>
        </p:txBody>
      </p:sp>
      <p:sp>
        <p:nvSpPr>
          <p:cNvPr id="10" name="ocean:meta"/>
          <p:cNvSpPr/>
          <p:nvPr/>
        </p:nvSpPr>
        <p:spPr>
          <a:xfrm>
            <a:off x="1238377" y="6134100"/>
            <a:ext cx="1700911" cy="201168"/>
          </a:xfrm>
          <a:prstGeom prst="rect">
            <a:avLst/>
          </a:prstGeom>
          <a:noFill/>
          <a:ln/>
        </p:spPr>
        <p:txBody>
          <a:bodyPr wrap="square" lIns="0" tIns="0" rIns="0" bIns="0" rtlCol="0" anchor="t"/>
          <a:lstStyle/>
          <a:p>
            <a:pPr algn="l" indent="0" marL="0">
              <a:lnSpc>
                <a:spcPts val="1240"/>
              </a:lnSpc>
              <a:buNone/>
            </a:pPr>
            <a:r>
              <a:rPr lang="en-US" sz="1000" b="1" spc="250" kern="0" dirty="0">
                <a:solidFill>
                  <a:srgbClr val="F3FBF8"/>
                </a:solidFill>
                <a:latin typeface="Stack Sans Headline" pitchFamily="34" charset="0"/>
                <a:ea typeface="Stack Sans Headline" pitchFamily="34" charset="-122"/>
                <a:cs typeface="Stack Sans Headline" pitchFamily="34" charset="-120"/>
              </a:rPr>
              <a:t>OPERATING MODEL</a:t>
            </a:r>
            <a:endParaRPr lang="en-US" sz="1000" dirty="0"/>
          </a:p>
        </p:txBody>
      </p:sp>
      <p:sp>
        <p:nvSpPr>
          <p:cNvPr id="11" name="ocean:meta"/>
          <p:cNvSpPr/>
          <p:nvPr/>
        </p:nvSpPr>
        <p:spPr>
          <a:xfrm>
            <a:off x="3378200" y="6134100"/>
            <a:ext cx="717423" cy="201168"/>
          </a:xfrm>
          <a:prstGeom prst="rect">
            <a:avLst/>
          </a:prstGeom>
          <a:noFill/>
          <a:ln/>
        </p:spPr>
        <p:txBody>
          <a:bodyPr wrap="square" lIns="0" tIns="0" rIns="0" bIns="0" rtlCol="0" anchor="t"/>
          <a:lstStyle/>
          <a:p>
            <a:pPr algn="l" indent="0" marL="0">
              <a:lnSpc>
                <a:spcPts val="1240"/>
              </a:lnSpc>
              <a:buNone/>
            </a:pPr>
            <a:r>
              <a:rPr lang="en-US" sz="1000" spc="250" kern="0" dirty="0">
                <a:solidFill>
                  <a:srgbClr val="F3FBF8"/>
                </a:solidFill>
                <a:latin typeface="Stack Sans Headline Light" pitchFamily="34" charset="0"/>
                <a:ea typeface="Stack Sans Headline Light" pitchFamily="34" charset="-122"/>
                <a:cs typeface="Stack Sans Headline Light" pitchFamily="34" charset="-120"/>
              </a:rPr>
              <a:t>STATUS</a:t>
            </a:r>
            <a:endParaRPr lang="en-US" sz="1000" dirty="0"/>
          </a:p>
        </p:txBody>
      </p:sp>
      <p:sp>
        <p:nvSpPr>
          <p:cNvPr id="12" name="ocean:meta"/>
          <p:cNvSpPr/>
          <p:nvPr/>
        </p:nvSpPr>
        <p:spPr>
          <a:xfrm>
            <a:off x="4205351" y="6134100"/>
            <a:ext cx="640969" cy="201168"/>
          </a:xfrm>
          <a:prstGeom prst="rect">
            <a:avLst/>
          </a:prstGeom>
          <a:noFill/>
          <a:ln/>
        </p:spPr>
        <p:txBody>
          <a:bodyPr wrap="square" lIns="0" tIns="0" rIns="0" bIns="0" rtlCol="0" anchor="t"/>
          <a:lstStyle/>
          <a:p>
            <a:pPr algn="l" indent="0" marL="0">
              <a:lnSpc>
                <a:spcPts val="1240"/>
              </a:lnSpc>
              <a:buNone/>
            </a:pPr>
            <a:r>
              <a:rPr lang="en-US" sz="1000" b="1" spc="250" kern="0" dirty="0">
                <a:solidFill>
                  <a:srgbClr val="F3FBF8"/>
                </a:solidFill>
                <a:latin typeface="Stack Sans Headline" pitchFamily="34" charset="0"/>
                <a:ea typeface="Stack Sans Headline" pitchFamily="34" charset="-122"/>
                <a:cs typeface="Stack Sans Headline" pitchFamily="34" charset="-120"/>
              </a:rPr>
              <a:t>DRAFT</a:t>
            </a:r>
            <a:endParaRPr lang="en-US" sz="1000" dirty="0"/>
          </a:p>
        </p:txBody>
      </p:sp>
      <p:sp>
        <p:nvSpPr>
          <p:cNvPr id="13"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F3FBF8"/>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BF8"/>
        </a:solidFill>
      </p:bgPr>
    </p:bg>
    <p:spTree>
      <p:nvGrpSpPr>
        <p:cNvPr id="1" name=""/>
        <p:cNvGrpSpPr/>
        <p:nvPr/>
      </p:nvGrpSpPr>
      <p:grpSpPr>
        <a:xfrm>
          <a:off x="0" y="0"/>
          <a:ext cx="0" cy="0"/>
          <a:chOff x="0" y="0"/>
          <a:chExt cx="0" cy="0"/>
        </a:xfrm>
      </p:grpSpPr>
      <p:sp>
        <p:nvSpPr>
          <p:cNvPr id="3" name="ocean:header"/>
          <p:cNvSpPr/>
          <p:nvPr/>
        </p:nvSpPr>
        <p:spPr>
          <a:xfrm>
            <a:off x="548640" y="329184"/>
            <a:ext cx="11094415" cy="609600"/>
          </a:xfrm>
          <a:prstGeom prst="rect">
            <a:avLst/>
          </a:prstGeom>
          <a:ln w="12700">
            <a:solidFill>
              <a:srgbClr val="0B1617"/>
            </a:solidFill>
            <a:prstDash val="solid"/>
          </a:ln>
        </p:spPr>
      </p:sp>
      <p:pic>
        <p:nvPicPr>
          <p:cNvPr id="4" name="ocean:logo-horizontal" descr="/home/runner/work/ocean-brand-system/ocean-brand-system/assets/logos/png/logo_horizontal_blackmoss.png">    </p:cNvPr>
          <p:cNvPicPr>
            <a:picLocks noChangeAspect="1"/>
          </p:cNvPicPr>
          <p:nvPr/>
        </p:nvPicPr>
        <p:blipFill>
          <a:blip r:embed="rId1"/>
          <a:stretch>
            <a:fillRect/>
          </a:stretch>
        </p:blipFill>
        <p:spPr>
          <a:xfrm>
            <a:off x="726440" y="494284"/>
            <a:ext cx="1000657" cy="279400"/>
          </a:xfrm>
          <a:prstGeom prst="rect">
            <a:avLst/>
          </a:prstGeom>
        </p:spPr>
      </p:pic>
      <p:sp>
        <p:nvSpPr>
          <p:cNvPr id="5" name="Shape 1"/>
          <p:cNvSpPr/>
          <p:nvPr/>
        </p:nvSpPr>
        <p:spPr>
          <a:xfrm>
            <a:off x="2644140" y="329184"/>
            <a:ext cx="0" cy="609600"/>
          </a:xfrm>
          <a:prstGeom prst="line">
            <a:avLst/>
          </a:prstGeom>
          <a:noFill/>
          <a:ln w="12700">
            <a:solidFill>
              <a:srgbClr val="0B1617"/>
            </a:solidFill>
            <a:prstDash val="solid"/>
          </a:ln>
        </p:spPr>
      </p:sp>
      <p:sp>
        <p:nvSpPr>
          <p:cNvPr id="6" name="ocean:header"/>
          <p:cNvSpPr/>
          <p:nvPr/>
        </p:nvSpPr>
        <p:spPr>
          <a:xfrm>
            <a:off x="2783840" y="420624"/>
            <a:ext cx="70612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0B1617"/>
                </a:solidFill>
                <a:latin typeface="Stack Sans Headline Light" pitchFamily="34" charset="0"/>
                <a:ea typeface="Stack Sans Headline Light" pitchFamily="34" charset="-122"/>
                <a:cs typeface="Stack Sans Headline Light" pitchFamily="34" charset="-120"/>
              </a:rPr>
              <a:t>PAGE</a:t>
            </a:r>
            <a:endParaRPr lang="en-US" sz="900" dirty="0"/>
          </a:p>
        </p:txBody>
      </p:sp>
      <p:sp>
        <p:nvSpPr>
          <p:cNvPr id="7" name="ocean:header"/>
          <p:cNvSpPr/>
          <p:nvPr/>
        </p:nvSpPr>
        <p:spPr>
          <a:xfrm>
            <a:off x="2783840" y="630936"/>
            <a:ext cx="70612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0B1617"/>
                </a:solidFill>
                <a:latin typeface="Stack Sans Headline" pitchFamily="34" charset="0"/>
                <a:ea typeface="Stack Sans Headline" pitchFamily="34" charset="-122"/>
                <a:cs typeface="Stack Sans Headline" pitchFamily="34" charset="-120"/>
              </a:rPr>
              <a:t>09</a:t>
            </a:r>
            <a:endParaRPr lang="en-US" sz="900" dirty="0"/>
          </a:p>
        </p:txBody>
      </p:sp>
      <p:sp>
        <p:nvSpPr>
          <p:cNvPr id="8" name="Shape 4"/>
          <p:cNvSpPr/>
          <p:nvPr/>
        </p:nvSpPr>
        <p:spPr>
          <a:xfrm>
            <a:off x="3533140" y="329184"/>
            <a:ext cx="0" cy="609600"/>
          </a:xfrm>
          <a:prstGeom prst="line">
            <a:avLst/>
          </a:prstGeom>
          <a:noFill/>
          <a:ln w="12700">
            <a:solidFill>
              <a:srgbClr val="0B1617"/>
            </a:solidFill>
            <a:prstDash val="solid"/>
          </a:ln>
        </p:spPr>
      </p:sp>
      <p:sp>
        <p:nvSpPr>
          <p:cNvPr id="9" name="ocean:header"/>
          <p:cNvSpPr/>
          <p:nvPr/>
        </p:nvSpPr>
        <p:spPr>
          <a:xfrm>
            <a:off x="3751072" y="551688"/>
            <a:ext cx="807758"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0B1617"/>
                </a:solidFill>
                <a:latin typeface="Stack Sans Headline" pitchFamily="34" charset="0"/>
                <a:ea typeface="Stack Sans Headline" pitchFamily="34" charset="-122"/>
                <a:cs typeface="Stack Sans Headline" pitchFamily="34" charset="-120"/>
              </a:rPr>
              <a:t>PLATFORM</a:t>
            </a:r>
            <a:endParaRPr lang="en-US" sz="900" dirty="0"/>
          </a:p>
        </p:txBody>
      </p:sp>
      <p:sp>
        <p:nvSpPr>
          <p:cNvPr id="10" name="ocean:header"/>
          <p:cNvSpPr/>
          <p:nvPr/>
        </p:nvSpPr>
        <p:spPr>
          <a:xfrm>
            <a:off x="4705134" y="551688"/>
            <a:ext cx="47880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0B1617"/>
                </a:solidFill>
                <a:latin typeface="Stack Sans Headline" pitchFamily="34" charset="0"/>
                <a:ea typeface="Stack Sans Headline" pitchFamily="34" charset="-122"/>
                <a:cs typeface="Stack Sans Headline" pitchFamily="34" charset="-120"/>
              </a:rPr>
              <a:t>TEAM</a:t>
            </a:r>
            <a:endParaRPr lang="en-US" sz="900" dirty="0"/>
          </a:p>
        </p:txBody>
      </p:sp>
      <p:sp>
        <p:nvSpPr>
          <p:cNvPr id="11" name="ocean:header"/>
          <p:cNvSpPr/>
          <p:nvPr/>
        </p:nvSpPr>
        <p:spPr>
          <a:xfrm>
            <a:off x="5330241" y="551688"/>
            <a:ext cx="797585"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0B1617"/>
                </a:solidFill>
                <a:latin typeface="Stack Sans Headline" pitchFamily="34" charset="0"/>
                <a:ea typeface="Stack Sans Headline" pitchFamily="34" charset="-122"/>
                <a:cs typeface="Stack Sans Headline" pitchFamily="34" charset="-120"/>
              </a:rPr>
              <a:t>PARTNERS</a:t>
            </a:r>
            <a:endParaRPr lang="en-US" sz="900" dirty="0"/>
          </a:p>
        </p:txBody>
      </p:sp>
      <p:sp>
        <p:nvSpPr>
          <p:cNvPr id="12" name="Shape 8"/>
          <p:cNvSpPr/>
          <p:nvPr/>
        </p:nvSpPr>
        <p:spPr>
          <a:xfrm>
            <a:off x="6210122" y="515112"/>
            <a:ext cx="742493" cy="237744"/>
          </a:xfrm>
          <a:prstGeom prst="rect">
            <a:avLst/>
          </a:prstGeom>
          <a:solidFill>
            <a:srgbClr val="0B1617"/>
          </a:solidFill>
          <a:ln w="12700">
            <a:solidFill>
              <a:srgbClr val="0B1617"/>
            </a:solidFill>
            <a:prstDash val="solid"/>
          </a:ln>
        </p:spPr>
      </p:sp>
      <p:sp>
        <p:nvSpPr>
          <p:cNvPr id="13" name="ocean:header"/>
          <p:cNvSpPr/>
          <p:nvPr/>
        </p:nvSpPr>
        <p:spPr>
          <a:xfrm>
            <a:off x="6274130" y="551688"/>
            <a:ext cx="742493" cy="182880"/>
          </a:xfrm>
          <a:prstGeom prst="rect">
            <a:avLst/>
          </a:prstGeom>
          <a:noFill/>
          <a:ln/>
        </p:spPr>
        <p:txBody>
          <a:bodyPr wrap="square" lIns="0" tIns="0" rIns="0" bIns="0" rtlCol="0" anchor="t"/>
          <a:lstStyle/>
          <a:p>
            <a:pPr algn="l" indent="0" marL="0">
              <a:lnSpc>
                <a:spcPts val="1116"/>
              </a:lnSpc>
              <a:buNone/>
            </a:pPr>
            <a:r>
              <a:rPr lang="en-US" sz="900" b="1" spc="108" kern="0" dirty="0">
                <a:solidFill>
                  <a:srgbClr val="F3FBF8"/>
                </a:solidFill>
                <a:latin typeface="Stack Sans Headline" pitchFamily="34" charset="0"/>
                <a:ea typeface="Stack Sans Headline" pitchFamily="34" charset="-122"/>
                <a:cs typeface="Stack Sans Headline" pitchFamily="34" charset="-120"/>
              </a:rPr>
              <a:t>CONTACT</a:t>
            </a:r>
            <a:endParaRPr lang="en-US" sz="900" dirty="0"/>
          </a:p>
        </p:txBody>
      </p:sp>
      <p:sp>
        <p:nvSpPr>
          <p:cNvPr id="14" name="Shape 10"/>
          <p:cNvSpPr/>
          <p:nvPr/>
        </p:nvSpPr>
        <p:spPr>
          <a:xfrm>
            <a:off x="7312355" y="329184"/>
            <a:ext cx="0" cy="609600"/>
          </a:xfrm>
          <a:prstGeom prst="line">
            <a:avLst/>
          </a:prstGeom>
          <a:noFill/>
          <a:ln w="12700">
            <a:solidFill>
              <a:srgbClr val="0B1617"/>
            </a:solidFill>
            <a:prstDash val="solid"/>
          </a:ln>
        </p:spPr>
      </p:sp>
      <p:sp>
        <p:nvSpPr>
          <p:cNvPr id="15" name="ocean:header"/>
          <p:cNvSpPr/>
          <p:nvPr/>
        </p:nvSpPr>
        <p:spPr>
          <a:xfrm>
            <a:off x="7477455" y="420624"/>
            <a:ext cx="182118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0B1617"/>
                </a:solidFill>
                <a:latin typeface="Stack Sans Headline Light" pitchFamily="34" charset="0"/>
                <a:ea typeface="Stack Sans Headline Light" pitchFamily="34" charset="-122"/>
                <a:cs typeface="Stack Sans Headline Light" pitchFamily="34" charset="-120"/>
              </a:rPr>
              <a:t>COMPANY OVERVIEW</a:t>
            </a:r>
            <a:endParaRPr lang="en-US" sz="900" dirty="0"/>
          </a:p>
        </p:txBody>
      </p:sp>
      <p:sp>
        <p:nvSpPr>
          <p:cNvPr id="16" name="ocean:header"/>
          <p:cNvSpPr/>
          <p:nvPr/>
        </p:nvSpPr>
        <p:spPr>
          <a:xfrm>
            <a:off x="7477455" y="630936"/>
            <a:ext cx="1821180" cy="182880"/>
          </a:xfrm>
          <a:prstGeom prst="rect">
            <a:avLst/>
          </a:prstGeom>
          <a:noFill/>
          <a:ln/>
        </p:spPr>
        <p:txBody>
          <a:bodyPr wrap="square" lIns="0" tIns="0" rIns="0" bIns="0" rtlCol="0" anchor="t"/>
          <a:lstStyle/>
          <a:p>
            <a:pPr algn="l" indent="0" marL="0">
              <a:lnSpc>
                <a:spcPts val="1116"/>
              </a:lnSpc>
              <a:buNone/>
            </a:pPr>
            <a:r>
              <a:rPr lang="en-US" sz="900" b="1" spc="225" kern="0" dirty="0">
                <a:solidFill>
                  <a:srgbClr val="0B1617"/>
                </a:solidFill>
                <a:latin typeface="Stack Sans Headline" pitchFamily="34" charset="0"/>
                <a:ea typeface="Stack Sans Headline" pitchFamily="34" charset="-122"/>
                <a:cs typeface="Stack Sans Headline" pitchFamily="34" charset="-120"/>
              </a:rPr>
              <a:t>OCEAN RCS</a:t>
            </a:r>
            <a:endParaRPr lang="en-US" sz="900" dirty="0"/>
          </a:p>
        </p:txBody>
      </p:sp>
      <p:sp>
        <p:nvSpPr>
          <p:cNvPr id="17" name="Shape 13"/>
          <p:cNvSpPr/>
          <p:nvPr/>
        </p:nvSpPr>
        <p:spPr>
          <a:xfrm>
            <a:off x="9407855" y="329184"/>
            <a:ext cx="0" cy="609600"/>
          </a:xfrm>
          <a:prstGeom prst="line">
            <a:avLst/>
          </a:prstGeom>
          <a:noFill/>
          <a:ln w="12700">
            <a:solidFill>
              <a:srgbClr val="0B1617"/>
            </a:solidFill>
            <a:prstDash val="solid"/>
          </a:ln>
        </p:spPr>
      </p:sp>
      <p:sp>
        <p:nvSpPr>
          <p:cNvPr id="18" name="ocean:header"/>
          <p:cNvSpPr/>
          <p:nvPr/>
        </p:nvSpPr>
        <p:spPr>
          <a:xfrm>
            <a:off x="94535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0B1617"/>
                </a:solidFill>
                <a:latin typeface="Stack Sans Headline" pitchFamily="34" charset="0"/>
                <a:ea typeface="Stack Sans Headline" pitchFamily="34" charset="-122"/>
                <a:cs typeface="Stack Sans Headline" pitchFamily="34" charset="-120"/>
              </a:rPr>
              <a:t>01</a:t>
            </a:r>
            <a:endParaRPr lang="en-US" sz="1100" dirty="0"/>
          </a:p>
        </p:txBody>
      </p:sp>
      <p:sp>
        <p:nvSpPr>
          <p:cNvPr id="19" name="Shape 15"/>
          <p:cNvSpPr/>
          <p:nvPr/>
        </p:nvSpPr>
        <p:spPr>
          <a:xfrm>
            <a:off x="9966655" y="329184"/>
            <a:ext cx="0" cy="609600"/>
          </a:xfrm>
          <a:prstGeom prst="line">
            <a:avLst/>
          </a:prstGeom>
          <a:noFill/>
          <a:ln w="12700">
            <a:solidFill>
              <a:srgbClr val="0B1617"/>
            </a:solidFill>
            <a:prstDash val="solid"/>
          </a:ln>
        </p:spPr>
      </p:sp>
      <p:sp>
        <p:nvSpPr>
          <p:cNvPr id="20" name="ocean:header"/>
          <p:cNvSpPr/>
          <p:nvPr/>
        </p:nvSpPr>
        <p:spPr>
          <a:xfrm>
            <a:off x="100123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0B1617"/>
                </a:solidFill>
                <a:latin typeface="Stack Sans Headline" pitchFamily="34" charset="0"/>
                <a:ea typeface="Stack Sans Headline" pitchFamily="34" charset="-122"/>
                <a:cs typeface="Stack Sans Headline" pitchFamily="34" charset="-120"/>
              </a:rPr>
              <a:t>02</a:t>
            </a:r>
            <a:endParaRPr lang="en-US" sz="1100" dirty="0"/>
          </a:p>
        </p:txBody>
      </p:sp>
      <p:sp>
        <p:nvSpPr>
          <p:cNvPr id="21" name="Shape 17"/>
          <p:cNvSpPr/>
          <p:nvPr/>
        </p:nvSpPr>
        <p:spPr>
          <a:xfrm>
            <a:off x="10525455" y="329184"/>
            <a:ext cx="0" cy="609600"/>
          </a:xfrm>
          <a:prstGeom prst="line">
            <a:avLst/>
          </a:prstGeom>
          <a:noFill/>
          <a:ln w="12700">
            <a:solidFill>
              <a:srgbClr val="0B1617"/>
            </a:solidFill>
            <a:prstDash val="solid"/>
          </a:ln>
        </p:spPr>
      </p:sp>
      <p:sp>
        <p:nvSpPr>
          <p:cNvPr id="22" name="ocean:header"/>
          <p:cNvSpPr/>
          <p:nvPr/>
        </p:nvSpPr>
        <p:spPr>
          <a:xfrm>
            <a:off x="105711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0B1617"/>
                </a:solidFill>
                <a:latin typeface="Stack Sans Headline" pitchFamily="34" charset="0"/>
                <a:ea typeface="Stack Sans Headline" pitchFamily="34" charset="-122"/>
                <a:cs typeface="Stack Sans Headline" pitchFamily="34" charset="-120"/>
              </a:rPr>
              <a:t>03</a:t>
            </a:r>
            <a:endParaRPr lang="en-US" sz="1100" dirty="0"/>
          </a:p>
        </p:txBody>
      </p:sp>
      <p:sp>
        <p:nvSpPr>
          <p:cNvPr id="23" name="Shape 19"/>
          <p:cNvSpPr/>
          <p:nvPr/>
        </p:nvSpPr>
        <p:spPr>
          <a:xfrm>
            <a:off x="11084255" y="329184"/>
            <a:ext cx="0" cy="609600"/>
          </a:xfrm>
          <a:prstGeom prst="line">
            <a:avLst/>
          </a:prstGeom>
          <a:noFill/>
          <a:ln w="12700">
            <a:solidFill>
              <a:srgbClr val="0B1617"/>
            </a:solidFill>
            <a:prstDash val="solid"/>
          </a:ln>
        </p:spPr>
      </p:sp>
      <p:sp>
        <p:nvSpPr>
          <p:cNvPr id="24" name="Shape 20"/>
          <p:cNvSpPr/>
          <p:nvPr/>
        </p:nvSpPr>
        <p:spPr>
          <a:xfrm>
            <a:off x="11084255" y="329184"/>
            <a:ext cx="558800" cy="609600"/>
          </a:xfrm>
          <a:prstGeom prst="rect">
            <a:avLst/>
          </a:prstGeom>
          <a:solidFill>
            <a:srgbClr val="0B1617"/>
          </a:solidFill>
          <a:ln w="12700">
            <a:solidFill>
              <a:srgbClr val="0B1617"/>
            </a:solidFill>
            <a:prstDash val="solid"/>
          </a:ln>
        </p:spPr>
      </p:sp>
      <p:sp>
        <p:nvSpPr>
          <p:cNvPr id="25" name="ocean:header"/>
          <p:cNvSpPr/>
          <p:nvPr/>
        </p:nvSpPr>
        <p:spPr>
          <a:xfrm>
            <a:off x="11129975" y="542544"/>
            <a:ext cx="467360" cy="201168"/>
          </a:xfrm>
          <a:prstGeom prst="rect">
            <a:avLst/>
          </a:prstGeom>
          <a:noFill/>
          <a:ln/>
        </p:spPr>
        <p:txBody>
          <a:bodyPr wrap="square" lIns="0" tIns="0" rIns="0" bIns="0" rtlCol="0" anchor="t"/>
          <a:lstStyle/>
          <a:p>
            <a:pPr algn="ctr" indent="0" marL="0">
              <a:lnSpc>
                <a:spcPts val="1364"/>
              </a:lnSpc>
              <a:buNone/>
            </a:pPr>
            <a:r>
              <a:rPr lang="en-US" sz="1100" b="1" spc="110" kern="0" dirty="0">
                <a:solidFill>
                  <a:srgbClr val="F3FBF8"/>
                </a:solidFill>
                <a:latin typeface="Stack Sans Headline" pitchFamily="34" charset="0"/>
                <a:ea typeface="Stack Sans Headline" pitchFamily="34" charset="-122"/>
                <a:cs typeface="Stack Sans Headline" pitchFamily="34" charset="-120"/>
              </a:rPr>
              <a:t>04</a:t>
            </a:r>
            <a:endParaRPr lang="en-US" sz="1100" dirty="0"/>
          </a:p>
        </p:txBody>
      </p:sp>
      <p:sp>
        <p:nvSpPr>
          <p:cNvPr id="26" name="ocean:label"/>
          <p:cNvSpPr/>
          <p:nvPr/>
        </p:nvSpPr>
        <p:spPr>
          <a:xfrm>
            <a:off x="548640" y="1335024"/>
            <a:ext cx="6309360" cy="201168"/>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04 CONTACT</a:t>
            </a:r>
            <a:endParaRPr lang="en-US" sz="1100" dirty="0"/>
          </a:p>
        </p:txBody>
      </p:sp>
      <p:sp>
        <p:nvSpPr>
          <p:cNvPr id="27" name="ocean:headline"/>
          <p:cNvSpPr/>
          <p:nvPr/>
        </p:nvSpPr>
        <p:spPr>
          <a:xfrm>
            <a:off x="530352" y="1572768"/>
            <a:ext cx="6345936" cy="1042416"/>
          </a:xfrm>
          <a:prstGeom prst="rect">
            <a:avLst/>
          </a:prstGeom>
          <a:noFill/>
          <a:ln/>
        </p:spPr>
        <p:txBody>
          <a:bodyPr wrap="square" lIns="0" tIns="0" rIns="0" bIns="0" rtlCol="0" anchor="t"/>
          <a:lstStyle/>
          <a:p>
            <a:pPr algn="l" indent="0" marL="0">
              <a:lnSpc>
                <a:spcPts val="3900"/>
              </a:lnSpc>
              <a:buNone/>
            </a:pPr>
            <a:r>
              <a:rPr lang="en-US" sz="3500" spc="-35" kern="0" dirty="0">
                <a:solidFill>
                  <a:srgbClr val="0B1617"/>
                </a:solidFill>
                <a:latin typeface="Stack Sans Headline Medium" pitchFamily="34" charset="0"/>
                <a:ea typeface="Stack Sans Headline Medium" pitchFamily="34" charset="-122"/>
                <a:cs typeface="Stack Sans Headline Medium" pitchFamily="34" charset="-120"/>
              </a:rPr>
              <a:t>Company contact</a:t>
            </a:r>
            <a:endParaRPr lang="en-US" sz="3500" dirty="0"/>
          </a:p>
          <a:p>
            <a:pPr algn="l" indent="0" marL="0">
              <a:lnSpc>
                <a:spcPts val="3900"/>
              </a:lnSpc>
              <a:buNone/>
            </a:pPr>
            <a:r>
              <a:rPr lang="en-US" sz="3500" spc="-35" kern="0" dirty="0">
                <a:solidFill>
                  <a:srgbClr val="0B1617"/>
                </a:solidFill>
                <a:latin typeface="Stack Sans Headline Medium" pitchFamily="34" charset="0"/>
                <a:ea typeface="Stack Sans Headline Medium" pitchFamily="34" charset="-122"/>
                <a:cs typeface="Stack Sans Headline Medium" pitchFamily="34" charset="-120"/>
              </a:rPr>
              <a:t>&amp; capabilities</a:t>
            </a:r>
            <a:endParaRPr lang="en-US" sz="3500" dirty="0"/>
          </a:p>
        </p:txBody>
      </p:sp>
      <p:sp>
        <p:nvSpPr>
          <p:cNvPr id="28" name="Shape 24"/>
          <p:cNvSpPr/>
          <p:nvPr/>
        </p:nvSpPr>
        <p:spPr>
          <a:xfrm>
            <a:off x="548640" y="2734056"/>
            <a:ext cx="11094415" cy="0"/>
          </a:xfrm>
          <a:prstGeom prst="line">
            <a:avLst/>
          </a:prstGeom>
          <a:noFill/>
          <a:ln w="12700">
            <a:solidFill>
              <a:srgbClr val="0B1617"/>
            </a:solidFill>
            <a:prstDash val="solid"/>
          </a:ln>
        </p:spPr>
      </p:sp>
      <p:sp>
        <p:nvSpPr>
          <p:cNvPr id="29" name="ocean:frame"/>
          <p:cNvSpPr/>
          <p:nvPr/>
        </p:nvSpPr>
        <p:spPr>
          <a:xfrm>
            <a:off x="548640" y="3044952"/>
            <a:ext cx="5318608" cy="3127248"/>
          </a:xfrm>
          <a:custGeom>
            <a:avLst/>
            <a:gdLst/>
            <a:ahLst/>
            <a:cxnLst/>
            <a:rect l="l" t="t" r="r" b="b"/>
            <a:pathLst>
              <a:path w="5318608" h="3127248">
                <a:moveTo>
                  <a:pt x="114300" y="0"/>
                </a:moveTo>
                <a:lnTo>
                  <a:pt x="5204308" y="0"/>
                </a:lnTo>
                <a:quadBezTo>
                  <a:pt x="5318608" y="0"/>
                  <a:pt x="5318608" y="114300"/>
                </a:quadBezTo>
                <a:lnTo>
                  <a:pt x="5318608" y="2898648"/>
                </a:lnTo>
                <a:lnTo>
                  <a:pt x="5090008" y="3127248"/>
                </a:lnTo>
                <a:lnTo>
                  <a:pt x="114300" y="3127248"/>
                </a:lnTo>
                <a:quadBezTo>
                  <a:pt x="0" y="3127248"/>
                  <a:pt x="0" y="3012948"/>
                </a:quadBezTo>
                <a:lnTo>
                  <a:pt x="0" y="114300"/>
                </a:lnTo>
                <a:quadBezTo>
                  <a:pt x="0" y="0"/>
                  <a:pt x="114300" y="0"/>
                </a:quadBezTo>
                <a:close/>
              </a:path>
            </a:pathLst>
          </a:custGeom>
          <a:ln w="9525">
            <a:solidFill>
              <a:srgbClr val="0B1617"/>
            </a:solidFill>
            <a:prstDash val="solid"/>
          </a:ln>
        </p:spPr>
      </p:sp>
      <p:sp>
        <p:nvSpPr>
          <p:cNvPr id="30" name="Shape 26"/>
          <p:cNvSpPr/>
          <p:nvPr/>
        </p:nvSpPr>
        <p:spPr>
          <a:xfrm>
            <a:off x="5547208" y="3282696"/>
            <a:ext cx="82550" cy="82550"/>
          </a:xfrm>
          <a:prstGeom prst="diamond">
            <a:avLst/>
          </a:prstGeom>
          <a:solidFill>
            <a:srgbClr val="0B1617"/>
          </a:solidFill>
          <a:ln w="12700">
            <a:solidFill>
              <a:srgbClr val="0B1617"/>
            </a:solidFill>
            <a:prstDash val="solid"/>
          </a:ln>
        </p:spPr>
      </p:sp>
      <p:sp>
        <p:nvSpPr>
          <p:cNvPr id="31" name="ocean:section"/>
          <p:cNvSpPr/>
          <p:nvPr/>
        </p:nvSpPr>
        <p:spPr>
          <a:xfrm>
            <a:off x="777240" y="3246120"/>
            <a:ext cx="4221328" cy="22860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COMPANY</a:t>
            </a:r>
            <a:endParaRPr lang="en-US" sz="1100" dirty="0"/>
          </a:p>
        </p:txBody>
      </p:sp>
      <p:sp>
        <p:nvSpPr>
          <p:cNvPr id="32" name="Shape 28"/>
          <p:cNvSpPr/>
          <p:nvPr/>
        </p:nvSpPr>
        <p:spPr>
          <a:xfrm>
            <a:off x="777240" y="3703320"/>
            <a:ext cx="4861408" cy="0"/>
          </a:xfrm>
          <a:prstGeom prst="line">
            <a:avLst/>
          </a:prstGeom>
          <a:noFill/>
          <a:ln w="6350">
            <a:solidFill>
              <a:srgbClr val="0B1617"/>
            </a:solidFill>
            <a:prstDash val="solid"/>
          </a:ln>
        </p:spPr>
      </p:sp>
      <p:sp>
        <p:nvSpPr>
          <p:cNvPr id="33" name="ocean:body"/>
          <p:cNvSpPr/>
          <p:nvPr/>
        </p:nvSpPr>
        <p:spPr>
          <a:xfrm>
            <a:off x="777240" y="3813048"/>
            <a:ext cx="4861408" cy="566928"/>
          </a:xfrm>
          <a:prstGeom prst="rect">
            <a:avLst/>
          </a:prstGeom>
          <a:noFill/>
          <a:ln/>
        </p:spPr>
        <p:txBody>
          <a:bodyPr wrap="square" lIns="0" tIns="0" rIns="0" bIns="0" rtlCol="0" anchor="t"/>
          <a:lstStyle/>
          <a:p>
            <a:pPr algn="l" indent="0" marL="0">
              <a:lnSpc>
                <a:spcPts val="1860"/>
              </a:lnSpc>
              <a:buNone/>
            </a:pPr>
            <a:r>
              <a:rPr lang="en-US" sz="1500" dirty="0">
                <a:solidFill>
                  <a:srgbClr val="0B1617"/>
                </a:solidFill>
                <a:latin typeface="Stack Sans Headline" pitchFamily="34" charset="0"/>
                <a:ea typeface="Stack Sans Headline" pitchFamily="34" charset="-122"/>
                <a:cs typeface="Stack Sans Headline" pitchFamily="34" charset="-120"/>
              </a:rPr>
              <a:t>www.oceanrcs.com</a:t>
            </a:r>
            <a:endParaRPr lang="en-US" sz="1500" dirty="0"/>
          </a:p>
        </p:txBody>
      </p:sp>
      <p:sp>
        <p:nvSpPr>
          <p:cNvPr id="34" name="Shape 30"/>
          <p:cNvSpPr/>
          <p:nvPr/>
        </p:nvSpPr>
        <p:spPr>
          <a:xfrm>
            <a:off x="777240" y="4434840"/>
            <a:ext cx="4861408" cy="0"/>
          </a:xfrm>
          <a:prstGeom prst="line">
            <a:avLst/>
          </a:prstGeom>
          <a:noFill/>
          <a:ln w="6350">
            <a:solidFill>
              <a:srgbClr val="0B1617"/>
            </a:solidFill>
            <a:prstDash val="solid"/>
          </a:ln>
        </p:spPr>
      </p:sp>
      <p:sp>
        <p:nvSpPr>
          <p:cNvPr id="35" name="ocean:body"/>
          <p:cNvSpPr/>
          <p:nvPr/>
        </p:nvSpPr>
        <p:spPr>
          <a:xfrm>
            <a:off x="777240" y="4544568"/>
            <a:ext cx="4861408" cy="566928"/>
          </a:xfrm>
          <a:prstGeom prst="rect">
            <a:avLst/>
          </a:prstGeom>
          <a:noFill/>
          <a:ln/>
        </p:spPr>
        <p:txBody>
          <a:bodyPr wrap="square" lIns="0" tIns="0" rIns="0" bIns="0" rtlCol="0" anchor="t"/>
          <a:lstStyle/>
          <a:p>
            <a:pPr algn="l" indent="0" marL="0">
              <a:lnSpc>
                <a:spcPts val="1860"/>
              </a:lnSpc>
              <a:buNone/>
            </a:pPr>
            <a:r>
              <a:rPr lang="en-US" sz="1500" dirty="0">
                <a:solidFill>
                  <a:srgbClr val="0B1617"/>
                </a:solidFill>
                <a:latin typeface="Stack Sans Headline" pitchFamily="34" charset="0"/>
                <a:ea typeface="Stack Sans Headline" pitchFamily="34" charset="-122"/>
                <a:cs typeface="Stack Sans Headline" pitchFamily="34" charset="-120"/>
              </a:rPr>
              <a:t>info@oceanrcs.com</a:t>
            </a:r>
            <a:endParaRPr lang="en-US" sz="1500" dirty="0"/>
          </a:p>
        </p:txBody>
      </p:sp>
      <p:sp>
        <p:nvSpPr>
          <p:cNvPr id="36" name="ocean:frame"/>
          <p:cNvSpPr/>
          <p:nvPr/>
        </p:nvSpPr>
        <p:spPr>
          <a:xfrm>
            <a:off x="6324448" y="3044952"/>
            <a:ext cx="5318608" cy="3127248"/>
          </a:xfrm>
          <a:custGeom>
            <a:avLst/>
            <a:gdLst/>
            <a:ahLst/>
            <a:cxnLst/>
            <a:rect l="l" t="t" r="r" b="b"/>
            <a:pathLst>
              <a:path w="5318608" h="3127248">
                <a:moveTo>
                  <a:pt x="114300" y="0"/>
                </a:moveTo>
                <a:lnTo>
                  <a:pt x="5204308" y="0"/>
                </a:lnTo>
                <a:quadBezTo>
                  <a:pt x="5318608" y="0"/>
                  <a:pt x="5318608" y="114300"/>
                </a:quadBezTo>
                <a:lnTo>
                  <a:pt x="5318608" y="2898648"/>
                </a:lnTo>
                <a:lnTo>
                  <a:pt x="5090008" y="3127248"/>
                </a:lnTo>
                <a:lnTo>
                  <a:pt x="114300" y="3127248"/>
                </a:lnTo>
                <a:quadBezTo>
                  <a:pt x="0" y="3127248"/>
                  <a:pt x="0" y="3012948"/>
                </a:quadBezTo>
                <a:lnTo>
                  <a:pt x="0" y="114300"/>
                </a:lnTo>
                <a:quadBezTo>
                  <a:pt x="0" y="0"/>
                  <a:pt x="114300" y="0"/>
                </a:quadBezTo>
                <a:close/>
              </a:path>
            </a:pathLst>
          </a:custGeom>
          <a:ln w="9525">
            <a:solidFill>
              <a:srgbClr val="0B1617"/>
            </a:solidFill>
            <a:prstDash val="solid"/>
          </a:ln>
        </p:spPr>
      </p:sp>
      <p:sp>
        <p:nvSpPr>
          <p:cNvPr id="37" name="Shape 33"/>
          <p:cNvSpPr/>
          <p:nvPr/>
        </p:nvSpPr>
        <p:spPr>
          <a:xfrm>
            <a:off x="11323015" y="3282696"/>
            <a:ext cx="82550" cy="82550"/>
          </a:xfrm>
          <a:prstGeom prst="diamond">
            <a:avLst/>
          </a:prstGeom>
          <a:solidFill>
            <a:srgbClr val="0B1617"/>
          </a:solidFill>
          <a:ln w="12700">
            <a:solidFill>
              <a:srgbClr val="0B1617"/>
            </a:solidFill>
            <a:prstDash val="solid"/>
          </a:ln>
        </p:spPr>
      </p:sp>
      <p:sp>
        <p:nvSpPr>
          <p:cNvPr id="38" name="Shape 34"/>
          <p:cNvSpPr/>
          <p:nvPr/>
        </p:nvSpPr>
        <p:spPr>
          <a:xfrm>
            <a:off x="11183315" y="3282696"/>
            <a:ext cx="82550" cy="82550"/>
          </a:xfrm>
          <a:prstGeom prst="diamond">
            <a:avLst/>
          </a:prstGeom>
          <a:solidFill>
            <a:srgbClr val="0B1617"/>
          </a:solidFill>
          <a:ln w="12700">
            <a:solidFill>
              <a:srgbClr val="0B1617"/>
            </a:solidFill>
            <a:prstDash val="solid"/>
          </a:ln>
        </p:spPr>
      </p:sp>
      <p:sp>
        <p:nvSpPr>
          <p:cNvPr id="39" name="ocean:section"/>
          <p:cNvSpPr/>
          <p:nvPr/>
        </p:nvSpPr>
        <p:spPr>
          <a:xfrm>
            <a:off x="6553048" y="3246120"/>
            <a:ext cx="4221328" cy="228600"/>
          </a:xfrm>
          <a:prstGeom prst="rect">
            <a:avLst/>
          </a:prstGeom>
          <a:noFill/>
          <a:ln/>
        </p:spPr>
        <p:txBody>
          <a:bodyPr wrap="square" lIns="0" tIns="0" rIns="0" bIns="0" rtlCol="0" anchor="t"/>
          <a:lstStyle/>
          <a:p>
            <a:pPr algn="l" indent="0" marL="0">
              <a:lnSpc>
                <a:spcPts val="1364"/>
              </a:lnSpc>
              <a:buNone/>
            </a:pPr>
            <a:r>
              <a:rPr lang="en-US" sz="1100" b="1" spc="275" kern="0" dirty="0">
                <a:solidFill>
                  <a:srgbClr val="0B1617"/>
                </a:solidFill>
                <a:latin typeface="Stack Sans Headline" pitchFamily="34" charset="0"/>
                <a:ea typeface="Stack Sans Headline" pitchFamily="34" charset="-122"/>
                <a:cs typeface="Stack Sans Headline" pitchFamily="34" charset="-120"/>
              </a:rPr>
              <a:t>CAPABILITIES</a:t>
            </a:r>
            <a:endParaRPr lang="en-US" sz="1100" dirty="0"/>
          </a:p>
        </p:txBody>
      </p:sp>
      <p:sp>
        <p:nvSpPr>
          <p:cNvPr id="40" name="Shape 36"/>
          <p:cNvSpPr/>
          <p:nvPr/>
        </p:nvSpPr>
        <p:spPr>
          <a:xfrm>
            <a:off x="6553048" y="3703320"/>
            <a:ext cx="4861408" cy="0"/>
          </a:xfrm>
          <a:prstGeom prst="line">
            <a:avLst/>
          </a:prstGeom>
          <a:noFill/>
          <a:ln w="6350">
            <a:solidFill>
              <a:srgbClr val="0B1617"/>
            </a:solidFill>
            <a:prstDash val="solid"/>
          </a:ln>
        </p:spPr>
      </p:sp>
      <p:sp>
        <p:nvSpPr>
          <p:cNvPr id="41" name="ocean:body"/>
          <p:cNvSpPr/>
          <p:nvPr/>
        </p:nvSpPr>
        <p:spPr>
          <a:xfrm>
            <a:off x="6553048" y="3813048"/>
            <a:ext cx="4861408" cy="566928"/>
          </a:xfrm>
          <a:prstGeom prst="rect">
            <a:avLst/>
          </a:prstGeom>
          <a:noFill/>
          <a:ln/>
        </p:spPr>
        <p:txBody>
          <a:bodyPr wrap="square" lIns="0" tIns="0" rIns="0" bIns="0" rtlCol="0" anchor="t"/>
          <a:lstStyle/>
          <a:p>
            <a:pPr algn="l" indent="0" marL="0">
              <a:lnSpc>
                <a:spcPts val="1860"/>
              </a:lnSpc>
              <a:buNone/>
            </a:pPr>
            <a:r>
              <a:rPr lang="en-US" sz="1500" dirty="0">
                <a:solidFill>
                  <a:srgbClr val="0B1617"/>
                </a:solidFill>
                <a:latin typeface="Stack Sans Headline" pitchFamily="34" charset="0"/>
                <a:ea typeface="Stack Sans Headline" pitchFamily="34" charset="-122"/>
                <a:cs typeface="Stack Sans Headline" pitchFamily="34" charset="-120"/>
              </a:rPr>
              <a:t>Energy, mobility and water</a:t>
            </a:r>
            <a:endParaRPr lang="en-US" sz="1500" dirty="0"/>
          </a:p>
        </p:txBody>
      </p:sp>
      <p:sp>
        <p:nvSpPr>
          <p:cNvPr id="42" name="Shape 38"/>
          <p:cNvSpPr/>
          <p:nvPr/>
        </p:nvSpPr>
        <p:spPr>
          <a:xfrm>
            <a:off x="6553048" y="4434840"/>
            <a:ext cx="4861408" cy="0"/>
          </a:xfrm>
          <a:prstGeom prst="line">
            <a:avLst/>
          </a:prstGeom>
          <a:noFill/>
          <a:ln w="6350">
            <a:solidFill>
              <a:srgbClr val="0B1617"/>
            </a:solidFill>
            <a:prstDash val="solid"/>
          </a:ln>
        </p:spPr>
      </p:sp>
      <p:sp>
        <p:nvSpPr>
          <p:cNvPr id="43" name="ocean:body"/>
          <p:cNvSpPr/>
          <p:nvPr/>
        </p:nvSpPr>
        <p:spPr>
          <a:xfrm>
            <a:off x="6553048" y="4544568"/>
            <a:ext cx="4861408" cy="566928"/>
          </a:xfrm>
          <a:prstGeom prst="rect">
            <a:avLst/>
          </a:prstGeom>
          <a:noFill/>
          <a:ln/>
        </p:spPr>
        <p:txBody>
          <a:bodyPr wrap="square" lIns="0" tIns="0" rIns="0" bIns="0" rtlCol="0" anchor="t"/>
          <a:lstStyle/>
          <a:p>
            <a:pPr algn="l" indent="0" marL="0">
              <a:lnSpc>
                <a:spcPts val="1860"/>
              </a:lnSpc>
              <a:buNone/>
            </a:pPr>
            <a:r>
              <a:rPr lang="en-US" sz="1500" dirty="0">
                <a:solidFill>
                  <a:srgbClr val="0B1617"/>
                </a:solidFill>
                <a:latin typeface="Stack Sans Headline" pitchFamily="34" charset="0"/>
                <a:ea typeface="Stack Sans Headline" pitchFamily="34" charset="-122"/>
                <a:cs typeface="Stack Sans Headline" pitchFamily="34" charset="-120"/>
              </a:rPr>
              <a:t>Construction and qualified compute</a:t>
            </a:r>
            <a:endParaRPr lang="en-US" sz="1500" dirty="0"/>
          </a:p>
        </p:txBody>
      </p:sp>
      <p:sp>
        <p:nvSpPr>
          <p:cNvPr id="44" name="ocean:footer"/>
          <p:cNvSpPr/>
          <p:nvPr/>
        </p:nvSpPr>
        <p:spPr>
          <a:xfrm>
            <a:off x="548640" y="6419088"/>
            <a:ext cx="7315200" cy="182880"/>
          </a:xfrm>
          <a:prstGeom prst="rect">
            <a:avLst/>
          </a:prstGeom>
          <a:noFill/>
          <a:ln/>
        </p:spPr>
        <p:txBody>
          <a:bodyPr wrap="square" lIns="0" tIns="0" rIns="0" bIns="0" rtlCol="0" anchor="t"/>
          <a:lstStyle/>
          <a:p>
            <a:pPr algn="l" indent="0" marL="0">
              <a:lnSpc>
                <a:spcPts val="1116"/>
              </a:lnSpc>
              <a:buNone/>
            </a:pPr>
            <a:r>
              <a:rPr lang="en-US" sz="900" spc="225" kern="0" dirty="0">
                <a:solidFill>
                  <a:srgbClr val="0B1617"/>
                </a:solidFill>
                <a:latin typeface="Stack Sans Headline Light" pitchFamily="34" charset="0"/>
                <a:ea typeface="Stack Sans Headline Light" pitchFamily="34" charset="-122"/>
                <a:cs typeface="Stack Sans Headline Light" pitchFamily="34" charset="-120"/>
              </a:rPr>
              <a:t>OCEAN RCS · CONFIDENTIAL · DRAFT · DO NOT USE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18C7C"/>
        </a:solidFill>
      </p:bgPr>
    </p:bg>
    <p:spTree>
      <p:nvGrpSpPr>
        <p:cNvPr id="1" name=""/>
        <p:cNvGrpSpPr/>
        <p:nvPr/>
      </p:nvGrpSpPr>
      <p:grpSpPr>
        <a:xfrm>
          <a:off x="0" y="0"/>
          <a:ext cx="0" cy="0"/>
          <a:chOff x="0" y="0"/>
          <a:chExt cx="0" cy="0"/>
        </a:xfrm>
      </p:grpSpPr>
      <p:pic>
        <p:nvPicPr>
          <p:cNvPr id="2" name="ocean:environment" descr="/home/runner/work/ocean-brand-system/ocean-brand-system/assets/environments/env_sage_map_dark.jpg">    </p:cNvPr>
          <p:cNvPicPr>
            <a:picLocks noChangeAspect="1"/>
          </p:cNvPicPr>
          <p:nvPr/>
        </p:nvPicPr>
        <p:blipFill>
          <a:blip r:embed="rId1"/>
          <a:stretch>
            <a:fillRect/>
          </a:stretch>
        </p:blipFill>
        <p:spPr>
          <a:xfrm>
            <a:off x="0" y="0"/>
            <a:ext cx="12191695" cy="6858000"/>
          </a:xfrm>
          <a:prstGeom prst="rect">
            <a:avLst/>
          </a:prstGeom>
        </p:spPr>
      </p:pic>
      <p:pic>
        <p:nvPicPr>
          <p:cNvPr id="3" name="ocean:logo-vertical" descr="/home/runner/work/ocean-brand-system/ocean-brand-system/assets/logos/png/logo_vertical_honeydew.png">    </p:cNvPr>
          <p:cNvPicPr>
            <a:picLocks noChangeAspect="1"/>
          </p:cNvPicPr>
          <p:nvPr/>
        </p:nvPicPr>
        <p:blipFill>
          <a:blip r:embed="rId2"/>
          <a:stretch>
            <a:fillRect/>
          </a:stretch>
        </p:blipFill>
        <p:spPr>
          <a:xfrm>
            <a:off x="5157744" y="2603500"/>
            <a:ext cx="1876207" cy="1651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tack Sans Headl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tack Sans Headlin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Ocean RCS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Ocean RCS Company &amp; Leadership Overview</dc:title>
  <dc:subject>Built with ocean-brand-system lib/ocean.js</dc:subject>
  <dc:creator>Ocean RCS</dc:creator>
  <cp:lastModifiedBy>Ocean RCS</cp:lastModifiedBy>
  <cp:revision>1</cp:revision>
  <dcterms:created xsi:type="dcterms:W3CDTF">2026-09-27T10:26:16Z</dcterms:created>
  <dcterms:modified xsi:type="dcterms:W3CDTF">2026-09-27T10:26:16Z</dcterms:modified>
</cp:coreProperties>
</file>