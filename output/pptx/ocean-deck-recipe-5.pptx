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Basis: 12-month interval data
Status: Illustrative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E7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environment" descr="/home/user/workspace/audit/repo/assets/environments/env_olive_map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cean:frame"/>
          <p:cNvSpPr/>
          <p:nvPr/>
        </p:nvSpPr>
        <p:spPr>
          <a:xfrm>
            <a:off x="304800" y="304800"/>
            <a:ext cx="11582095" cy="6248400"/>
          </a:xfrm>
          <a:custGeom>
            <a:avLst/>
            <a:gdLst/>
            <a:ahLst/>
            <a:cxnLst/>
            <a:rect l="l" t="t" r="r" b="b"/>
            <a:pathLst>
              <a:path w="11582095" h="6248400">
                <a:moveTo>
                  <a:pt x="0" y="279400"/>
                </a:moveTo>
                <a:lnTo>
                  <a:pt x="279400" y="0"/>
                </a:lnTo>
                <a:lnTo>
                  <a:pt x="11455095" y="0"/>
                </a:lnTo>
                <a:quadBezTo>
                  <a:pt x="11582095" y="0"/>
                  <a:pt x="11582095" y="127000"/>
                </a:quadBezTo>
                <a:lnTo>
                  <a:pt x="11582095" y="6121400"/>
                </a:lnTo>
                <a:quadBezTo>
                  <a:pt x="11582095" y="6248400"/>
                  <a:pt x="11455095" y="6248400"/>
                </a:quadBezTo>
                <a:lnTo>
                  <a:pt x="127000" y="6248400"/>
                </a:lnTo>
                <a:quadBezTo>
                  <a:pt x="0" y="6248400"/>
                  <a:pt x="0" y="6121400"/>
                </a:quadBezTo>
                <a:close/>
              </a:path>
            </a:pathLst>
          </a:custGeom>
          <a:ln w="12700">
            <a:solidFill>
              <a:srgbClr val="F3FBF8"/>
            </a:solidFill>
            <a:prstDash val="solid"/>
          </a:ln>
        </p:spPr>
      </p:sp>
      <p:pic>
        <p:nvPicPr>
          <p:cNvPr id="4" name="ocean:logo-vertical" descr="/home/user/workspace/audit/repo/assets/logos/png/logo_vertical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685800"/>
            <a:ext cx="952536" cy="838200"/>
          </a:xfrm>
          <a:prstGeom prst="rect">
            <a:avLst/>
          </a:prstGeom>
        </p:spPr>
      </p:pic>
      <p:sp>
        <p:nvSpPr>
          <p:cNvPr id="5" name="ocean:label"/>
          <p:cNvSpPr/>
          <p:nvPr/>
        </p:nvSpPr>
        <p:spPr>
          <a:xfrm>
            <a:off x="8554415" y="63500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720"/>
              </a:lnSpc>
              <a:buNone/>
            </a:pPr>
            <a:r>
              <a:rPr lang="en-US" sz="3000" spc="-6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2026</a:t>
            </a:r>
            <a:endParaRPr lang="en-US" sz="3000" dirty="0"/>
          </a:p>
        </p:txBody>
      </p:sp>
      <p:sp>
        <p:nvSpPr>
          <p:cNvPr id="6" name="ocean:label"/>
          <p:cNvSpPr/>
          <p:nvPr/>
        </p:nvSpPr>
        <p:spPr>
          <a:xfrm>
            <a:off x="7640015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spc="275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1100" dirty="0"/>
          </a:p>
        </p:txBody>
      </p:sp>
      <p:sp>
        <p:nvSpPr>
          <p:cNvPr id="7" name="ocean:label"/>
          <p:cNvSpPr/>
          <p:nvPr/>
        </p:nvSpPr>
        <p:spPr>
          <a:xfrm>
            <a:off x="711200" y="3017520"/>
            <a:ext cx="10769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00" b="1" spc="30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COMMERCIAL ENERGY</a:t>
            </a:r>
            <a:endParaRPr lang="en-US" sz="1200" dirty="0"/>
          </a:p>
        </p:txBody>
      </p:sp>
      <p:sp>
        <p:nvSpPr>
          <p:cNvPr id="8" name="ocean:cover"/>
          <p:cNvSpPr/>
          <p:nvPr/>
        </p:nvSpPr>
        <p:spPr>
          <a:xfrm>
            <a:off x="660400" y="3291840"/>
            <a:ext cx="1076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8400" spc="-336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Rooftop Solar</a:t>
            </a:r>
            <a:endParaRPr lang="en-US" sz="8400" dirty="0"/>
          </a:p>
          <a:p>
            <a:pPr algn="l" indent="0" marL="0">
              <a:lnSpc>
                <a:spcPts val="7200"/>
              </a:lnSpc>
              <a:buNone/>
            </a:pPr>
            <a:r>
              <a:rPr lang="en-US" sz="8400" spc="-336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+ Storage</a:t>
            </a:r>
            <a:endParaRPr lang="en-US" sz="8400" dirty="0"/>
          </a:p>
        </p:txBody>
      </p:sp>
      <p:sp>
        <p:nvSpPr>
          <p:cNvPr id="9" name="ocean:notice"/>
          <p:cNvSpPr/>
          <p:nvPr/>
        </p:nvSpPr>
        <p:spPr>
          <a:xfrm>
            <a:off x="711200" y="5537200"/>
            <a:ext cx="10769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Confidential. Prepared for Ocean RCS. Do not copy, forward or distribute without the written consent of Ocean RCS. Design specimen with illustrative figures and representative images. Do not use for any</a:t>
            </a:r>
            <a:endParaRPr lang="en-US" sz="900" dirty="0"/>
          </a:p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commercial purpose.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711200" y="6083300"/>
            <a:ext cx="10769295" cy="0"/>
          </a:xfrm>
          <a:prstGeom prst="line">
            <a:avLst/>
          </a:prstGeom>
          <a:noFill/>
          <a:ln w="12700">
            <a:solidFill>
              <a:srgbClr val="F3FBF8"/>
            </a:solidFill>
            <a:prstDash val="solid"/>
          </a:ln>
        </p:spPr>
      </p:sp>
      <p:sp>
        <p:nvSpPr>
          <p:cNvPr id="11" name="ocean:meta"/>
          <p:cNvSpPr/>
          <p:nvPr/>
        </p:nvSpPr>
        <p:spPr>
          <a:xfrm>
            <a:off x="711200" y="6235700"/>
            <a:ext cx="13559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PREPARED FOR</a:t>
            </a:r>
            <a:endParaRPr lang="en-US" sz="1000" dirty="0"/>
          </a:p>
        </p:txBody>
      </p:sp>
      <p:sp>
        <p:nvSpPr>
          <p:cNvPr id="12" name="ocean:meta"/>
          <p:cNvSpPr/>
          <p:nvPr/>
        </p:nvSpPr>
        <p:spPr>
          <a:xfrm>
            <a:off x="2176907" y="6235700"/>
            <a:ext cx="12340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CLIENT NAME</a:t>
            </a:r>
            <a:endParaRPr lang="en-US" sz="1000" dirty="0"/>
          </a:p>
        </p:txBody>
      </p:sp>
      <p:sp>
        <p:nvSpPr>
          <p:cNvPr id="13" name="ocean:meta"/>
          <p:cNvSpPr/>
          <p:nvPr/>
        </p:nvSpPr>
        <p:spPr>
          <a:xfrm>
            <a:off x="3849878" y="6235700"/>
            <a:ext cx="5030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DATE</a:t>
            </a:r>
            <a:endParaRPr lang="en-US" sz="1000" dirty="0"/>
          </a:p>
        </p:txBody>
      </p:sp>
      <p:sp>
        <p:nvSpPr>
          <p:cNvPr id="14" name="ocean:meta"/>
          <p:cNvSpPr/>
          <p:nvPr/>
        </p:nvSpPr>
        <p:spPr>
          <a:xfrm>
            <a:off x="4462653" y="6235700"/>
            <a:ext cx="11696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26 SEP 2026</a:t>
            </a:r>
            <a:endParaRPr lang="en-US" sz="1000" dirty="0"/>
          </a:p>
        </p:txBody>
      </p:sp>
      <p:sp>
        <p:nvSpPr>
          <p:cNvPr id="15" name="ocean:meta"/>
          <p:cNvSpPr/>
          <p:nvPr/>
        </p:nvSpPr>
        <p:spPr>
          <a:xfrm>
            <a:off x="6071235" y="6235700"/>
            <a:ext cx="7174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STATUS</a:t>
            </a:r>
            <a:endParaRPr lang="en-US" sz="1000" dirty="0"/>
          </a:p>
        </p:txBody>
      </p:sp>
      <p:sp>
        <p:nvSpPr>
          <p:cNvPr id="16" name="ocean:meta"/>
          <p:cNvSpPr/>
          <p:nvPr/>
        </p:nvSpPr>
        <p:spPr>
          <a:xfrm>
            <a:off x="6898386" y="6235700"/>
            <a:ext cx="9563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SPECIMEN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02426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peac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87064" y="515112"/>
            <a:ext cx="407937" cy="237744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9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4299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2" name="ocean:header"/>
          <p:cNvSpPr/>
          <p:nvPr/>
        </p:nvSpPr>
        <p:spPr>
          <a:xfrm>
            <a:off x="85950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3" name="ocean:header"/>
          <p:cNvSpPr/>
          <p:nvPr/>
        </p:nvSpPr>
        <p:spPr>
          <a:xfrm>
            <a:off x="85950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525455" y="329184"/>
            <a:ext cx="558800" cy="609600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16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 SITE</a:t>
            </a:r>
            <a:endParaRPr lang="en-US" sz="1100" dirty="0"/>
          </a:p>
        </p:txBody>
      </p:sp>
      <p:sp>
        <p:nvSpPr>
          <p:cNvPr id="20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The roof is ready and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the service has room</a:t>
            </a:r>
            <a:endParaRPr lang="en-US" sz="3500" dirty="0"/>
          </a:p>
        </p:txBody>
      </p:sp>
      <p:sp>
        <p:nvSpPr>
          <p:cNvPr id="21" name="Shape 18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2" name="ocean:statement"/>
          <p:cNvSpPr/>
          <p:nvPr/>
        </p:nvSpPr>
        <p:spPr>
          <a:xfrm>
            <a:off x="548640" y="3044952"/>
            <a:ext cx="859536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 new TPO roof, clear array zones and an existing 2,000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 service mean the site can carry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2600" b="1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about 412 kW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 </a:t>
            </a:r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without</a:t>
            </a:r>
            <a:endParaRPr lang="en-US" sz="2600" dirty="0"/>
          </a:p>
          <a:p>
            <a:pPr algn="l" indent="0" marL="0">
              <a:lnSpc>
                <a:spcPts val="3300"/>
              </a:lnSpc>
              <a:buNone/>
            </a:pPr>
            <a:r>
              <a:rPr lang="en-US" sz="26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 service upgrade.</a:t>
            </a:r>
            <a:endParaRPr lang="en-US" sz="2600" dirty="0"/>
          </a:p>
        </p:txBody>
      </p:sp>
      <p:sp>
        <p:nvSpPr>
          <p:cNvPr id="23" name="ocean:bottom-line"/>
          <p:cNvSpPr/>
          <p:nvPr/>
        </p:nvSpPr>
        <p:spPr>
          <a:xfrm>
            <a:off x="548640" y="5559552"/>
            <a:ext cx="11094415" cy="493776"/>
          </a:xfrm>
          <a:custGeom>
            <a:avLst/>
            <a:gdLst/>
            <a:ahLst/>
            <a:cxnLst/>
            <a:rect l="l" t="t" r="r" b="b"/>
            <a:pathLst>
              <a:path w="11094415" h="493776">
                <a:moveTo>
                  <a:pt x="63500" y="0"/>
                </a:moveTo>
                <a:lnTo>
                  <a:pt x="11030915" y="0"/>
                </a:lnTo>
                <a:quadBezTo>
                  <a:pt x="11094415" y="0"/>
                  <a:pt x="11094415" y="63500"/>
                </a:quadBezTo>
                <a:lnTo>
                  <a:pt x="11094415" y="341376"/>
                </a:lnTo>
                <a:lnTo>
                  <a:pt x="10942015" y="493776"/>
                </a:lnTo>
                <a:lnTo>
                  <a:pt x="63500" y="493776"/>
                </a:lnTo>
                <a:quadBezTo>
                  <a:pt x="0" y="493776"/>
                  <a:pt x="0" y="430276"/>
                </a:quadBezTo>
                <a:lnTo>
                  <a:pt x="0" y="63500"/>
                </a:lnTo>
                <a:quadBezTo>
                  <a:pt x="0" y="0"/>
                  <a:pt x="63500" y="0"/>
                </a:quadBezTo>
                <a:close/>
              </a:path>
            </a:pathLst>
          </a:cu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31520" y="5755640"/>
            <a:ext cx="101600" cy="101600"/>
          </a:xfrm>
          <a:prstGeom prst="diamond">
            <a:avLst/>
          </a:prstGeom>
          <a:solidFill>
            <a:srgbClr val="EB3819"/>
          </a:solidFill>
          <a:ln w="12700">
            <a:solidFill>
              <a:srgbClr val="EB3819"/>
            </a:solidFill>
            <a:prstDash val="solid"/>
          </a:ln>
        </p:spPr>
      </p:sp>
      <p:sp>
        <p:nvSpPr>
          <p:cNvPr id="25" name="ocean:label"/>
          <p:cNvSpPr/>
          <p:nvPr/>
        </p:nvSpPr>
        <p:spPr>
          <a:xfrm>
            <a:off x="960120" y="5715000"/>
            <a:ext cx="1274318" cy="1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BOTTOM LINE</a:t>
            </a:r>
            <a:endParaRPr lang="en-US" sz="1000" dirty="0"/>
          </a:p>
        </p:txBody>
      </p:sp>
      <p:sp>
        <p:nvSpPr>
          <p:cNvPr id="26" name="ocean:bottom-line"/>
          <p:cNvSpPr/>
          <p:nvPr/>
        </p:nvSpPr>
        <p:spPr>
          <a:xfrm>
            <a:off x="2325878" y="5669280"/>
            <a:ext cx="90885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No service upgrade needed for the first phase.</a:t>
            </a:r>
            <a:endParaRPr lang="en-US" sz="1500" dirty="0"/>
          </a:p>
        </p:txBody>
      </p:sp>
      <p:sp>
        <p:nvSpPr>
          <p:cNvPr id="27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B4039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ce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40793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41305" y="515112"/>
            <a:ext cx="635279" cy="237744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10" name="ocean:header"/>
          <p:cNvSpPr/>
          <p:nvPr/>
        </p:nvSpPr>
        <p:spPr>
          <a:xfrm>
            <a:off x="4305313" y="551688"/>
            <a:ext cx="6352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SYSTEM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4299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2" name="ocean:header"/>
          <p:cNvSpPr/>
          <p:nvPr/>
        </p:nvSpPr>
        <p:spPr>
          <a:xfrm>
            <a:off x="85950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LAYOUT REFERENCE</a:t>
            </a:r>
            <a:endParaRPr lang="en-US" sz="900" dirty="0"/>
          </a:p>
        </p:txBody>
      </p:sp>
      <p:sp>
        <p:nvSpPr>
          <p:cNvPr id="13" name="ocean:header"/>
          <p:cNvSpPr/>
          <p:nvPr/>
        </p:nvSpPr>
        <p:spPr>
          <a:xfrm>
            <a:off x="85950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5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084255" y="329184"/>
            <a:ext cx="558800" cy="609600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 SYSTEM</a:t>
            </a:r>
            <a:endParaRPr lang="en-US" sz="1100" dirty="0"/>
          </a:p>
        </p:txBody>
      </p:sp>
      <p:sp>
        <p:nvSpPr>
          <p:cNvPr id="20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Solar and storage sized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to the building</a:t>
            </a:r>
            <a:endParaRPr lang="en-US" sz="3500" dirty="0"/>
          </a:p>
        </p:txBody>
      </p:sp>
      <p:sp>
        <p:nvSpPr>
          <p:cNvPr id="21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ONE ARRAY, TWO CABINETS, ONE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INTERCONNECTION.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pic>
        <p:nvPicPr>
          <p:cNvPr id="23" name="ocean:photo" descr="/home/user/workspace/audit/repo/output/.cache/fit/bess-fcf5b005fbb1696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44952"/>
            <a:ext cx="6446520" cy="283464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 flipV="1">
            <a:off x="544068" y="3040380"/>
            <a:ext cx="279400" cy="279400"/>
          </a:xfrm>
          <a:prstGeom prst="rtTriangle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25" name="ocean:frame"/>
          <p:cNvSpPr/>
          <p:nvPr/>
        </p:nvSpPr>
        <p:spPr>
          <a:xfrm>
            <a:off x="7223760" y="304495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1387023" y="317296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27" name="ocean:label"/>
          <p:cNvSpPr/>
          <p:nvPr/>
        </p:nvSpPr>
        <p:spPr>
          <a:xfrm>
            <a:off x="7406640" y="313639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SOLAR</a:t>
            </a:r>
            <a:endParaRPr lang="en-US" sz="950" dirty="0"/>
          </a:p>
        </p:txBody>
      </p:sp>
      <p:sp>
        <p:nvSpPr>
          <p:cNvPr id="28" name="ocean:body"/>
          <p:cNvSpPr/>
          <p:nvPr/>
        </p:nvSpPr>
        <p:spPr>
          <a:xfrm>
            <a:off x="7406640" y="335584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412 KW DC</a:t>
            </a:r>
            <a:endParaRPr lang="en-US" sz="1400" dirty="0"/>
          </a:p>
        </p:txBody>
      </p:sp>
      <p:sp>
        <p:nvSpPr>
          <p:cNvPr id="29" name="ocean:frame"/>
          <p:cNvSpPr/>
          <p:nvPr/>
        </p:nvSpPr>
        <p:spPr>
          <a:xfrm>
            <a:off x="7223760" y="377647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1387023" y="390448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1247323" y="390448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2" name="ocean:label"/>
          <p:cNvSpPr/>
          <p:nvPr/>
        </p:nvSpPr>
        <p:spPr>
          <a:xfrm>
            <a:off x="7406640" y="386791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STORAGE</a:t>
            </a:r>
            <a:endParaRPr lang="en-US" sz="950" dirty="0"/>
          </a:p>
        </p:txBody>
      </p:sp>
      <p:sp>
        <p:nvSpPr>
          <p:cNvPr id="33" name="ocean:body"/>
          <p:cNvSpPr/>
          <p:nvPr/>
        </p:nvSpPr>
        <p:spPr>
          <a:xfrm>
            <a:off x="7406640" y="408736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1.2 MWH</a:t>
            </a:r>
            <a:endParaRPr lang="en-US" sz="1400" dirty="0"/>
          </a:p>
        </p:txBody>
      </p:sp>
      <p:sp>
        <p:nvSpPr>
          <p:cNvPr id="34" name="ocean:frame"/>
          <p:cNvSpPr/>
          <p:nvPr/>
        </p:nvSpPr>
        <p:spPr>
          <a:xfrm>
            <a:off x="7223760" y="450799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1387023" y="463600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1247323" y="463600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1107623" y="463600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8" name="ocean:label"/>
          <p:cNvSpPr/>
          <p:nvPr/>
        </p:nvSpPr>
        <p:spPr>
          <a:xfrm>
            <a:off x="7406640" y="459943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INTERCONNECTION</a:t>
            </a:r>
            <a:endParaRPr lang="en-US" sz="950" dirty="0"/>
          </a:p>
        </p:txBody>
      </p:sp>
      <p:sp>
        <p:nvSpPr>
          <p:cNvPr id="39" name="ocean:body"/>
          <p:cNvSpPr/>
          <p:nvPr/>
        </p:nvSpPr>
        <p:spPr>
          <a:xfrm>
            <a:off x="7406640" y="481888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Line-side tap</a:t>
            </a:r>
            <a:endParaRPr lang="en-US" sz="1400" dirty="0"/>
          </a:p>
        </p:txBody>
      </p:sp>
      <p:sp>
        <p:nvSpPr>
          <p:cNvPr id="40" name="ocean:body"/>
          <p:cNvSpPr/>
          <p:nvPr/>
        </p:nvSpPr>
        <p:spPr>
          <a:xfrm>
            <a:off x="548640" y="5971032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Representative image of a comparable storage installation.</a:t>
            </a:r>
            <a:endParaRPr lang="en-US" sz="1200" dirty="0"/>
          </a:p>
        </p:txBody>
      </p:sp>
      <p:sp>
        <p:nvSpPr>
          <p:cNvPr id="41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DESIGN SPECIMEN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5CC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logo-graphic" descr="/home/user/workspace/audit/repo/assets/logos/png/logo_graphic_crim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7455" y="406400"/>
            <a:ext cx="355600" cy="355600"/>
          </a:xfrm>
          <a:prstGeom prst="rect">
            <a:avLst/>
          </a:prstGeom>
        </p:spPr>
      </p:pic>
      <p:sp>
        <p:nvSpPr>
          <p:cNvPr id="3" name="ocean:metric"/>
          <p:cNvSpPr/>
          <p:nvPr/>
        </p:nvSpPr>
        <p:spPr>
          <a:xfrm>
            <a:off x="512064" y="3639312"/>
            <a:ext cx="4754880" cy="2122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0"/>
              </a:lnSpc>
              <a:buNone/>
            </a:pPr>
            <a:r>
              <a:rPr lang="en-US" sz="16500" spc="-660" kern="0" dirty="0">
                <a:solidFill>
                  <a:srgbClr val="EB381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38%</a:t>
            </a:r>
            <a:endParaRPr lang="en-US" sz="16500" dirty="0"/>
          </a:p>
        </p:txBody>
      </p:sp>
      <p:sp>
        <p:nvSpPr>
          <p:cNvPr id="4" name="ocean:statement"/>
          <p:cNvSpPr/>
          <p:nvPr/>
        </p:nvSpPr>
        <p:spPr>
          <a:xfrm>
            <a:off x="5458968" y="393192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400" spc="-88" kern="0" dirty="0">
                <a:solidFill>
                  <a:srgbClr val="EB381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Lower grid electricity</a:t>
            </a:r>
            <a:endParaRPr lang="en-US" sz="44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sz="4400" spc="-88" kern="0" dirty="0">
                <a:solidFill>
                  <a:srgbClr val="EB381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spend from the first</a:t>
            </a:r>
            <a:endParaRPr lang="en-US" sz="44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sz="4400" spc="-88" kern="0" dirty="0">
                <a:solidFill>
                  <a:srgbClr val="EB381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year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48640" y="5969000"/>
            <a:ext cx="11094415" cy="0"/>
          </a:xfrm>
          <a:prstGeom prst="line">
            <a:avLst/>
          </a:prstGeom>
          <a:noFill/>
          <a:ln w="12700">
            <a:solidFill>
              <a:srgbClr val="EB3819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E7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environment" descr="/home/user/workspace/audit/repo/assets/environments/env_olive_map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cean:logo-vertical" descr="/home/user/workspace/audit/repo/assets/logos/png/logo_vertical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44" y="2603500"/>
            <a:ext cx="1876207" cy="165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tack Sans Headlin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tack Sans Headlin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Ocean RCS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RCS layout reference</dc:title>
  <dc:subject>PptxGenJS Presentation</dc:subject>
  <dc:creator>PptxGenJS</dc:creator>
  <cp:lastModifiedBy>PptxGenJS</cp:lastModifiedBy>
  <cp:revision>1</cp:revision>
  <dcterms:created xsi:type="dcterms:W3CDTF">2026-09-26T19:12:25Z</dcterms:created>
  <dcterms:modified xsi:type="dcterms:W3CDTF">2026-09-26T19:12:25Z</dcterms:modified>
</cp:coreProperties>
</file>