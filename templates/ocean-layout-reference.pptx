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+ storage</c:v>
                </c:pt>
              </c:strCache>
            </c:strRef>
          </c:tx>
          <c:spPr>
            <a:solidFill>
              <a:srgbClr val="1B403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617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 charging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617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B1617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4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E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42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Replace image with approved Higgsfield hero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426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36815" y="55778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3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Higgsfield: aerial commercial energy + mobility hub, late afternoon, 16:9, no text]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558851" cy="6858000"/>
          </a:xfrm>
          <a:prstGeom prst="rect">
            <a:avLst/>
          </a:prstGeom>
          <a:solidFill>
            <a:srgbClr val="0B1617">
              <a:alpha val="8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822960" cy="54864"/>
          </a:xfrm>
          <a:prstGeom prst="rect">
            <a:avLst/>
          </a:prstGeom>
          <a:solidFill>
            <a:srgbClr val="618C7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548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infrastructure for commercial sites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5DE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— Renewable Connected Systems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5852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overview  |  [TBD: month year]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014" y="0"/>
            <a:ext cx="6339682" cy="6858000"/>
          </a:xfrm>
          <a:prstGeom prst="rect">
            <a:avLst/>
          </a:prstGeom>
          <a:solidFill>
            <a:srgbClr val="102426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36815" y="55778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3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Higgsfield: commercial rooftop solar at dusk, credible, no neon]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484617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60420"/>
            <a:ext cx="4846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sites need power, resilience, and charging at the same time.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1B403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rgbClr val="102426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36815" y="55778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3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Real Ocean RCS site photo]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54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5090008" cy="214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qualified site can support several infrastructure revenue streams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926840"/>
            <a:ext cx="5090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Solar, storage, EV charging, and electrical upgrades share the same site, interconnection, and customer relationship.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1B403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owners buy energy infrastructure piecemeal and pay for it twice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090008" cy="397764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48840"/>
            <a:ext cx="5090008" cy="64008"/>
          </a:xfrm>
          <a:prstGeom prst="rect">
            <a:avLst/>
          </a:prstGeom>
          <a:solidFill>
            <a:srgbClr val="1B403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231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449928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vendors for solar, storage, and charging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upgrades scoped after the fact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owner of performance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53048" y="2148840"/>
            <a:ext cx="5090008" cy="3977640"/>
          </a:xfrm>
          <a:prstGeom prst="rect">
            <a:avLst/>
          </a:prstGeom>
          <a:solidFill>
            <a:srgbClr val="102426"/>
          </a:solidFill>
          <a:ln/>
        </p:spPr>
      </p:sp>
      <p:sp>
        <p:nvSpPr>
          <p:cNvPr id="9" name="Shape 7"/>
          <p:cNvSpPr/>
          <p:nvPr/>
        </p:nvSpPr>
        <p:spPr>
          <a:xfrm>
            <a:off x="6553048" y="2148840"/>
            <a:ext cx="5090008" cy="64008"/>
          </a:xfrm>
          <a:prstGeom prst="rect">
            <a:avLst/>
          </a:prstGeom>
          <a:solidFill>
            <a:srgbClr val="618C7C"/>
          </a:solidFill>
          <a:ln/>
        </p:spPr>
      </p:sp>
      <p:sp>
        <p:nvSpPr>
          <p:cNvPr id="10" name="Text 8"/>
          <p:cNvSpPr/>
          <p:nvPr/>
        </p:nvSpPr>
        <p:spPr>
          <a:xfrm>
            <a:off x="6873088" y="24231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OCEAN RCS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73088" y="2926080"/>
            <a:ext cx="4449928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EPC integrates the full site stack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and interconnection planned once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accountable delivery partner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38648" y="37719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integrated service lines built on one electrical core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97764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48840"/>
            <a:ext cx="64008" cy="3977640"/>
          </a:xfrm>
          <a:prstGeom prst="rect">
            <a:avLst/>
          </a:prstGeom>
          <a:solidFill>
            <a:srgbClr val="1B403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231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storage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840480"/>
            <a:ext cx="29666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rooftop and carport solar paired with battery storage for demand and resilience value.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97764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0" name="Shape 8"/>
          <p:cNvSpPr/>
          <p:nvPr/>
        </p:nvSpPr>
        <p:spPr>
          <a:xfrm>
            <a:off x="4338218" y="2148840"/>
            <a:ext cx="64008" cy="3977640"/>
          </a:xfrm>
          <a:prstGeom prst="rect">
            <a:avLst/>
          </a:prstGeom>
          <a:solidFill>
            <a:srgbClr val="1B4039"/>
          </a:solidFill>
          <a:ln/>
        </p:spPr>
      </p:sp>
      <p:sp>
        <p:nvSpPr>
          <p:cNvPr id="11" name="Text 9"/>
          <p:cNvSpPr/>
          <p:nvPr/>
        </p:nvSpPr>
        <p:spPr>
          <a:xfrm>
            <a:off x="4658258" y="24231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58258" y="2926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charging + mobility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8258" y="3840480"/>
            <a:ext cx="29666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fast and Level 2 charging for fleets, retail sites, and public mobility hubs.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97764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5" name="Shape 13"/>
          <p:cNvSpPr/>
          <p:nvPr/>
        </p:nvSpPr>
        <p:spPr>
          <a:xfrm>
            <a:off x="8127797" y="2148840"/>
            <a:ext cx="64008" cy="3977640"/>
          </a:xfrm>
          <a:prstGeom prst="rect">
            <a:avLst/>
          </a:prstGeom>
          <a:solidFill>
            <a:srgbClr val="1B4039"/>
          </a:solidFill>
          <a:ln/>
        </p:spPr>
      </p:sp>
      <p:sp>
        <p:nvSpPr>
          <p:cNvPr id="16" name="Text 14"/>
          <p:cNvSpPr/>
          <p:nvPr/>
        </p:nvSpPr>
        <p:spPr>
          <a:xfrm>
            <a:off x="8447837" y="24231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47837" y="2926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infrastructure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447837" y="3840480"/>
            <a:ext cx="29666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 upgrades, water systems, and selective modular compute where power already exists.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capacity already in place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3515258" cy="2651760"/>
          </a:xfrm>
          <a:prstGeom prst="rect">
            <a:avLst/>
          </a:prstGeom>
          <a:solidFill>
            <a:srgbClr val="10242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0"/>
            <a:ext cx="3058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 installed or under contract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approved-metrics.md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2423160"/>
            <a:ext cx="3515258" cy="265176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9" name="Text 7"/>
          <p:cNvSpPr/>
          <p:nvPr/>
        </p:nvSpPr>
        <p:spPr>
          <a:xfrm>
            <a:off x="4612538" y="2743200"/>
            <a:ext cx="3058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12538" y="379476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commercial proposals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2538" y="45262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of [TBD]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2423160"/>
            <a:ext cx="3515258" cy="265176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3" name="Text 11"/>
          <p:cNvSpPr/>
          <p:nvPr/>
        </p:nvSpPr>
        <p:spPr>
          <a:xfrm>
            <a:off x="8402117" y="2743200"/>
            <a:ext cx="30580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402117" y="379476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Charging ports deployable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02117" y="45262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 diligence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to be populated from source/approved-metrics.md only.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staged rollout that de-risks capital at every gate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25400">
            <a:solidFill>
              <a:srgbClr val="D5DE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523744"/>
            <a:ext cx="256032" cy="256032"/>
          </a:xfrm>
          <a:prstGeom prst="ellipse">
            <a:avLst/>
          </a:prstGeom>
          <a:solidFill>
            <a:srgbClr val="1B403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01168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sites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2476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Roof, service, and interconnection screening before capital commitment.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90824" y="2523744"/>
            <a:ext cx="256032" cy="256032"/>
          </a:xfrm>
          <a:prstGeom prst="ellipse">
            <a:avLst/>
          </a:prstGeom>
          <a:solidFill>
            <a:srgbClr val="618C7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90824" y="201168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90824" y="30175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projects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390824" y="3886200"/>
            <a:ext cx="2476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solar + storage on the strongest sites first.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33008" y="2523744"/>
            <a:ext cx="256032" cy="256032"/>
          </a:xfrm>
          <a:prstGeom prst="ellipse">
            <a:avLst/>
          </a:prstGeom>
          <a:solidFill>
            <a:srgbClr val="618C7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3008" y="201168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33008" y="30175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charging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233008" y="3886200"/>
            <a:ext cx="2476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EV charging where utility capacity and incentives are confirmed.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75191" y="2523744"/>
            <a:ext cx="256032" cy="256032"/>
          </a:xfrm>
          <a:prstGeom prst="ellipse">
            <a:avLst/>
          </a:prstGeom>
          <a:solidFill>
            <a:srgbClr val="618C7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5191" y="201168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75191" y="30175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platform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075191" y="3886200"/>
            <a:ext cx="2476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 the site model across the regional pipeline.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illustrative; to be validated per site.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OCEAN WINS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delivery beats a stack of single-product vendors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24912"/>
                <a:gridCol w="2724912"/>
                <a:gridCol w="2718511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Ocean RCS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Single-product installer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Utility program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+ storage design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 charging deployment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Incentives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upgrade and interconnection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Subcontracted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Utility-side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point of accountability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comparison; validate against named competitors before external use.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ECONOMICS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layers stack as each site matures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148840"/>
          <a:ext cx="7322314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45274" y="2148840"/>
            <a:ext cx="3497781" cy="3611880"/>
          </a:xfrm>
          <a:prstGeom prst="rect">
            <a:avLst/>
          </a:prstGeom>
          <a:solidFill>
            <a:srgbClr val="102426"/>
          </a:solidFill>
          <a:ln/>
        </p:spPr>
      </p:sp>
      <p:sp>
        <p:nvSpPr>
          <p:cNvPr id="6" name="Text 3"/>
          <p:cNvSpPr/>
          <p:nvPr/>
        </p:nvSpPr>
        <p:spPr>
          <a:xfrm>
            <a:off x="8419594" y="2423160"/>
            <a:ext cx="2949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419594" y="2834640"/>
            <a:ext cx="294914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only. Replace with approved model outputs before any external use.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placeholder values, not a forecast.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PROOF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[TBD: project name] — solar, TPO roof, and storage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547208" cy="3977640"/>
          </a:xfrm>
          <a:prstGeom prst="rect">
            <a:avLst/>
          </a:prstGeom>
          <a:solidFill>
            <a:srgbClr val="102426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06728" y="521208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3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Real project photo]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53048" y="2148840"/>
            <a:ext cx="22905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843551" y="2148840"/>
            <a:ext cx="279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53048" y="2752344"/>
            <a:ext cx="5090008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3048" y="2807208"/>
            <a:ext cx="22905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SIZE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843551" y="2807208"/>
            <a:ext cx="279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 kWdc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53048" y="3410712"/>
            <a:ext cx="5090008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3048" y="3465576"/>
            <a:ext cx="22905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843551" y="3465576"/>
            <a:ext cx="279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 kWh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53048" y="4069080"/>
            <a:ext cx="5090008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3048" y="4123944"/>
            <a:ext cx="22905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43551" y="4123944"/>
            <a:ext cx="279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53048" y="4727448"/>
            <a:ext cx="5090008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53048" y="5010912"/>
            <a:ext cx="50900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publish once facts are confirmed in source/project-facts.md.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Field-proven operators who build what they sell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97764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423160"/>
            <a:ext cx="1005840" cy="1005840"/>
          </a:xfrm>
          <a:prstGeom prst="rect">
            <a:avLst/>
          </a:prstGeom>
          <a:solidFill>
            <a:srgbClr val="102426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6118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[TBD: Name]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43484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[TBD: two-line verified bio]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97764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0" name="Shape 8"/>
          <p:cNvSpPr/>
          <p:nvPr/>
        </p:nvSpPr>
        <p:spPr>
          <a:xfrm>
            <a:off x="4612538" y="2423160"/>
            <a:ext cx="1005840" cy="1005840"/>
          </a:xfrm>
          <a:prstGeom prst="rect">
            <a:avLst/>
          </a:prstGeom>
          <a:solidFill>
            <a:srgbClr val="102426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2538" y="36118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[TBD: Name]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12538" y="402336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2538" y="443484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[TBD: two-line verified bio]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977640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5" name="Shape 13"/>
          <p:cNvSpPr/>
          <p:nvPr/>
        </p:nvSpPr>
        <p:spPr>
          <a:xfrm>
            <a:off x="8402117" y="2423160"/>
            <a:ext cx="1005840" cy="1005840"/>
          </a:xfrm>
          <a:prstGeom prst="rect">
            <a:avLst/>
          </a:prstGeom>
          <a:solidFill>
            <a:srgbClr val="102426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02117" y="36118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[TBD: Name]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02117" y="402336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02117" y="443484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0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[TBD: two-line verified bio]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to convert a qualified pipeline into operating assets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4659654" cy="3977640"/>
          </a:xfrm>
          <a:prstGeom prst="rect">
            <a:avLst/>
          </a:prstGeom>
          <a:solidFill>
            <a:srgbClr val="10242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23160"/>
            <a:ext cx="41110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41110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raise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29222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equipment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745254" y="40233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29222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development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45254" y="44805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4937760"/>
            <a:ext cx="29222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capital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45254" y="4937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9C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[TBD]%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56934" y="2148840"/>
            <a:ext cx="588612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56934" y="2697480"/>
            <a:ext cx="457200" cy="457200"/>
          </a:xfrm>
          <a:prstGeom prst="rect">
            <a:avLst/>
          </a:prstGeom>
          <a:solidFill>
            <a:srgbClr val="618C7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2734" y="2606040"/>
            <a:ext cx="51546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qualified site pipeline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756934" y="3566160"/>
            <a:ext cx="457200" cy="457200"/>
          </a:xfrm>
          <a:prstGeom prst="rect">
            <a:avLst/>
          </a:prstGeom>
          <a:solidFill>
            <a:srgbClr val="618C7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42734" y="3474720"/>
            <a:ext cx="51546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diligence data room access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756934" y="4434840"/>
            <a:ext cx="457200" cy="457200"/>
          </a:xfrm>
          <a:prstGeom prst="rect">
            <a:avLst/>
          </a:prstGeom>
          <a:solidFill>
            <a:srgbClr val="618C7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2734" y="4343400"/>
            <a:ext cx="51546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on term-sheet timeline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1B40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430253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0B16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summary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2926080"/>
                <a:gridCol w="231617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Manufacturer / SKU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[TBD: FEOC / domestic content]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Inverters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Battery storage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fast chargers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[TBD]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SKUs live in the appendix only. No internal margins.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6373368"/>
            <a:ext cx="11094415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RCS  |  CONFIDENTIAL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— Layout Reference</dc:title>
  <dc:subject>PptxGenJS Presentation</dc:subject>
  <dc:creator>PptxGenJS</dc:creator>
  <cp:lastModifiedBy>PptxGenJS</cp:lastModifiedBy>
  <cp:revision>1</cp:revision>
  <dcterms:created xsi:type="dcterms:W3CDTF">2026-09-26T01:14:32Z</dcterms:created>
  <dcterms:modified xsi:type="dcterms:W3CDTF">2026-09-26T01:14:32Z</dcterms:modified>
</cp:coreProperties>
</file>