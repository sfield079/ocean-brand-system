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spPr>
            <a:solidFill>
              <a:srgbClr val="618C7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62</c:v>
                </c:pt>
                <c:pt idx="1">
                  <c:v>66</c:v>
                </c:pt>
                <c:pt idx="2">
                  <c:v>70</c:v>
                </c:pt>
                <c:pt idx="3">
                  <c:v>75</c:v>
                </c:pt>
                <c:pt idx="4">
                  <c:v>79</c:v>
                </c:pt>
                <c:pt idx="5">
                  <c:v>84</c:v>
                </c:pt>
                <c:pt idx="6">
                  <c:v>88</c:v>
                </c:pt>
                <c:pt idx="7">
                  <c:v>93</c:v>
                </c:pt>
                <c:pt idx="8">
                  <c:v>98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savings (focus)</c:v>
                </c:pt>
              </c:strCache>
            </c:strRef>
          </c:tx>
          <c:spPr>
            <a:solidFill>
              <a:srgbClr val="6E734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104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3FBF8"/>
                  </a:solidFill>
                  <a:latin typeface="Stack Sans Headlin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B403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Solar, storage and interconnection sized to the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Prepared for Ocean RCS. Do not copy, forward or distribute without the written consent of Ocean RCS. Design specimen with illustrative figures and representative images. Do not use for any</a:t>
            </a:r>
            <a:endParaRPr lang="en-US" sz="90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839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What the roof and service can carry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870833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916553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839" dirty="0"/>
          </a:p>
        </p:txBody>
      </p:sp>
      <p:sp>
        <p:nvSpPr>
          <p:cNvPr id="12" name="ocean:label"/>
          <p:cNvSpPr/>
          <p:nvPr/>
        </p:nvSpPr>
        <p:spPr>
          <a:xfrm>
            <a:off x="4443984" y="4053713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254881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 and interconnection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760722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806442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839" dirty="0"/>
          </a:p>
        </p:txBody>
      </p:sp>
      <p:sp>
        <p:nvSpPr>
          <p:cNvPr id="16" name="ocean:label"/>
          <p:cNvSpPr/>
          <p:nvPr/>
        </p:nvSpPr>
        <p:spPr>
          <a:xfrm>
            <a:off x="4443984" y="4943602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5144770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65061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696331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839" dirty="0"/>
          </a:p>
        </p:txBody>
      </p:sp>
      <p:sp>
        <p:nvSpPr>
          <p:cNvPr id="20" name="ocean:label"/>
          <p:cNvSpPr/>
          <p:nvPr/>
        </p:nvSpPr>
        <p:spPr>
          <a:xfrm>
            <a:off x="4443984" y="583349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6034659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Decisions and schedule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54050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59130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peacock_map_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Clarity starts with the site</a:t>
            </a:r>
            <a:endParaRPr lang="en-US" sz="44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ROOF, STRUCTURE, SERVICE AND THE CONSTRAINTS THAT SHAPE THE ARRAY.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can carry about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412 kW of solar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EXISTING 2,000 A SERVICE.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pic>
        <p:nvPicPr>
          <p:cNvPr id="29" name="ocean:photo" descr="/home/user/workspace/audit/repo/output/.cache/fit/rooftop-9961c474ed952c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1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3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950" dirty="0"/>
          </a:p>
        </p:txBody>
      </p:sp>
      <p:sp>
        <p:nvSpPr>
          <p:cNvPr id="34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35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USABLE ROOF</a:t>
            </a:r>
            <a:endParaRPr lang="en-US" sz="950" dirty="0"/>
          </a:p>
        </p:txBody>
      </p:sp>
      <p:sp>
        <p:nvSpPr>
          <p:cNvPr id="39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68,400 FT²</a:t>
            </a:r>
            <a:endParaRPr lang="en-US" sz="1400" dirty="0"/>
          </a:p>
        </p:txBody>
      </p:sp>
      <p:sp>
        <p:nvSpPr>
          <p:cNvPr id="40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950" dirty="0"/>
          </a:p>
        </p:txBody>
      </p:sp>
      <p:sp>
        <p:nvSpPr>
          <p:cNvPr id="45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2,000 A · 480 V</a:t>
            </a:r>
            <a:endParaRPr lang="en-US" sz="1400" dirty="0"/>
          </a:p>
        </p:txBody>
      </p:sp>
      <p:sp>
        <p:nvSpPr>
          <p:cNvPr id="46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rooftop array.</a:t>
            </a:r>
            <a:endParaRPr lang="en-US" sz="12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Four figures define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opportunity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 FIGURES FOR THE SPECIMEN.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76474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49808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1050" dirty="0"/>
          </a:p>
        </p:txBody>
      </p:sp>
      <p:sp>
        <p:nvSpPr>
          <p:cNvPr id="32" name="ocean:metric"/>
          <p:cNvSpPr/>
          <p:nvPr/>
        </p:nvSpPr>
        <p:spPr>
          <a:xfrm>
            <a:off x="749808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412 kW</a:t>
            </a:r>
            <a:endParaRPr lang="en-US" sz="3400" dirty="0"/>
          </a:p>
        </p:txBody>
      </p:sp>
      <p:sp>
        <p:nvSpPr>
          <p:cNvPr id="33" name="ocean:label"/>
          <p:cNvSpPr/>
          <p:nvPr/>
        </p:nvSpPr>
        <p:spPr>
          <a:xfrm>
            <a:off x="749808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keep-outs</a:t>
            </a:r>
            <a:endParaRPr lang="en-US" sz="1200" dirty="0"/>
          </a:p>
        </p:txBody>
      </p:sp>
      <p:sp>
        <p:nvSpPr>
          <p:cNvPr id="34" name="ocean:frame"/>
          <p:cNvSpPr/>
          <p:nvPr/>
        </p:nvSpPr>
        <p:spPr>
          <a:xfrm>
            <a:off x="3379394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2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5675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3580562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1050" dirty="0"/>
          </a:p>
        </p:txBody>
      </p:sp>
      <p:sp>
        <p:nvSpPr>
          <p:cNvPr id="38" name="ocean:metric"/>
          <p:cNvSpPr/>
          <p:nvPr/>
        </p:nvSpPr>
        <p:spPr>
          <a:xfrm>
            <a:off x="3580562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1.2 MWh</a:t>
            </a:r>
            <a:endParaRPr lang="en-US" sz="3400" dirty="0"/>
          </a:p>
        </p:txBody>
      </p:sp>
      <p:sp>
        <p:nvSpPr>
          <p:cNvPr id="39" name="ocean:label"/>
          <p:cNvSpPr/>
          <p:nvPr/>
        </p:nvSpPr>
        <p:spPr>
          <a:xfrm>
            <a:off x="3580562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cabinets</a:t>
            </a:r>
            <a:endParaRPr lang="en-US" sz="1200" dirty="0"/>
          </a:p>
        </p:txBody>
      </p:sp>
      <p:sp>
        <p:nvSpPr>
          <p:cNvPr id="40" name="ocean:frame"/>
          <p:cNvSpPr/>
          <p:nvPr/>
        </p:nvSpPr>
        <p:spPr>
          <a:xfrm>
            <a:off x="6210148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379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3982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585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11316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1050" dirty="0"/>
          </a:p>
        </p:txBody>
      </p:sp>
      <p:sp>
        <p:nvSpPr>
          <p:cNvPr id="45" name="ocean:metric"/>
          <p:cNvSpPr/>
          <p:nvPr/>
        </p:nvSpPr>
        <p:spPr>
          <a:xfrm>
            <a:off x="6411316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2,000 A</a:t>
            </a:r>
            <a:endParaRPr lang="en-US" sz="3400" dirty="0"/>
          </a:p>
        </p:txBody>
      </p:sp>
      <p:sp>
        <p:nvSpPr>
          <p:cNvPr id="46" name="ocean:label"/>
          <p:cNvSpPr/>
          <p:nvPr/>
        </p:nvSpPr>
        <p:spPr>
          <a:xfrm>
            <a:off x="6411316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be confirmed</a:t>
            </a:r>
            <a:endParaRPr lang="en-US" sz="1200" dirty="0"/>
          </a:p>
        </p:txBody>
      </p:sp>
      <p:sp>
        <p:nvSpPr>
          <p:cNvPr id="47" name="ocean:frame"/>
          <p:cNvSpPr/>
          <p:nvPr/>
        </p:nvSpPr>
        <p:spPr>
          <a:xfrm>
            <a:off x="9040901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solidFill>
            <a:srgbClr val="102426"/>
          </a:solidFill>
          <a:ln w="9525">
            <a:solidFill>
              <a:srgbClr val="1024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3687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2290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0893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09496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2" name="ocean:label"/>
          <p:cNvSpPr/>
          <p:nvPr/>
        </p:nvSpPr>
        <p:spPr>
          <a:xfrm>
            <a:off x="9242069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263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</a:t>
            </a:r>
            <a:endParaRPr lang="en-US" sz="1050" dirty="0"/>
          </a:p>
        </p:txBody>
      </p:sp>
      <p:sp>
        <p:nvSpPr>
          <p:cNvPr id="53" name="ocean:metric"/>
          <p:cNvSpPr/>
          <p:nvPr/>
        </p:nvSpPr>
        <p:spPr>
          <a:xfrm>
            <a:off x="9242069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spc="-6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6.4 yrs</a:t>
            </a:r>
            <a:endParaRPr lang="en-US" sz="3400" dirty="0"/>
          </a:p>
        </p:txBody>
      </p:sp>
      <p:sp>
        <p:nvSpPr>
          <p:cNvPr id="54" name="ocean:label"/>
          <p:cNvSpPr/>
          <p:nvPr/>
        </p:nvSpPr>
        <p:spPr>
          <a:xfrm>
            <a:off x="9242069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incentives</a:t>
            </a:r>
            <a:endParaRPr lang="en-US" sz="1200" dirty="0"/>
          </a:p>
        </p:txBody>
      </p:sp>
      <p:sp>
        <p:nvSpPr>
          <p:cNvPr id="55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57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58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 in 6.4 years with the existing service.</a:t>
            </a:r>
            <a:endParaRPr lang="en-US" sz="1500" dirty="0"/>
          </a:p>
        </p:txBody>
      </p:sp>
      <p:sp>
        <p:nvSpPr>
          <p:cNvPr id="59" name="ocean:footnote"/>
          <p:cNvSpPr/>
          <p:nvPr/>
        </p:nvSpPr>
        <p:spPr>
          <a:xfrm>
            <a:off x="548640" y="5239512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  <p:sp>
        <p:nvSpPr>
          <p:cNvPr id="6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prig_map_light_sof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s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618C7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system built for the building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Built and verified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by our own crews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ocean:statement"/>
          <p:cNvSpPr/>
          <p:nvPr/>
        </p:nvSpPr>
        <p:spPr>
          <a:xfrm>
            <a:off x="548640" y="3044952"/>
            <a:ext cx="512064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Every cabinet is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tested, torqued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logged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handover.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D5CCA0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One team 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owns the work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from design to commissioning.</a:t>
            </a:r>
            <a:endParaRPr lang="en-US" sz="2600" dirty="0"/>
          </a:p>
        </p:txBody>
      </p:sp>
      <p:pic>
        <p:nvPicPr>
          <p:cNvPr id="29" name="ocean:photo" descr="/home/user/workspace/audit/repo/output/.cache/fit/worker-bde126986fe58e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44952"/>
            <a:ext cx="5010912" cy="3218688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662482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Three parts, one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integrated system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EACH PART IS ENGINEERED TO THE SITE.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2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array</a:t>
            </a:r>
            <a:endParaRPr lang="en-US" sz="2200" dirty="0"/>
          </a:p>
        </p:txBody>
      </p:sp>
      <p:sp>
        <p:nvSpPr>
          <p:cNvPr id="33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 on the new TPO roof, laid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out around keep-outs and access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paths.</a:t>
            </a:r>
            <a:endParaRPr lang="en-US" sz="1300" dirty="0"/>
          </a:p>
        </p:txBody>
      </p:sp>
      <p:sp>
        <p:nvSpPr>
          <p:cNvPr id="34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8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Battery storage</a:t>
            </a:r>
            <a:endParaRPr lang="en-US" sz="2200" dirty="0"/>
          </a:p>
        </p:txBody>
      </p:sp>
      <p:sp>
        <p:nvSpPr>
          <p:cNvPr id="39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600 kWh cabinets shave peaks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carry critical loads.</a:t>
            </a:r>
            <a:endParaRPr lang="en-US" sz="1300" dirty="0"/>
          </a:p>
        </p:txBody>
      </p:sp>
      <p:sp>
        <p:nvSpPr>
          <p:cNvPr id="40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5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Interconnection</a:t>
            </a:r>
            <a:endParaRPr lang="en-US" sz="2200" dirty="0"/>
          </a:p>
        </p:txBody>
      </p:sp>
      <p:sp>
        <p:nvSpPr>
          <p:cNvPr id="46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line-side tap on the existing 2,000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service, subject to utility approval.</a:t>
            </a:r>
            <a:endParaRPr lang="en-US" sz="13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repeatable path from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brief to handover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3547872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0" name="ocean:label"/>
          <p:cNvSpPr/>
          <p:nvPr/>
        </p:nvSpPr>
        <p:spPr>
          <a:xfrm>
            <a:off x="548640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· BRIEF</a:t>
            </a:r>
            <a:endParaRPr lang="en-US" sz="1000" dirty="0"/>
          </a:p>
        </p:txBody>
      </p:sp>
      <p:sp>
        <p:nvSpPr>
          <p:cNvPr id="31" name="ocean:section"/>
          <p:cNvSpPr/>
          <p:nvPr/>
        </p:nvSpPr>
        <p:spPr>
          <a:xfrm>
            <a:off x="548640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Define the decision</a:t>
            </a:r>
            <a:endParaRPr lang="en-US" sz="2000" dirty="0"/>
          </a:p>
        </p:txBody>
      </p:sp>
      <p:sp>
        <p:nvSpPr>
          <p:cNvPr id="32" name="ocean:body"/>
          <p:cNvSpPr/>
          <p:nvPr/>
        </p:nvSpPr>
        <p:spPr>
          <a:xfrm>
            <a:off x="548640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Identify the audience and the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evidence needed.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3390824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3390824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· DESIGN</a:t>
            </a:r>
            <a:endParaRPr lang="en-US" sz="1000" dirty="0"/>
          </a:p>
        </p:txBody>
      </p:sp>
      <p:sp>
        <p:nvSpPr>
          <p:cNvPr id="35" name="ocean:section"/>
          <p:cNvSpPr/>
          <p:nvPr/>
        </p:nvSpPr>
        <p:spPr>
          <a:xfrm>
            <a:off x="3390824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Build the system</a:t>
            </a:r>
            <a:endParaRPr lang="en-US" sz="2000" dirty="0"/>
          </a:p>
        </p:txBody>
      </p:sp>
      <p:sp>
        <p:nvSpPr>
          <p:cNvPr id="36" name="ocean:body"/>
          <p:cNvSpPr/>
          <p:nvPr/>
        </p:nvSpPr>
        <p:spPr>
          <a:xfrm>
            <a:off x="3390824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Engineer the array, storage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6233008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6233008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· VERIFY</a:t>
            </a:r>
            <a:endParaRPr lang="en-US" sz="1000" dirty="0"/>
          </a:p>
        </p:txBody>
      </p:sp>
      <p:sp>
        <p:nvSpPr>
          <p:cNvPr id="39" name="ocean:section"/>
          <p:cNvSpPr/>
          <p:nvPr/>
        </p:nvSpPr>
        <p:spPr>
          <a:xfrm>
            <a:off x="6233008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Commission on site</a:t>
            </a:r>
            <a:endParaRPr lang="en-US" sz="2000" dirty="0"/>
          </a:p>
        </p:txBody>
      </p:sp>
      <p:sp>
        <p:nvSpPr>
          <p:cNvPr id="40" name="ocean:body"/>
          <p:cNvSpPr/>
          <p:nvPr/>
        </p:nvSpPr>
        <p:spPr>
          <a:xfrm>
            <a:off x="6233008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Test, torque and log every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cabinet.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9075191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ocean:label"/>
          <p:cNvSpPr/>
          <p:nvPr/>
        </p:nvSpPr>
        <p:spPr>
          <a:xfrm>
            <a:off x="9075191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· DELIVER</a:t>
            </a:r>
            <a:endParaRPr lang="en-US" sz="1000" dirty="0"/>
          </a:p>
        </p:txBody>
      </p:sp>
      <p:sp>
        <p:nvSpPr>
          <p:cNvPr id="43" name="ocean:section"/>
          <p:cNvSpPr/>
          <p:nvPr/>
        </p:nvSpPr>
        <p:spPr>
          <a:xfrm>
            <a:off x="9075191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Hand over</a:t>
            </a:r>
            <a:endParaRPr lang="en-US" sz="2000" dirty="0"/>
          </a:p>
        </p:txBody>
      </p:sp>
      <p:sp>
        <p:nvSpPr>
          <p:cNvPr id="44" name="ocean:body"/>
          <p:cNvSpPr/>
          <p:nvPr/>
        </p:nvSpPr>
        <p:spPr>
          <a:xfrm>
            <a:off x="9075191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Provide records, training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support.</a:t>
            </a:r>
            <a:endParaRPr lang="en-US" sz="1300" dirty="0"/>
          </a:p>
        </p:txBody>
      </p:sp>
      <p:sp>
        <p:nvSpPr>
          <p:cNvPr id="45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numbers that decide it</a:t>
            </a:r>
            <a:endParaRPr lang="en-US" sz="44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 ON VERIFIED INPUTS.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grow each year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as utility rates rise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ANNUAL BILL SAVINGS, YEARS 1–10, $K. YEAR 10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HIGHLIGHTED.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29" name="Chart 0" descr=""/>
          <p:cNvGraphicFramePr/>
          <p:nvPr/>
        </p:nvGraphicFramePr>
        <p:xfrm>
          <a:off x="457200" y="2999232"/>
          <a:ext cx="8412480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9235440" y="3044952"/>
            <a:ext cx="24076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31" name="ocean:takeaway"/>
          <p:cNvSpPr/>
          <p:nvPr/>
        </p:nvSpPr>
        <p:spPr>
          <a:xfrm>
            <a:off x="9235440" y="3227832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rise from</a:t>
            </a:r>
            <a:endParaRPr lang="en-US" sz="1800" dirty="0"/>
          </a:p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$62K to $104K a year.</a:t>
            </a:r>
            <a:endParaRPr lang="en-US" sz="1800" dirty="0"/>
          </a:p>
        </p:txBody>
      </p:sp>
      <p:sp>
        <p:nvSpPr>
          <p:cNvPr id="32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35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10-year savings of $819K. Payback in 6.4 years.</a:t>
            </a:r>
            <a:endParaRPr lang="en-US" sz="1500" dirty="0"/>
          </a:p>
        </p:txBody>
      </p:sp>
      <p:sp>
        <p:nvSpPr>
          <p:cNvPr id="36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System summary and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open items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13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754880"/>
                <a:gridCol w="3230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ITEM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SPECIFICATION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STATUS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Solar array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412 kW DC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Confirmed layout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Battery storage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1.2 MWh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Pending utility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Interconnection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2,000 A line-side tap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Application due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Roof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New TPO, 20-year warranty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Complete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29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  <p:sp>
        <p:nvSpPr>
          <p:cNvPr id="3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5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6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 year</a:t>
            </a:r>
            <a:endParaRPr lang="en-US" sz="3800" dirty="0"/>
          </a:p>
        </p:txBody>
      </p:sp>
      <p:sp>
        <p:nvSpPr>
          <p:cNvPr id="7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8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9" name="ocean:meta"/>
          <p:cNvSpPr/>
          <p:nvPr/>
        </p:nvSpPr>
        <p:spPr>
          <a:xfrm>
            <a:off x="1238377" y="6134100"/>
            <a:ext cx="23562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12-MONTH INTERVAL DATA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4033520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4860671" y="6134100"/>
            <a:ext cx="12809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Close with the decision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its next steps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VERIFIED PROJECT AMOUNT</a:t>
            </a:r>
            <a:endParaRPr lang="en-US" sz="1050" dirty="0"/>
          </a:p>
        </p:txBody>
      </p:sp>
      <p:sp>
        <p:nvSpPr>
          <p:cNvPr id="30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1" name="Shape 27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2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300" dirty="0"/>
          </a:p>
        </p:txBody>
      </p:sp>
      <p:sp>
        <p:nvSpPr>
          <p:cNvPr id="33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5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6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7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0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 the evidence</a:t>
            </a:r>
            <a:endParaRPr lang="en-US" sz="1300" dirty="0"/>
          </a:p>
        </p:txBody>
      </p:sp>
      <p:sp>
        <p:nvSpPr>
          <p:cNvPr id="41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5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Resolve open assumptions</a:t>
            </a:r>
            <a:endParaRPr lang="en-US" sz="1300" dirty="0"/>
          </a:p>
        </p:txBody>
      </p:sp>
      <p:sp>
        <p:nvSpPr>
          <p:cNvPr id="46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1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agreed next action</a:t>
            </a:r>
            <a:endParaRPr lang="en-US" sz="1300" dirty="0"/>
          </a:p>
        </p:txBody>
      </p:sp>
      <p:sp>
        <p:nvSpPr>
          <p:cNvPr id="5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reference</dc:title>
  <dc:subject>PptxGenJS Presentation</dc:subject>
  <dc:creator>PptxGenJS</dc:creator>
  <cp:lastModifiedBy>PptxGenJS</cp:lastModifiedBy>
  <cp:revision>1</cp:revision>
  <dcterms:created xsi:type="dcterms:W3CDTF">2026-09-26T19:12:25Z</dcterms:created>
  <dcterms:modified xsi:type="dcterms:W3CDTF">2026-09-26T19:12:25Z</dcterms:modified>
</cp:coreProperties>
</file>