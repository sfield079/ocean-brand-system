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savings</c:v>
                </c:pt>
              </c:strCache>
            </c:strRef>
          </c:tx>
          <c:spPr>
            <a:solidFill>
              <a:srgbClr val="618C7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3FBF8"/>
                    </a:solidFill>
                    <a:latin typeface="Stack Sans Headlin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Y01</c:v>
                  </c:pt>
                  <c:pt idx="1">
                    <c:v>Y02</c:v>
                  </c:pt>
                  <c:pt idx="2">
                    <c:v>Y03</c:v>
                  </c:pt>
                  <c:pt idx="3">
                    <c:v>Y04</c:v>
                  </c:pt>
                  <c:pt idx="4">
                    <c:v>Y05</c:v>
                  </c:pt>
                  <c:pt idx="5">
                    <c:v>Y06</c:v>
                  </c:pt>
                  <c:pt idx="6">
                    <c:v>Y07</c:v>
                  </c:pt>
                  <c:pt idx="7">
                    <c:v>Y08</c:v>
                  </c:pt>
                  <c:pt idx="8">
                    <c:v>Y09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</c:v>
                </c:pt>
                <c:pt idx="1">
                  <c:v>66</c:v>
                </c:pt>
                <c:pt idx="2">
                  <c:v>70</c:v>
                </c:pt>
                <c:pt idx="3">
                  <c:v>75</c:v>
                </c:pt>
                <c:pt idx="4">
                  <c:v>79</c:v>
                </c:pt>
                <c:pt idx="5">
                  <c:v>84</c:v>
                </c:pt>
                <c:pt idx="6">
                  <c:v>88</c:v>
                </c:pt>
                <c:pt idx="7">
                  <c:v>93</c:v>
                </c:pt>
                <c:pt idx="8">
                  <c:v>98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savings (focus)</c:v>
                </c:pt>
              </c:strCache>
            </c:strRef>
          </c:tx>
          <c:spPr>
            <a:solidFill>
              <a:srgbClr val="6E734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3FBF8"/>
                    </a:solidFill>
                    <a:latin typeface="Stack Sans Headlin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Y01</c:v>
                  </c:pt>
                  <c:pt idx="1">
                    <c:v>Y02</c:v>
                  </c:pt>
                  <c:pt idx="2">
                    <c:v>Y03</c:v>
                  </c:pt>
                  <c:pt idx="3">
                    <c:v>Y04</c:v>
                  </c:pt>
                  <c:pt idx="4">
                    <c:v>Y05</c:v>
                  </c:pt>
                  <c:pt idx="5">
                    <c:v>Y06</c:v>
                  </c:pt>
                  <c:pt idx="6">
                    <c:v>Y07</c:v>
                  </c:pt>
                  <c:pt idx="7">
                    <c:v>Y08</c:v>
                  </c:pt>
                  <c:pt idx="8">
                    <c:v>Y09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104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1100" u="none">
                  <a:solidFill>
                    <a:srgbClr val="F3FBF8"/>
                  </a:solidFill>
                  <a:latin typeface="Stack Sans Headline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B403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4039"/>
                </a:solidFill>
                <a:latin typeface="Stack Sans Headlin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4039"/>
                </a:solidFill>
                <a:latin typeface="Stack Sans Headlin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layout placeholder. Release mode blocks unresolved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cean:frame"/>
          <p:cNvSpPr/>
          <p:nvPr/>
        </p:nvSpPr>
        <p:spPr>
          <a:xfrm>
            <a:off x="304800" y="304800"/>
            <a:ext cx="11582095" cy="6248400"/>
          </a:xfrm>
          <a:custGeom>
            <a:avLst/>
            <a:gdLst/>
            <a:ahLst/>
            <a:cxnLst/>
            <a:rect l="l" t="t" r="r" b="b"/>
            <a:pathLst>
              <a:path w="11582095" h="6248400">
                <a:moveTo>
                  <a:pt x="0" y="279400"/>
                </a:moveTo>
                <a:lnTo>
                  <a:pt x="279400" y="0"/>
                </a:lnTo>
                <a:lnTo>
                  <a:pt x="11455095" y="0"/>
                </a:lnTo>
                <a:quadBezTo>
                  <a:pt x="11582095" y="0"/>
                  <a:pt x="11582095" y="127000"/>
                </a:quadBezTo>
                <a:lnTo>
                  <a:pt x="11582095" y="6121400"/>
                </a:lnTo>
                <a:quadBezTo>
                  <a:pt x="11582095" y="6248400"/>
                  <a:pt x="11455095" y="6248400"/>
                </a:quadBezTo>
                <a:lnTo>
                  <a:pt x="127000" y="6248400"/>
                </a:lnTo>
                <a:quadBezTo>
                  <a:pt x="0" y="6248400"/>
                  <a:pt x="0" y="6121400"/>
                </a:quadBezTo>
                <a:close/>
              </a:path>
            </a:pathLst>
          </a:custGeom>
          <a:ln w="12700">
            <a:solidFill>
              <a:srgbClr val="F3FBF8"/>
            </a:solidFill>
            <a:prstDash val="solid"/>
          </a:ln>
        </p:spPr>
      </p:sp>
      <p:pic>
        <p:nvPicPr>
          <p:cNvPr id="4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952536" cy="8382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8554415" y="635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720"/>
              </a:lnSpc>
              <a:buNone/>
            </a:pPr>
            <a:r>
              <a:rPr lang="en-US" sz="3000" spc="-6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2026</a:t>
            </a:r>
            <a:endParaRPr lang="en-US" sz="3000" dirty="0"/>
          </a:p>
        </p:txBody>
      </p:sp>
      <p:sp>
        <p:nvSpPr>
          <p:cNvPr id="6" name="ocean:label"/>
          <p:cNvSpPr/>
          <p:nvPr/>
        </p:nvSpPr>
        <p:spPr>
          <a:xfrm>
            <a:off x="7640015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spc="27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1100" dirty="0"/>
          </a:p>
        </p:txBody>
      </p:sp>
      <p:sp>
        <p:nvSpPr>
          <p:cNvPr id="7" name="ocean:label"/>
          <p:cNvSpPr/>
          <p:nvPr/>
        </p:nvSpPr>
        <p:spPr>
          <a:xfrm>
            <a:off x="711200" y="3017520"/>
            <a:ext cx="107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b="1" spc="30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COMMERCIAL ENERGY</a:t>
            </a:r>
            <a:endParaRPr lang="en-US" sz="1200" dirty="0"/>
          </a:p>
        </p:txBody>
      </p:sp>
      <p:sp>
        <p:nvSpPr>
          <p:cNvPr id="8" name="ocean:cover"/>
          <p:cNvSpPr/>
          <p:nvPr/>
        </p:nvSpPr>
        <p:spPr>
          <a:xfrm>
            <a:off x="660400" y="3291840"/>
            <a:ext cx="1076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Rooftop Solar</a:t>
            </a:r>
            <a:endParaRPr lang="en-US" sz="84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+ Storage</a:t>
            </a:r>
            <a:endParaRPr lang="en-US" sz="8400" dirty="0"/>
          </a:p>
        </p:txBody>
      </p:sp>
      <p:sp>
        <p:nvSpPr>
          <p:cNvPr id="9" name="ocean:notice"/>
          <p:cNvSpPr/>
          <p:nvPr/>
        </p:nvSpPr>
        <p:spPr>
          <a:xfrm>
            <a:off x="711200" y="5715000"/>
            <a:ext cx="10769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Design specimen with illustrative figures and representative images. Do not use for any commercial purpose.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11200" y="6083300"/>
            <a:ext cx="1076929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11" name="ocean:meta"/>
          <p:cNvSpPr/>
          <p:nvPr/>
        </p:nvSpPr>
        <p:spPr>
          <a:xfrm>
            <a:off x="711200" y="6235700"/>
            <a:ext cx="13559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2176907" y="6235700"/>
            <a:ext cx="12340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CLIENT NAME</a:t>
            </a:r>
            <a:endParaRPr lang="en-US" sz="1000" dirty="0"/>
          </a:p>
        </p:txBody>
      </p:sp>
      <p:sp>
        <p:nvSpPr>
          <p:cNvPr id="13" name="ocean:meta"/>
          <p:cNvSpPr/>
          <p:nvPr/>
        </p:nvSpPr>
        <p:spPr>
          <a:xfrm>
            <a:off x="3849878" y="6235700"/>
            <a:ext cx="503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ocean:meta"/>
          <p:cNvSpPr/>
          <p:nvPr/>
        </p:nvSpPr>
        <p:spPr>
          <a:xfrm>
            <a:off x="4462653" y="6235700"/>
            <a:ext cx="1169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26 SEP 2026</a:t>
            </a:r>
            <a:endParaRPr lang="en-US" sz="1000" dirty="0"/>
          </a:p>
        </p:txBody>
      </p:sp>
      <p:sp>
        <p:nvSpPr>
          <p:cNvPr id="15" name="ocean:meta"/>
          <p:cNvSpPr/>
          <p:nvPr/>
        </p:nvSpPr>
        <p:spPr>
          <a:xfrm>
            <a:off x="6071235" y="62357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ocean:meta"/>
          <p:cNvSpPr/>
          <p:nvPr/>
        </p:nvSpPr>
        <p:spPr>
          <a:xfrm>
            <a:off x="6898386" y="6235700"/>
            <a:ext cx="956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SPECIMEN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400"/>
            <a:ext cx="1000657" cy="279400"/>
          </a:xfrm>
          <a:prstGeom prst="rect">
            <a:avLst/>
          </a:prstGeom>
        </p:spPr>
      </p:pic>
      <p:sp>
        <p:nvSpPr>
          <p:cNvPr id="3" name="ocean:label"/>
          <p:cNvSpPr/>
          <p:nvPr/>
        </p:nvSpPr>
        <p:spPr>
          <a:xfrm>
            <a:off x="8442655" y="3937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1000" dirty="0"/>
          </a:p>
        </p:txBody>
      </p:sp>
      <p:sp>
        <p:nvSpPr>
          <p:cNvPr id="4" name="ocean:label"/>
          <p:cNvSpPr/>
          <p:nvPr/>
        </p:nvSpPr>
        <p:spPr>
          <a:xfrm>
            <a:off x="8442655" y="6096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1000" dirty="0"/>
          </a:p>
        </p:txBody>
      </p:sp>
      <p:sp>
        <p:nvSpPr>
          <p:cNvPr id="5" name="ocean:cover"/>
          <p:cNvSpPr/>
          <p:nvPr/>
        </p:nvSpPr>
        <p:spPr>
          <a:xfrm>
            <a:off x="512064" y="10972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0"/>
              </a:lnSpc>
              <a:buNone/>
            </a:pPr>
            <a:r>
              <a:rPr lang="en-US" sz="12500" b="1" spc="-7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Agenda</a:t>
            </a:r>
            <a:endParaRPr lang="en-US" sz="12500" dirty="0"/>
          </a:p>
        </p:txBody>
      </p:sp>
      <p:sp>
        <p:nvSpPr>
          <p:cNvPr id="6" name="Shape 3"/>
          <p:cNvSpPr/>
          <p:nvPr/>
        </p:nvSpPr>
        <p:spPr>
          <a:xfrm>
            <a:off x="548640" y="298094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7" name="ocean:metric"/>
          <p:cNvSpPr/>
          <p:nvPr/>
        </p:nvSpPr>
        <p:spPr>
          <a:xfrm>
            <a:off x="512064" y="3026664"/>
            <a:ext cx="2743200" cy="81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34"/>
              </a:lnSpc>
              <a:buNone/>
            </a:pPr>
            <a:r>
              <a:rPr lang="en-US" sz="5839" spc="-3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5839" dirty="0"/>
          </a:p>
        </p:txBody>
      </p:sp>
      <p:sp>
        <p:nvSpPr>
          <p:cNvPr id="8" name="ocean:label"/>
          <p:cNvSpPr/>
          <p:nvPr/>
        </p:nvSpPr>
        <p:spPr>
          <a:xfrm>
            <a:off x="4443984" y="316382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1100" dirty="0"/>
          </a:p>
        </p:txBody>
      </p:sp>
      <p:sp>
        <p:nvSpPr>
          <p:cNvPr id="9" name="ocean:section"/>
          <p:cNvSpPr/>
          <p:nvPr/>
        </p:nvSpPr>
        <p:spPr>
          <a:xfrm>
            <a:off x="4425696" y="3364992"/>
            <a:ext cx="7223760" cy="46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What the roof and service can carry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3870833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1" name="ocean:metric"/>
          <p:cNvSpPr/>
          <p:nvPr/>
        </p:nvSpPr>
        <p:spPr>
          <a:xfrm>
            <a:off x="512064" y="3916553"/>
            <a:ext cx="2743200" cy="81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34"/>
              </a:lnSpc>
              <a:buNone/>
            </a:pPr>
            <a:r>
              <a:rPr lang="en-US" sz="5839" spc="-3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5839" dirty="0"/>
          </a:p>
        </p:txBody>
      </p:sp>
      <p:sp>
        <p:nvSpPr>
          <p:cNvPr id="12" name="ocean:label"/>
          <p:cNvSpPr/>
          <p:nvPr/>
        </p:nvSpPr>
        <p:spPr>
          <a:xfrm>
            <a:off x="4443984" y="4053713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1100" dirty="0"/>
          </a:p>
        </p:txBody>
      </p:sp>
      <p:sp>
        <p:nvSpPr>
          <p:cNvPr id="13" name="ocean:section"/>
          <p:cNvSpPr/>
          <p:nvPr/>
        </p:nvSpPr>
        <p:spPr>
          <a:xfrm>
            <a:off x="4425696" y="4254881"/>
            <a:ext cx="7223760" cy="46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Solar, storage and interconnection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8640" y="4760722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metric"/>
          <p:cNvSpPr/>
          <p:nvPr/>
        </p:nvSpPr>
        <p:spPr>
          <a:xfrm>
            <a:off x="512064" y="4806442"/>
            <a:ext cx="2743200" cy="81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34"/>
              </a:lnSpc>
              <a:buNone/>
            </a:pPr>
            <a:r>
              <a:rPr lang="en-US" sz="5839" spc="-3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5839" dirty="0"/>
          </a:p>
        </p:txBody>
      </p:sp>
      <p:sp>
        <p:nvSpPr>
          <p:cNvPr id="16" name="ocean:label"/>
          <p:cNvSpPr/>
          <p:nvPr/>
        </p:nvSpPr>
        <p:spPr>
          <a:xfrm>
            <a:off x="4443984" y="4943602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17" name="ocean:section"/>
          <p:cNvSpPr/>
          <p:nvPr/>
        </p:nvSpPr>
        <p:spPr>
          <a:xfrm>
            <a:off x="4425696" y="5144770"/>
            <a:ext cx="7223760" cy="46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Savings, incentives and payback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5650611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9" name="ocean:metric"/>
          <p:cNvSpPr/>
          <p:nvPr/>
        </p:nvSpPr>
        <p:spPr>
          <a:xfrm>
            <a:off x="512064" y="5696331"/>
            <a:ext cx="2743200" cy="81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34"/>
              </a:lnSpc>
              <a:buNone/>
            </a:pPr>
            <a:r>
              <a:rPr lang="en-US" sz="5839" spc="-3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04</a:t>
            </a:r>
            <a:endParaRPr lang="en-US" sz="5839" dirty="0"/>
          </a:p>
        </p:txBody>
      </p:sp>
      <p:sp>
        <p:nvSpPr>
          <p:cNvPr id="20" name="ocean:label"/>
          <p:cNvSpPr/>
          <p:nvPr/>
        </p:nvSpPr>
        <p:spPr>
          <a:xfrm>
            <a:off x="4443984" y="5833491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ocean:section"/>
          <p:cNvSpPr/>
          <p:nvPr/>
        </p:nvSpPr>
        <p:spPr>
          <a:xfrm>
            <a:off x="4425696" y="6034659"/>
            <a:ext cx="7223760" cy="46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Decisions and schedule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548640" y="6540500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6591300"/>
            <a:ext cx="11094415" cy="381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peacock_map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spc="-80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Clarity starts with the site</a:t>
            </a:r>
            <a:endParaRPr lang="en-US" sz="4000" dirty="0"/>
          </a:p>
        </p:txBody>
      </p:sp>
      <p:sp>
        <p:nvSpPr>
          <p:cNvPr id="6" name="ocean:subhead"/>
          <p:cNvSpPr/>
          <p:nvPr/>
        </p:nvSpPr>
        <p:spPr>
          <a:xfrm>
            <a:off x="548640" y="4983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ROOF, STRUCTURE, SERVICE AND THE CONSTRAINTS THAT SHAPE THE ARRAY.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roof can carry about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412 kW of solar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NEW TPO ROOF, CLEAR ARRAY ZONES AND AN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EXISTING 2,000 A SERVICE.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9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DESIGN SPECIMEN · DO NOT USE</a:t>
            </a:r>
            <a:endParaRPr lang="en-US" sz="900" dirty="0"/>
          </a:p>
        </p:txBody>
      </p:sp>
      <p:pic>
        <p:nvPicPr>
          <p:cNvPr id="30" name="ocean:photo" descr="/home/user/workspace/audit/repo/output/.cache/fit/rooftop-9961c474ed952c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6446520" cy="28346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 flipV="1">
            <a:off x="544068" y="3040380"/>
            <a:ext cx="279400" cy="279400"/>
          </a:xfrm>
          <a:prstGeom prst="rtTriangle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2" name="ocean:frame"/>
          <p:cNvSpPr/>
          <p:nvPr/>
        </p:nvSpPr>
        <p:spPr>
          <a:xfrm>
            <a:off x="7223760" y="304495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4" name="ocean:label"/>
          <p:cNvSpPr/>
          <p:nvPr/>
        </p:nvSpPr>
        <p:spPr>
          <a:xfrm>
            <a:off x="7406640" y="313639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ARRAY SIZE</a:t>
            </a:r>
            <a:endParaRPr lang="en-US" sz="950" dirty="0"/>
          </a:p>
        </p:txBody>
      </p:sp>
      <p:sp>
        <p:nvSpPr>
          <p:cNvPr id="35" name="ocean:body"/>
          <p:cNvSpPr/>
          <p:nvPr/>
        </p:nvSpPr>
        <p:spPr>
          <a:xfrm>
            <a:off x="7406640" y="3355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</a:t>
            </a:r>
            <a:endParaRPr lang="en-US" sz="1400" dirty="0"/>
          </a:p>
        </p:txBody>
      </p:sp>
      <p:sp>
        <p:nvSpPr>
          <p:cNvPr id="36" name="ocean:frame"/>
          <p:cNvSpPr/>
          <p:nvPr/>
        </p:nvSpPr>
        <p:spPr>
          <a:xfrm>
            <a:off x="7223760" y="377647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3870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2473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7406640" y="386791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USABLE ROOF</a:t>
            </a:r>
            <a:endParaRPr lang="en-US" sz="950" dirty="0"/>
          </a:p>
        </p:txBody>
      </p:sp>
      <p:sp>
        <p:nvSpPr>
          <p:cNvPr id="40" name="ocean:body"/>
          <p:cNvSpPr/>
          <p:nvPr/>
        </p:nvSpPr>
        <p:spPr>
          <a:xfrm>
            <a:off x="7406640" y="408736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68,400 FT²</a:t>
            </a:r>
            <a:endParaRPr lang="en-US" sz="1400" dirty="0"/>
          </a:p>
        </p:txBody>
      </p:sp>
      <p:sp>
        <p:nvSpPr>
          <p:cNvPr id="41" name="ocean:frame"/>
          <p:cNvSpPr/>
          <p:nvPr/>
        </p:nvSpPr>
        <p:spPr>
          <a:xfrm>
            <a:off x="7223760" y="450799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3870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2473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11076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5" name="ocean:label"/>
          <p:cNvSpPr/>
          <p:nvPr/>
        </p:nvSpPr>
        <p:spPr>
          <a:xfrm>
            <a:off x="7406640" y="459943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</a:t>
            </a:r>
            <a:endParaRPr lang="en-US" sz="950" dirty="0"/>
          </a:p>
        </p:txBody>
      </p:sp>
      <p:sp>
        <p:nvSpPr>
          <p:cNvPr id="46" name="ocean:body"/>
          <p:cNvSpPr/>
          <p:nvPr/>
        </p:nvSpPr>
        <p:spPr>
          <a:xfrm>
            <a:off x="7406640" y="48188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2,000 A · 480 V</a:t>
            </a:r>
            <a:endParaRPr lang="en-US" sz="1400" dirty="0"/>
          </a:p>
        </p:txBody>
      </p:sp>
      <p:sp>
        <p:nvSpPr>
          <p:cNvPr id="47" name="ocean:body"/>
          <p:cNvSpPr/>
          <p:nvPr/>
        </p:nvSpPr>
        <p:spPr>
          <a:xfrm>
            <a:off x="548640" y="59710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Representative image of a comparable rooftop array.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Four figures define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opportunity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ILLUSTRATIVE FIGURES FOR THE SPECIMEN.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9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DESIGN SPECIMEN · DO NOT USE</a:t>
            </a:r>
            <a:endParaRPr lang="en-US" sz="900" dirty="0"/>
          </a:p>
        </p:txBody>
      </p:sp>
      <p:sp>
        <p:nvSpPr>
          <p:cNvPr id="30" name="ocean:frame"/>
          <p:cNvSpPr/>
          <p:nvPr/>
        </p:nvSpPr>
        <p:spPr>
          <a:xfrm>
            <a:off x="548640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876474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2" name="ocean:label"/>
          <p:cNvSpPr/>
          <p:nvPr/>
        </p:nvSpPr>
        <p:spPr>
          <a:xfrm>
            <a:off x="749808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ARRAY SIZE</a:t>
            </a:r>
            <a:endParaRPr lang="en-US" sz="1050" dirty="0"/>
          </a:p>
        </p:txBody>
      </p:sp>
      <p:sp>
        <p:nvSpPr>
          <p:cNvPr id="33" name="ocean:metric"/>
          <p:cNvSpPr/>
          <p:nvPr/>
        </p:nvSpPr>
        <p:spPr>
          <a:xfrm>
            <a:off x="749808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412 kW</a:t>
            </a:r>
            <a:endParaRPr lang="en-US" sz="3400" dirty="0"/>
          </a:p>
        </p:txBody>
      </p:sp>
      <p:sp>
        <p:nvSpPr>
          <p:cNvPr id="34" name="ocean:label"/>
          <p:cNvSpPr/>
          <p:nvPr/>
        </p:nvSpPr>
        <p:spPr>
          <a:xfrm>
            <a:off x="749808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After keep-outs</a:t>
            </a:r>
            <a:endParaRPr lang="en-US" sz="1200" dirty="0"/>
          </a:p>
        </p:txBody>
      </p:sp>
      <p:sp>
        <p:nvSpPr>
          <p:cNvPr id="35" name="ocean:frame"/>
          <p:cNvSpPr/>
          <p:nvPr/>
        </p:nvSpPr>
        <p:spPr>
          <a:xfrm>
            <a:off x="3379394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0722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56752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3580562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STORAGE</a:t>
            </a:r>
            <a:endParaRPr lang="en-US" sz="1050" dirty="0"/>
          </a:p>
        </p:txBody>
      </p:sp>
      <p:sp>
        <p:nvSpPr>
          <p:cNvPr id="39" name="ocean:metric"/>
          <p:cNvSpPr/>
          <p:nvPr/>
        </p:nvSpPr>
        <p:spPr>
          <a:xfrm>
            <a:off x="3580562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1.2 MWh</a:t>
            </a:r>
            <a:endParaRPr lang="en-US" sz="3400" dirty="0"/>
          </a:p>
        </p:txBody>
      </p:sp>
      <p:sp>
        <p:nvSpPr>
          <p:cNvPr id="40" name="ocean:label"/>
          <p:cNvSpPr/>
          <p:nvPr/>
        </p:nvSpPr>
        <p:spPr>
          <a:xfrm>
            <a:off x="3580562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Two cabinets</a:t>
            </a:r>
            <a:endParaRPr lang="en-US" sz="1200" dirty="0"/>
          </a:p>
        </p:txBody>
      </p:sp>
      <p:sp>
        <p:nvSpPr>
          <p:cNvPr id="41" name="ocean:frame"/>
          <p:cNvSpPr/>
          <p:nvPr/>
        </p:nvSpPr>
        <p:spPr>
          <a:xfrm>
            <a:off x="6210148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5379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3982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585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5" name="ocean:label"/>
          <p:cNvSpPr/>
          <p:nvPr/>
        </p:nvSpPr>
        <p:spPr>
          <a:xfrm>
            <a:off x="6411316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</a:t>
            </a:r>
            <a:endParaRPr lang="en-US" sz="1050" dirty="0"/>
          </a:p>
        </p:txBody>
      </p:sp>
      <p:sp>
        <p:nvSpPr>
          <p:cNvPr id="46" name="ocean:metric"/>
          <p:cNvSpPr/>
          <p:nvPr/>
        </p:nvSpPr>
        <p:spPr>
          <a:xfrm>
            <a:off x="6411316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2,000 A</a:t>
            </a:r>
            <a:endParaRPr lang="en-US" sz="3400" dirty="0"/>
          </a:p>
        </p:txBody>
      </p:sp>
      <p:sp>
        <p:nvSpPr>
          <p:cNvPr id="47" name="ocean:label"/>
          <p:cNvSpPr/>
          <p:nvPr/>
        </p:nvSpPr>
        <p:spPr>
          <a:xfrm>
            <a:off x="6411316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To be confirmed</a:t>
            </a:r>
            <a:endParaRPr lang="en-US" sz="1200" dirty="0"/>
          </a:p>
        </p:txBody>
      </p:sp>
      <p:sp>
        <p:nvSpPr>
          <p:cNvPr id="48" name="ocean:frame"/>
          <p:cNvSpPr/>
          <p:nvPr/>
        </p:nvSpPr>
        <p:spPr>
          <a:xfrm>
            <a:off x="9040901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102426"/>
          </a:solidFill>
          <a:ln w="9525">
            <a:solidFill>
              <a:srgbClr val="10242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3687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12290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0893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9496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3" name="ocean:label"/>
          <p:cNvSpPr/>
          <p:nvPr/>
        </p:nvSpPr>
        <p:spPr>
          <a:xfrm>
            <a:off x="9242069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263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PAYBACK</a:t>
            </a:r>
            <a:endParaRPr lang="en-US" sz="1050" dirty="0"/>
          </a:p>
        </p:txBody>
      </p:sp>
      <p:sp>
        <p:nvSpPr>
          <p:cNvPr id="54" name="ocean:metric"/>
          <p:cNvSpPr/>
          <p:nvPr/>
        </p:nvSpPr>
        <p:spPr>
          <a:xfrm>
            <a:off x="9242069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spc="-6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6.4 yrs</a:t>
            </a:r>
            <a:endParaRPr lang="en-US" sz="3400" dirty="0"/>
          </a:p>
        </p:txBody>
      </p:sp>
      <p:sp>
        <p:nvSpPr>
          <p:cNvPr id="55" name="ocean:label"/>
          <p:cNvSpPr/>
          <p:nvPr/>
        </p:nvSpPr>
        <p:spPr>
          <a:xfrm>
            <a:off x="9242069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After incentives</a:t>
            </a:r>
            <a:endParaRPr lang="en-US" sz="1200" dirty="0"/>
          </a:p>
        </p:txBody>
      </p:sp>
      <p:sp>
        <p:nvSpPr>
          <p:cNvPr id="56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EB3819"/>
          </a:solidFill>
          <a:ln w="12700">
            <a:solidFill>
              <a:srgbClr val="EB3819"/>
            </a:solidFill>
            <a:prstDash val="solid"/>
          </a:ln>
        </p:spPr>
      </p:sp>
      <p:sp>
        <p:nvSpPr>
          <p:cNvPr id="58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59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Payback in 6.4 years with the existing service.</a:t>
            </a:r>
            <a:endParaRPr lang="en-US" sz="1500" dirty="0"/>
          </a:p>
        </p:txBody>
      </p:sp>
      <p:sp>
        <p:nvSpPr>
          <p:cNvPr id="60" name="ocean:footnote"/>
          <p:cNvSpPr/>
          <p:nvPr/>
        </p:nvSpPr>
        <p:spPr>
          <a:xfrm>
            <a:off x="548640" y="5239512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ILLUSTRATIVE FIGURES · SPECIMEN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cedar_map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spr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D5CCA0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spc="-80" kern="0" dirty="0">
                <a:solidFill>
                  <a:srgbClr val="D5CCA0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 system built for the building</a:t>
            </a:r>
            <a:endParaRPr lang="en-US" sz="4000" dirty="0"/>
          </a:p>
        </p:txBody>
      </p:sp>
      <p:sp>
        <p:nvSpPr>
          <p:cNvPr id="6" name="ocean:subhead"/>
          <p:cNvSpPr/>
          <p:nvPr/>
        </p:nvSpPr>
        <p:spPr>
          <a:xfrm>
            <a:off x="548640" y="4983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spc="275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SOLAR, STORAGE AND INTERCONNECTION SIZED TO THE LOAD.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Built and verified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by our own crews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8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DESIGN SPECIMEN · DO NOT USE</a:t>
            </a:r>
            <a:endParaRPr lang="en-US" sz="900" dirty="0"/>
          </a:p>
        </p:txBody>
      </p:sp>
      <p:sp>
        <p:nvSpPr>
          <p:cNvPr id="29" name="ocean:statement"/>
          <p:cNvSpPr/>
          <p:nvPr/>
        </p:nvSpPr>
        <p:spPr>
          <a:xfrm>
            <a:off x="548640" y="3044952"/>
            <a:ext cx="51206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Every cabinet is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tested, torqued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logged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before handover.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D5CCA0"/>
                </a:solidFill>
                <a:highlight>
                  <a:srgbClr val="1B4039"/>
                </a:highlight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 One team 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owns the work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from design to commissioning.</a:t>
            </a:r>
            <a:endParaRPr lang="en-US" sz="2600" dirty="0"/>
          </a:p>
        </p:txBody>
      </p:sp>
      <p:pic>
        <p:nvPicPr>
          <p:cNvPr id="30" name="ocean:photo" descr="/home/user/workspace/audit/repo/output/.cache/fit/worker-bde126986fe58e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44952"/>
            <a:ext cx="5010912" cy="321868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 flipV="1">
            <a:off x="6624828" y="3040380"/>
            <a:ext cx="279400" cy="279400"/>
          </a:xfrm>
          <a:prstGeom prst="rtTriangle">
            <a:avLst/>
          </a:prstGeom>
          <a:solidFill>
            <a:srgbClr val="D5CCA0"/>
          </a:solidFill>
          <a:ln w="12700">
            <a:solidFill>
              <a:srgbClr val="D5CCA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Three parts, one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integrated system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EACH PART IS ENGINEERED TO THE SITE.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9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DESIGN SPECIMEN · DO NOT USE</a:t>
            </a:r>
            <a:endParaRPr lang="en-US" sz="900" dirty="0"/>
          </a:p>
        </p:txBody>
      </p:sp>
      <p:sp>
        <p:nvSpPr>
          <p:cNvPr id="30" name="ocean:frame"/>
          <p:cNvSpPr/>
          <p:nvPr/>
        </p:nvSpPr>
        <p:spPr>
          <a:xfrm>
            <a:off x="548640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743858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2" name="ocean:label"/>
          <p:cNvSpPr/>
          <p:nvPr/>
        </p:nvSpPr>
        <p:spPr>
          <a:xfrm>
            <a:off x="77724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33" name="ocean:section"/>
          <p:cNvSpPr/>
          <p:nvPr/>
        </p:nvSpPr>
        <p:spPr>
          <a:xfrm>
            <a:off x="777240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Solar array</a:t>
            </a:r>
            <a:endParaRPr lang="en-US" sz="2200" dirty="0"/>
          </a:p>
        </p:txBody>
      </p:sp>
      <p:sp>
        <p:nvSpPr>
          <p:cNvPr id="34" name="ocean:body"/>
          <p:cNvSpPr/>
          <p:nvPr/>
        </p:nvSpPr>
        <p:spPr>
          <a:xfrm>
            <a:off x="777240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 on the new TPO roof, laid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out around keep-outs and access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paths.</a:t>
            </a:r>
            <a:endParaRPr lang="en-US" sz="1300" dirty="0"/>
          </a:p>
        </p:txBody>
      </p:sp>
      <p:sp>
        <p:nvSpPr>
          <p:cNvPr id="35" name="ocean:frame"/>
          <p:cNvSpPr/>
          <p:nvPr/>
        </p:nvSpPr>
        <p:spPr>
          <a:xfrm>
            <a:off x="4338218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533437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93737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4566818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9" name="ocean:section"/>
          <p:cNvSpPr/>
          <p:nvPr/>
        </p:nvSpPr>
        <p:spPr>
          <a:xfrm>
            <a:off x="4566818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Battery storage</a:t>
            </a:r>
            <a:endParaRPr lang="en-US" sz="2200" dirty="0"/>
          </a:p>
        </p:txBody>
      </p:sp>
      <p:sp>
        <p:nvSpPr>
          <p:cNvPr id="40" name="ocean:body"/>
          <p:cNvSpPr/>
          <p:nvPr/>
        </p:nvSpPr>
        <p:spPr>
          <a:xfrm>
            <a:off x="4566818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Two 600 kWh cabinets shave peaks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carry critical loads.</a:t>
            </a:r>
            <a:endParaRPr lang="en-US" sz="1300" dirty="0"/>
          </a:p>
        </p:txBody>
      </p:sp>
      <p:sp>
        <p:nvSpPr>
          <p:cNvPr id="41" name="ocean:frame"/>
          <p:cNvSpPr/>
          <p:nvPr/>
        </p:nvSpPr>
        <p:spPr>
          <a:xfrm>
            <a:off x="8127797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3230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1833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10436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5" name="ocean:label"/>
          <p:cNvSpPr/>
          <p:nvPr/>
        </p:nvSpPr>
        <p:spPr>
          <a:xfrm>
            <a:off x="8356397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46" name="ocean:section"/>
          <p:cNvSpPr/>
          <p:nvPr/>
        </p:nvSpPr>
        <p:spPr>
          <a:xfrm>
            <a:off x="8356397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Interconnection</a:t>
            </a:r>
            <a:endParaRPr lang="en-US" sz="2200" dirty="0"/>
          </a:p>
        </p:txBody>
      </p:sp>
      <p:sp>
        <p:nvSpPr>
          <p:cNvPr id="47" name="ocean:body"/>
          <p:cNvSpPr/>
          <p:nvPr/>
        </p:nvSpPr>
        <p:spPr>
          <a:xfrm>
            <a:off x="8356397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line-side tap on the existing 2,000 A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service, subject to utility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 repeatable path from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brief to handover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8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DESIGN SPECIMEN · DO NOT USE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" y="3547872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548640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· BRIEF</a:t>
            </a:r>
            <a:endParaRPr lang="en-US" sz="1000" dirty="0"/>
          </a:p>
        </p:txBody>
      </p:sp>
      <p:sp>
        <p:nvSpPr>
          <p:cNvPr id="32" name="ocean:section"/>
          <p:cNvSpPr/>
          <p:nvPr/>
        </p:nvSpPr>
        <p:spPr>
          <a:xfrm>
            <a:off x="548640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Define the decision</a:t>
            </a:r>
            <a:endParaRPr lang="en-US" sz="2000" dirty="0"/>
          </a:p>
        </p:txBody>
      </p:sp>
      <p:sp>
        <p:nvSpPr>
          <p:cNvPr id="33" name="ocean:body"/>
          <p:cNvSpPr/>
          <p:nvPr/>
        </p:nvSpPr>
        <p:spPr>
          <a:xfrm>
            <a:off x="548640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Identify the audience and the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evidence needed.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390824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5" name="ocean:label"/>
          <p:cNvSpPr/>
          <p:nvPr/>
        </p:nvSpPr>
        <p:spPr>
          <a:xfrm>
            <a:off x="3390824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· DESIGN</a:t>
            </a:r>
            <a:endParaRPr lang="en-US" sz="1000" dirty="0"/>
          </a:p>
        </p:txBody>
      </p:sp>
      <p:sp>
        <p:nvSpPr>
          <p:cNvPr id="36" name="ocean:section"/>
          <p:cNvSpPr/>
          <p:nvPr/>
        </p:nvSpPr>
        <p:spPr>
          <a:xfrm>
            <a:off x="3390824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Build the system</a:t>
            </a:r>
            <a:endParaRPr lang="en-US" sz="2000" dirty="0"/>
          </a:p>
        </p:txBody>
      </p:sp>
      <p:sp>
        <p:nvSpPr>
          <p:cNvPr id="37" name="ocean:body"/>
          <p:cNvSpPr/>
          <p:nvPr/>
        </p:nvSpPr>
        <p:spPr>
          <a:xfrm>
            <a:off x="3390824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Engineer the array, storage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service.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233008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6233008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· VERIFY</a:t>
            </a:r>
            <a:endParaRPr lang="en-US" sz="1000" dirty="0"/>
          </a:p>
        </p:txBody>
      </p:sp>
      <p:sp>
        <p:nvSpPr>
          <p:cNvPr id="40" name="ocean:section"/>
          <p:cNvSpPr/>
          <p:nvPr/>
        </p:nvSpPr>
        <p:spPr>
          <a:xfrm>
            <a:off x="6233008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Commission on site</a:t>
            </a:r>
            <a:endParaRPr lang="en-US" sz="2000" dirty="0"/>
          </a:p>
        </p:txBody>
      </p:sp>
      <p:sp>
        <p:nvSpPr>
          <p:cNvPr id="41" name="ocean:body"/>
          <p:cNvSpPr/>
          <p:nvPr/>
        </p:nvSpPr>
        <p:spPr>
          <a:xfrm>
            <a:off x="6233008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Test, torque and log every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cabinet.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9075191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3" name="ocean:label"/>
          <p:cNvSpPr/>
          <p:nvPr/>
        </p:nvSpPr>
        <p:spPr>
          <a:xfrm>
            <a:off x="9075191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· DELIVER</a:t>
            </a:r>
            <a:endParaRPr lang="en-US" sz="1000" dirty="0"/>
          </a:p>
        </p:txBody>
      </p:sp>
      <p:sp>
        <p:nvSpPr>
          <p:cNvPr id="44" name="ocean:section"/>
          <p:cNvSpPr/>
          <p:nvPr/>
        </p:nvSpPr>
        <p:spPr>
          <a:xfrm>
            <a:off x="9075191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Hand over</a:t>
            </a:r>
            <a:endParaRPr lang="en-US" sz="2000" dirty="0"/>
          </a:p>
        </p:txBody>
      </p:sp>
      <p:sp>
        <p:nvSpPr>
          <p:cNvPr id="45" name="ocean:body"/>
          <p:cNvSpPr/>
          <p:nvPr/>
        </p:nvSpPr>
        <p:spPr>
          <a:xfrm>
            <a:off x="9075191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Provide records, training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support.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E7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oliv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spc="-80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numbers that decide it</a:t>
            </a:r>
            <a:endParaRPr lang="en-US" sz="4000" dirty="0"/>
          </a:p>
        </p:txBody>
      </p:sp>
      <p:sp>
        <p:nvSpPr>
          <p:cNvPr id="6" name="ocean:subhead"/>
          <p:cNvSpPr/>
          <p:nvPr/>
        </p:nvSpPr>
        <p:spPr>
          <a:xfrm>
            <a:off x="548640" y="4983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SAVINGS, INCENTIVES AND PAYBACK ON VERIFIED INPUTS.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2888" y="515112"/>
            <a:ext cx="914171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ECONOMICS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Savings grow each year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as utility rates rise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ANNUAL BILL SAVINGS, YEARS 1–10, $K. YEAR 10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HIGHLIGHTED.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9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DESIGN SPECIMEN · DO NOT USE</a:t>
            </a:r>
            <a:endParaRPr lang="en-US" sz="9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57200" y="2999232"/>
          <a:ext cx="8412480" cy="2167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Shape 27"/>
          <p:cNvSpPr/>
          <p:nvPr/>
        </p:nvSpPr>
        <p:spPr>
          <a:xfrm>
            <a:off x="9235440" y="3044952"/>
            <a:ext cx="24076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32" name="ocean:takeaway"/>
          <p:cNvSpPr/>
          <p:nvPr/>
        </p:nvSpPr>
        <p:spPr>
          <a:xfrm>
            <a:off x="9235440" y="3227832"/>
            <a:ext cx="24076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Savings rise from</a:t>
            </a:r>
            <a:endParaRPr lang="en-US" sz="18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$62K to $104K a year.</a:t>
            </a:r>
            <a:endParaRPr lang="en-US" sz="1800" dirty="0"/>
          </a:p>
        </p:txBody>
      </p:sp>
      <p:sp>
        <p:nvSpPr>
          <p:cNvPr id="33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5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36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10-year savings of $819K. Payback in 6.4 years.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2888" y="515112"/>
            <a:ext cx="914171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ECONOMICS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System summary and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open items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8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DESIGN SPECIMEN · DO NOT USE</a:t>
            </a:r>
            <a:endParaRPr lang="en-US" sz="900" dirty="0"/>
          </a:p>
        </p:txBody>
      </p:sp>
      <p:graphicFrame>
        <p:nvGraphicFramePr>
          <p:cNvPr id="13" name="ocean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4952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305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ITEM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SPECIFICATION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STATUS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Solar array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412 kW DC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Confirmed layout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Battery storage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1.2 MWh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Pending utility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Interconnection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2,000 A line-side tap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Application due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Roof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New TPO, 20-year warranty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Complete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</a:tbl>
          </a:graphicData>
        </a:graphic>
      </p:graphicFrame>
      <p:sp>
        <p:nvSpPr>
          <p:cNvPr id="30" name="ocean:footnote"/>
          <p:cNvSpPr/>
          <p:nvPr/>
        </p:nvSpPr>
        <p:spPr>
          <a:xfrm>
            <a:off x="548640" y="614476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ILLUSTRATIVE FIGURES · SPECIMEN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label"/>
          <p:cNvSpPr/>
          <p:nvPr/>
        </p:nvSpPr>
        <p:spPr>
          <a:xfrm>
            <a:off x="548640" y="3401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5" name="ocean:metric"/>
          <p:cNvSpPr/>
          <p:nvPr/>
        </p:nvSpPr>
        <p:spPr>
          <a:xfrm>
            <a:off x="512064" y="3639312"/>
            <a:ext cx="4754880" cy="2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spc="-660" kern="0" dirty="0">
                <a:solidFill>
                  <a:srgbClr val="EB381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38%</a:t>
            </a:r>
            <a:endParaRPr lang="en-US" sz="16500" dirty="0"/>
          </a:p>
        </p:txBody>
      </p:sp>
      <p:sp>
        <p:nvSpPr>
          <p:cNvPr id="6" name="ocean:statement"/>
          <p:cNvSpPr/>
          <p:nvPr/>
        </p:nvSpPr>
        <p:spPr>
          <a:xfrm>
            <a:off x="5458968" y="4059936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Lower grid electricity</a:t>
            </a:r>
            <a:endParaRPr lang="en-US" sz="38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spend from the first year</a:t>
            </a:r>
            <a:endParaRPr lang="en-US" sz="3800" dirty="0"/>
          </a:p>
        </p:txBody>
      </p:sp>
      <p:sp>
        <p:nvSpPr>
          <p:cNvPr id="7" name="Shape 3"/>
          <p:cNvSpPr/>
          <p:nvPr/>
        </p:nvSpPr>
        <p:spPr>
          <a:xfrm>
            <a:off x="548640" y="5969000"/>
            <a:ext cx="1109441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8" name="ocean:meta"/>
          <p:cNvSpPr/>
          <p:nvPr/>
        </p:nvSpPr>
        <p:spPr>
          <a:xfrm>
            <a:off x="548640" y="6134100"/>
            <a:ext cx="5800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BASIS</a:t>
            </a:r>
            <a:endParaRPr lang="en-US" sz="1000" dirty="0"/>
          </a:p>
        </p:txBody>
      </p:sp>
      <p:sp>
        <p:nvSpPr>
          <p:cNvPr id="9" name="ocean:meta"/>
          <p:cNvSpPr/>
          <p:nvPr/>
        </p:nvSpPr>
        <p:spPr>
          <a:xfrm>
            <a:off x="1238377" y="6134100"/>
            <a:ext cx="23562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12-MONTH INTERVAL DATA</a:t>
            </a:r>
            <a:endParaRPr lang="en-US" sz="1000" dirty="0"/>
          </a:p>
        </p:txBody>
      </p:sp>
      <p:sp>
        <p:nvSpPr>
          <p:cNvPr id="10" name="ocean:meta"/>
          <p:cNvSpPr/>
          <p:nvPr/>
        </p:nvSpPr>
        <p:spPr>
          <a:xfrm>
            <a:off x="4033520" y="61341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ocean:meta"/>
          <p:cNvSpPr/>
          <p:nvPr/>
        </p:nvSpPr>
        <p:spPr>
          <a:xfrm>
            <a:off x="4860671" y="6134100"/>
            <a:ext cx="1280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ILLUSTRATIVE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0B1617"/>
            </a:solidFill>
            <a:prstDash val="solid"/>
          </a:ln>
        </p:spPr>
      </p:sp>
      <p:pic>
        <p:nvPicPr>
          <p:cNvPr id="4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83363" y="515112"/>
            <a:ext cx="918858" cy="237744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13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084255" y="329184"/>
            <a:ext cx="558800" cy="6096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NEXT STEPS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Close with the decision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and its next steps</a:t>
            </a:r>
            <a:endParaRPr lang="en-US" sz="3500" dirty="0"/>
          </a:p>
        </p:txBody>
      </p:sp>
      <p:sp>
        <p:nvSpPr>
          <p:cNvPr id="28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9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DESIGN SPECIMEN · DO NOT USE</a:t>
            </a:r>
            <a:endParaRPr lang="en-US" sz="900" dirty="0"/>
          </a:p>
        </p:txBody>
      </p:sp>
      <p:sp>
        <p:nvSpPr>
          <p:cNvPr id="30" name="ocean:label"/>
          <p:cNvSpPr/>
          <p:nvPr/>
        </p:nvSpPr>
        <p:spPr>
          <a:xfrm>
            <a:off x="548640" y="30449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VERIFIED PROJECT AMOUNT</a:t>
            </a:r>
            <a:endParaRPr lang="en-US" sz="1050" dirty="0"/>
          </a:p>
        </p:txBody>
      </p:sp>
      <p:sp>
        <p:nvSpPr>
          <p:cNvPr id="31" name="ocean:metric"/>
          <p:cNvSpPr/>
          <p:nvPr/>
        </p:nvSpPr>
        <p:spPr>
          <a:xfrm>
            <a:off x="521208" y="33192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000" spc="-12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[TBD]</a:t>
            </a:r>
            <a:endParaRPr lang="en-US" sz="6000" dirty="0"/>
          </a:p>
        </p:txBody>
      </p:sp>
      <p:sp>
        <p:nvSpPr>
          <p:cNvPr id="32" name="Shape 28"/>
          <p:cNvSpPr/>
          <p:nvPr/>
        </p:nvSpPr>
        <p:spPr>
          <a:xfrm>
            <a:off x="548640" y="4370832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3" name="ocean:body"/>
          <p:cNvSpPr/>
          <p:nvPr/>
        </p:nvSpPr>
        <p:spPr>
          <a:xfrm>
            <a:off x="54864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Approved scope</a:t>
            </a:r>
            <a:endParaRPr lang="en-US" sz="1300" dirty="0"/>
          </a:p>
        </p:txBody>
      </p:sp>
      <p:sp>
        <p:nvSpPr>
          <p:cNvPr id="34" name="ocean:body"/>
          <p:cNvSpPr/>
          <p:nvPr/>
        </p:nvSpPr>
        <p:spPr>
          <a:xfrm>
            <a:off x="411480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48640" y="4773168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6" name="ocean:body"/>
          <p:cNvSpPr/>
          <p:nvPr/>
        </p:nvSpPr>
        <p:spPr>
          <a:xfrm>
            <a:off x="548640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Terms</a:t>
            </a:r>
            <a:endParaRPr lang="en-US" sz="1300" dirty="0"/>
          </a:p>
        </p:txBody>
      </p:sp>
      <p:sp>
        <p:nvSpPr>
          <p:cNvPr id="37" name="ocean:body"/>
          <p:cNvSpPr/>
          <p:nvPr/>
        </p:nvSpPr>
        <p:spPr>
          <a:xfrm>
            <a:off x="4114800" y="4864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8" name="ocean:frame"/>
          <p:cNvSpPr/>
          <p:nvPr/>
        </p:nvSpPr>
        <p:spPr>
          <a:xfrm>
            <a:off x="6217920" y="3044952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0" name="ocean:label"/>
          <p:cNvSpPr/>
          <p:nvPr/>
        </p:nvSpPr>
        <p:spPr>
          <a:xfrm>
            <a:off x="6400800" y="3154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1" name="ocean:body"/>
          <p:cNvSpPr/>
          <p:nvPr/>
        </p:nvSpPr>
        <p:spPr>
          <a:xfrm>
            <a:off x="6400800" y="337413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 the evidence</a:t>
            </a:r>
            <a:endParaRPr lang="en-US" sz="1300" dirty="0"/>
          </a:p>
        </p:txBody>
      </p:sp>
      <p:sp>
        <p:nvSpPr>
          <p:cNvPr id="42" name="ocean:frame"/>
          <p:cNvSpPr/>
          <p:nvPr/>
        </p:nvSpPr>
        <p:spPr>
          <a:xfrm>
            <a:off x="6217920" y="3831336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3870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12473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5" name="ocean:label"/>
          <p:cNvSpPr/>
          <p:nvPr/>
        </p:nvSpPr>
        <p:spPr>
          <a:xfrm>
            <a:off x="6400800" y="39410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46" name="ocean:body"/>
          <p:cNvSpPr/>
          <p:nvPr/>
        </p:nvSpPr>
        <p:spPr>
          <a:xfrm>
            <a:off x="6400800" y="41605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Resolve open assumptions</a:t>
            </a:r>
            <a:endParaRPr lang="en-US" sz="1300" dirty="0"/>
          </a:p>
        </p:txBody>
      </p:sp>
      <p:sp>
        <p:nvSpPr>
          <p:cNvPr id="47" name="ocean:frame"/>
          <p:cNvSpPr/>
          <p:nvPr/>
        </p:nvSpPr>
        <p:spPr>
          <a:xfrm>
            <a:off x="6217920" y="4617720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13870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12473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11076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1" name="ocean:label"/>
          <p:cNvSpPr/>
          <p:nvPr/>
        </p:nvSpPr>
        <p:spPr>
          <a:xfrm>
            <a:off x="640080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52" name="ocean:body"/>
          <p:cNvSpPr/>
          <p:nvPr/>
        </p:nvSpPr>
        <p:spPr>
          <a:xfrm>
            <a:off x="6400800" y="4946904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Confirm the agreed next action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44" y="2603500"/>
            <a:ext cx="1876207" cy="165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ck San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ack Sans Headlin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Ocean 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RCS layout reference</dc:title>
  <dc:subject>PptxGenJS Presentation</dc:subject>
  <dc:creator>PptxGenJS</dc:creator>
  <cp:lastModifiedBy>PptxGenJS</cp:lastModifiedBy>
  <cp:revision>1</cp:revision>
  <dcterms:created xsi:type="dcterms:W3CDTF">2026-09-26T16:11:59Z</dcterms:created>
  <dcterms:modified xsi:type="dcterms:W3CDTF">2026-09-26T16:11:59Z</dcterms:modified>
</cp:coreProperties>
</file>